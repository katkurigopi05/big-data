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notesMasterIdLst>
    <p:notesMasterId r:id="rId29"/>
  </p:notesMasterIdLst>
  <p:sldIdLst>
    <p:sldId id="256" r:id="rId2"/>
    <p:sldId id="257" r:id="rId3"/>
    <p:sldId id="259" r:id="rId4"/>
    <p:sldId id="312" r:id="rId5"/>
    <p:sldId id="311" r:id="rId6"/>
    <p:sldId id="332" r:id="rId7"/>
    <p:sldId id="313" r:id="rId8"/>
    <p:sldId id="333" r:id="rId9"/>
    <p:sldId id="260" r:id="rId10"/>
    <p:sldId id="334" r:id="rId11"/>
    <p:sldId id="335" r:id="rId12"/>
    <p:sldId id="336" r:id="rId13"/>
    <p:sldId id="337" r:id="rId14"/>
    <p:sldId id="338" r:id="rId15"/>
    <p:sldId id="339" r:id="rId16"/>
    <p:sldId id="340" r:id="rId17"/>
    <p:sldId id="341" r:id="rId18"/>
    <p:sldId id="342" r:id="rId19"/>
    <p:sldId id="343" r:id="rId20"/>
    <p:sldId id="345" r:id="rId21"/>
    <p:sldId id="346" r:id="rId22"/>
    <p:sldId id="347" r:id="rId23"/>
    <p:sldId id="322" r:id="rId24"/>
    <p:sldId id="316" r:id="rId25"/>
    <p:sldId id="317" r:id="rId26"/>
    <p:sldId id="348" r:id="rId27"/>
    <p:sldId id="31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96"/>
    <p:restoredTop sz="70149" autoAdjust="0"/>
  </p:normalViewPr>
  <p:slideViewPr>
    <p:cSldViewPr snapToGrid="0" snapToObjects="1">
      <p:cViewPr varScale="1">
        <p:scale>
          <a:sx n="46" d="100"/>
          <a:sy n="46" d="100"/>
        </p:scale>
        <p:origin x="1596" y="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B4B53E-3EBF-B244-88B7-25494705F25E}" type="doc">
      <dgm:prSet loTypeId="urn:microsoft.com/office/officeart/2005/8/layout/process1" loCatId="" qsTypeId="urn:microsoft.com/office/officeart/2005/8/quickstyle/simple1" qsCatId="simple" csTypeId="urn:microsoft.com/office/officeart/2005/8/colors/colorful1" csCatId="colorful" phldr="1"/>
      <dgm:spPr/>
    </dgm:pt>
    <dgm:pt modelId="{75F6DBD9-2A94-914A-A342-96D3697BAF7A}">
      <dgm:prSet phldrT="[Text]"/>
      <dgm:spPr/>
      <dgm:t>
        <a:bodyPr/>
        <a:lstStyle/>
        <a:p>
          <a:r>
            <a:rPr lang="en-US" b="0" i="0" u="none" dirty="0"/>
            <a:t>Create an RDD from a data source.</a:t>
          </a:r>
          <a:endParaRPr lang="en-US" dirty="0"/>
        </a:p>
      </dgm:t>
    </dgm:pt>
    <dgm:pt modelId="{7496F2ED-A0AA-F041-A202-ED53940D6620}" type="parTrans" cxnId="{A16F7FAF-70AB-2D43-B644-4A41711DC3CA}">
      <dgm:prSet/>
      <dgm:spPr/>
      <dgm:t>
        <a:bodyPr/>
        <a:lstStyle/>
        <a:p>
          <a:endParaRPr lang="en-US"/>
        </a:p>
      </dgm:t>
    </dgm:pt>
    <dgm:pt modelId="{B28E9413-B3DA-8245-A406-D64E00052B82}" type="sibTrans" cxnId="{A16F7FAF-70AB-2D43-B644-4A41711DC3CA}">
      <dgm:prSet/>
      <dgm:spPr/>
      <dgm:t>
        <a:bodyPr/>
        <a:lstStyle/>
        <a:p>
          <a:endParaRPr lang="en-US"/>
        </a:p>
      </dgm:t>
    </dgm:pt>
    <dgm:pt modelId="{F0D0BBD0-6C9D-A54E-9AEB-BE37B04301A7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en-US" b="0" i="0" u="none" dirty="0"/>
            <a:t>Apply transformations to an RDD.</a:t>
          </a:r>
          <a:endParaRPr lang="en-US" dirty="0"/>
        </a:p>
      </dgm:t>
    </dgm:pt>
    <dgm:pt modelId="{EB7A285D-2B46-1D40-971C-8B21D3A57A7F}" type="parTrans" cxnId="{F8C58CE9-6D54-2D49-88EE-1DCA2375B0E3}">
      <dgm:prSet/>
      <dgm:spPr/>
      <dgm:t>
        <a:bodyPr/>
        <a:lstStyle/>
        <a:p>
          <a:endParaRPr lang="en-US"/>
        </a:p>
      </dgm:t>
    </dgm:pt>
    <dgm:pt modelId="{EB34CCE6-31F7-2042-BD6D-DDB2B50C541D}" type="sibTrans" cxnId="{F8C58CE9-6D54-2D49-88EE-1DCA2375B0E3}">
      <dgm:prSet/>
      <dgm:spPr/>
      <dgm:t>
        <a:bodyPr/>
        <a:lstStyle/>
        <a:p>
          <a:endParaRPr lang="en-US"/>
        </a:p>
      </dgm:t>
    </dgm:pt>
    <dgm:pt modelId="{B18989E1-274C-C64A-A4A9-A235C5822C5F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en-US" b="0" i="0" u="none" dirty="0"/>
            <a:t>Apply actions to an RDD.</a:t>
          </a:r>
          <a:endParaRPr lang="en-US" dirty="0"/>
        </a:p>
      </dgm:t>
    </dgm:pt>
    <dgm:pt modelId="{5471934C-5865-444E-9181-BBC790A8496A}" type="parTrans" cxnId="{172B4D5F-8887-F14E-ADAF-FD30AA2D6DD2}">
      <dgm:prSet/>
      <dgm:spPr/>
      <dgm:t>
        <a:bodyPr/>
        <a:lstStyle/>
        <a:p>
          <a:endParaRPr lang="en-US"/>
        </a:p>
      </dgm:t>
    </dgm:pt>
    <dgm:pt modelId="{6DCF659D-650C-A444-8650-B288185C6DEA}" type="sibTrans" cxnId="{172B4D5F-8887-F14E-ADAF-FD30AA2D6DD2}">
      <dgm:prSet/>
      <dgm:spPr/>
      <dgm:t>
        <a:bodyPr/>
        <a:lstStyle/>
        <a:p>
          <a:endParaRPr lang="en-US"/>
        </a:p>
      </dgm:t>
    </dgm:pt>
    <dgm:pt modelId="{B12DC881-FA33-1F46-A30E-0465F74C5411}" type="pres">
      <dgm:prSet presAssocID="{07B4B53E-3EBF-B244-88B7-25494705F25E}" presName="Name0" presStyleCnt="0">
        <dgm:presLayoutVars>
          <dgm:dir/>
          <dgm:resizeHandles val="exact"/>
        </dgm:presLayoutVars>
      </dgm:prSet>
      <dgm:spPr/>
    </dgm:pt>
    <dgm:pt modelId="{EC960A89-4AC1-D34C-9243-9AD126565EA2}" type="pres">
      <dgm:prSet presAssocID="{75F6DBD9-2A94-914A-A342-96D3697BAF7A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7C380CF-C4A0-7441-84D1-54A3626285BA}" type="pres">
      <dgm:prSet presAssocID="{B28E9413-B3DA-8245-A406-D64E00052B82}" presName="sibTrans" presStyleLbl="sibTrans2D1" presStyleIdx="0" presStyleCnt="2"/>
      <dgm:spPr/>
      <dgm:t>
        <a:bodyPr/>
        <a:lstStyle/>
        <a:p>
          <a:endParaRPr lang="en-US"/>
        </a:p>
      </dgm:t>
    </dgm:pt>
    <dgm:pt modelId="{F2D8D5EC-05EE-E24F-9D87-99C48CE68256}" type="pres">
      <dgm:prSet presAssocID="{B28E9413-B3DA-8245-A406-D64E00052B82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785BAEAF-E55D-C14C-9E2A-055BF54C1060}" type="pres">
      <dgm:prSet presAssocID="{F0D0BBD0-6C9D-A54E-9AEB-BE37B04301A7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94FAA8C-EB39-0548-BB6E-98321462E9B3}" type="pres">
      <dgm:prSet presAssocID="{EB34CCE6-31F7-2042-BD6D-DDB2B50C541D}" presName="sibTrans" presStyleLbl="sibTrans2D1" presStyleIdx="1" presStyleCnt="2"/>
      <dgm:spPr/>
      <dgm:t>
        <a:bodyPr/>
        <a:lstStyle/>
        <a:p>
          <a:endParaRPr lang="en-US"/>
        </a:p>
      </dgm:t>
    </dgm:pt>
    <dgm:pt modelId="{78B59A4D-4324-BA45-9A7D-166A6A460EDE}" type="pres">
      <dgm:prSet presAssocID="{EB34CCE6-31F7-2042-BD6D-DDB2B50C541D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E4D6A510-B4B5-7A4B-93F9-309331B8E3A2}" type="pres">
      <dgm:prSet presAssocID="{B18989E1-274C-C64A-A4A9-A235C5822C5F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8C58CE9-6D54-2D49-88EE-1DCA2375B0E3}" srcId="{07B4B53E-3EBF-B244-88B7-25494705F25E}" destId="{F0D0BBD0-6C9D-A54E-9AEB-BE37B04301A7}" srcOrd="1" destOrd="0" parTransId="{EB7A285D-2B46-1D40-971C-8B21D3A57A7F}" sibTransId="{EB34CCE6-31F7-2042-BD6D-DDB2B50C541D}"/>
    <dgm:cxn modelId="{20E1D708-47BD-B94F-934A-3459F2F26916}" type="presOf" srcId="{B28E9413-B3DA-8245-A406-D64E00052B82}" destId="{F2D8D5EC-05EE-E24F-9D87-99C48CE68256}" srcOrd="1" destOrd="0" presId="urn:microsoft.com/office/officeart/2005/8/layout/process1"/>
    <dgm:cxn modelId="{ADFECFE6-AABB-B247-992B-F9B96A886DFE}" type="presOf" srcId="{B18989E1-274C-C64A-A4A9-A235C5822C5F}" destId="{E4D6A510-B4B5-7A4B-93F9-309331B8E3A2}" srcOrd="0" destOrd="0" presId="urn:microsoft.com/office/officeart/2005/8/layout/process1"/>
    <dgm:cxn modelId="{172B4D5F-8887-F14E-ADAF-FD30AA2D6DD2}" srcId="{07B4B53E-3EBF-B244-88B7-25494705F25E}" destId="{B18989E1-274C-C64A-A4A9-A235C5822C5F}" srcOrd="2" destOrd="0" parTransId="{5471934C-5865-444E-9181-BBC790A8496A}" sibTransId="{6DCF659D-650C-A444-8650-B288185C6DEA}"/>
    <dgm:cxn modelId="{E202F343-D789-4D46-AE6B-7BD8A69DD1E0}" type="presOf" srcId="{EB34CCE6-31F7-2042-BD6D-DDB2B50C541D}" destId="{694FAA8C-EB39-0548-BB6E-98321462E9B3}" srcOrd="0" destOrd="0" presId="urn:microsoft.com/office/officeart/2005/8/layout/process1"/>
    <dgm:cxn modelId="{B53B68C1-4993-274B-939C-433C7A5BA392}" type="presOf" srcId="{B28E9413-B3DA-8245-A406-D64E00052B82}" destId="{37C380CF-C4A0-7441-84D1-54A3626285BA}" srcOrd="0" destOrd="0" presId="urn:microsoft.com/office/officeart/2005/8/layout/process1"/>
    <dgm:cxn modelId="{1C9EA242-CCE4-7D47-A940-EB7888CDB8C7}" type="presOf" srcId="{75F6DBD9-2A94-914A-A342-96D3697BAF7A}" destId="{EC960A89-4AC1-D34C-9243-9AD126565EA2}" srcOrd="0" destOrd="0" presId="urn:microsoft.com/office/officeart/2005/8/layout/process1"/>
    <dgm:cxn modelId="{9BDBC68A-EA95-FF46-AA2B-F16D4EA97500}" type="presOf" srcId="{EB34CCE6-31F7-2042-BD6D-DDB2B50C541D}" destId="{78B59A4D-4324-BA45-9A7D-166A6A460EDE}" srcOrd="1" destOrd="0" presId="urn:microsoft.com/office/officeart/2005/8/layout/process1"/>
    <dgm:cxn modelId="{A16F7FAF-70AB-2D43-B644-4A41711DC3CA}" srcId="{07B4B53E-3EBF-B244-88B7-25494705F25E}" destId="{75F6DBD9-2A94-914A-A342-96D3697BAF7A}" srcOrd="0" destOrd="0" parTransId="{7496F2ED-A0AA-F041-A202-ED53940D6620}" sibTransId="{B28E9413-B3DA-8245-A406-D64E00052B82}"/>
    <dgm:cxn modelId="{B8086F14-8ADF-E547-BA13-25C3CCC25A32}" type="presOf" srcId="{F0D0BBD0-6C9D-A54E-9AEB-BE37B04301A7}" destId="{785BAEAF-E55D-C14C-9E2A-055BF54C1060}" srcOrd="0" destOrd="0" presId="urn:microsoft.com/office/officeart/2005/8/layout/process1"/>
    <dgm:cxn modelId="{710CDC2B-7BC6-1444-81E5-240ECFC2D90B}" type="presOf" srcId="{07B4B53E-3EBF-B244-88B7-25494705F25E}" destId="{B12DC881-FA33-1F46-A30E-0465F74C5411}" srcOrd="0" destOrd="0" presId="urn:microsoft.com/office/officeart/2005/8/layout/process1"/>
    <dgm:cxn modelId="{E71DE133-BB4F-AF49-AC48-859DBB90F7C5}" type="presParOf" srcId="{B12DC881-FA33-1F46-A30E-0465F74C5411}" destId="{EC960A89-4AC1-D34C-9243-9AD126565EA2}" srcOrd="0" destOrd="0" presId="urn:microsoft.com/office/officeart/2005/8/layout/process1"/>
    <dgm:cxn modelId="{AD2F7211-DAF9-4D4D-A4E6-EF27396A1855}" type="presParOf" srcId="{B12DC881-FA33-1F46-A30E-0465F74C5411}" destId="{37C380CF-C4A0-7441-84D1-54A3626285BA}" srcOrd="1" destOrd="0" presId="urn:microsoft.com/office/officeart/2005/8/layout/process1"/>
    <dgm:cxn modelId="{444B3944-0862-5442-B269-68AD88B5F617}" type="presParOf" srcId="{37C380CF-C4A0-7441-84D1-54A3626285BA}" destId="{F2D8D5EC-05EE-E24F-9D87-99C48CE68256}" srcOrd="0" destOrd="0" presId="urn:microsoft.com/office/officeart/2005/8/layout/process1"/>
    <dgm:cxn modelId="{2F5CF715-00BF-CC44-AE86-FFBA027E19B4}" type="presParOf" srcId="{B12DC881-FA33-1F46-A30E-0465F74C5411}" destId="{785BAEAF-E55D-C14C-9E2A-055BF54C1060}" srcOrd="2" destOrd="0" presId="urn:microsoft.com/office/officeart/2005/8/layout/process1"/>
    <dgm:cxn modelId="{A654F059-8CC4-3B4E-9E7A-348616DA214B}" type="presParOf" srcId="{B12DC881-FA33-1F46-A30E-0465F74C5411}" destId="{694FAA8C-EB39-0548-BB6E-98321462E9B3}" srcOrd="3" destOrd="0" presId="urn:microsoft.com/office/officeart/2005/8/layout/process1"/>
    <dgm:cxn modelId="{E290C8EA-DB92-0340-A82B-00DB71BDD672}" type="presParOf" srcId="{694FAA8C-EB39-0548-BB6E-98321462E9B3}" destId="{78B59A4D-4324-BA45-9A7D-166A6A460EDE}" srcOrd="0" destOrd="0" presId="urn:microsoft.com/office/officeart/2005/8/layout/process1"/>
    <dgm:cxn modelId="{575684DB-3DAB-F640-968B-A1103960D995}" type="presParOf" srcId="{B12DC881-FA33-1F46-A30E-0465F74C5411}" destId="{E4D6A510-B4B5-7A4B-93F9-309331B8E3A2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960A89-4AC1-D34C-9243-9AD126565EA2}">
      <dsp:nvSpPr>
        <dsp:cNvPr id="0" name=""/>
        <dsp:cNvSpPr/>
      </dsp:nvSpPr>
      <dsp:spPr>
        <a:xfrm>
          <a:off x="9242" y="1346949"/>
          <a:ext cx="2762398" cy="165743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b="0" i="0" u="none" kern="1200" dirty="0"/>
            <a:t>Create an RDD from a data source.</a:t>
          </a:r>
          <a:endParaRPr lang="en-US" sz="2900" kern="1200" dirty="0"/>
        </a:p>
      </dsp:txBody>
      <dsp:txXfrm>
        <a:off x="57787" y="1395494"/>
        <a:ext cx="2665308" cy="1560349"/>
      </dsp:txXfrm>
    </dsp:sp>
    <dsp:sp modelId="{37C380CF-C4A0-7441-84D1-54A3626285BA}">
      <dsp:nvSpPr>
        <dsp:cNvPr id="0" name=""/>
        <dsp:cNvSpPr/>
      </dsp:nvSpPr>
      <dsp:spPr>
        <a:xfrm>
          <a:off x="3047880" y="1833131"/>
          <a:ext cx="585628" cy="6850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300" kern="1200"/>
        </a:p>
      </dsp:txBody>
      <dsp:txXfrm>
        <a:off x="3047880" y="1970146"/>
        <a:ext cx="409940" cy="411044"/>
      </dsp:txXfrm>
    </dsp:sp>
    <dsp:sp modelId="{785BAEAF-E55D-C14C-9E2A-055BF54C1060}">
      <dsp:nvSpPr>
        <dsp:cNvPr id="0" name=""/>
        <dsp:cNvSpPr/>
      </dsp:nvSpPr>
      <dsp:spPr>
        <a:xfrm>
          <a:off x="3876600" y="1346949"/>
          <a:ext cx="2762398" cy="165743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AutoNum type="arabicPeriod"/>
          </a:pPr>
          <a:r>
            <a:rPr lang="en-US" sz="2900" b="0" i="0" u="none" kern="1200" dirty="0"/>
            <a:t>Apply transformations to an RDD.</a:t>
          </a:r>
          <a:endParaRPr lang="en-US" sz="2900" kern="1200" dirty="0"/>
        </a:p>
      </dsp:txBody>
      <dsp:txXfrm>
        <a:off x="3925145" y="1395494"/>
        <a:ext cx="2665308" cy="1560349"/>
      </dsp:txXfrm>
    </dsp:sp>
    <dsp:sp modelId="{694FAA8C-EB39-0548-BB6E-98321462E9B3}">
      <dsp:nvSpPr>
        <dsp:cNvPr id="0" name=""/>
        <dsp:cNvSpPr/>
      </dsp:nvSpPr>
      <dsp:spPr>
        <a:xfrm>
          <a:off x="6915239" y="1833131"/>
          <a:ext cx="585628" cy="6850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300" kern="1200"/>
        </a:p>
      </dsp:txBody>
      <dsp:txXfrm>
        <a:off x="6915239" y="1970146"/>
        <a:ext cx="409940" cy="411044"/>
      </dsp:txXfrm>
    </dsp:sp>
    <dsp:sp modelId="{E4D6A510-B4B5-7A4B-93F9-309331B8E3A2}">
      <dsp:nvSpPr>
        <dsp:cNvPr id="0" name=""/>
        <dsp:cNvSpPr/>
      </dsp:nvSpPr>
      <dsp:spPr>
        <a:xfrm>
          <a:off x="7743958" y="1346949"/>
          <a:ext cx="2762398" cy="165743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AutoNum type="arabicPeriod"/>
          </a:pPr>
          <a:r>
            <a:rPr lang="en-US" sz="2900" b="0" i="0" u="none" kern="1200" dirty="0"/>
            <a:t>Apply actions to an RDD.</a:t>
          </a:r>
          <a:endParaRPr lang="en-US" sz="2900" kern="1200" dirty="0"/>
        </a:p>
      </dsp:txBody>
      <dsp:txXfrm>
        <a:off x="7792503" y="1395494"/>
        <a:ext cx="2665308" cy="15603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16823A-7DC9-9741-90A7-BB990C7ACAE9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91FCF7-63E5-A648-AC38-E5755B65B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219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Generalize</a:t>
            </a:r>
            <a:r>
              <a:rPr lang="en-US" baseline="0" dirty="0"/>
              <a:t> the map/reduce framework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5B260-FE6E-D048-9DA9-096E9E98A9D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1710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Generalize</a:t>
            </a:r>
            <a:r>
              <a:rPr lang="en-US" baseline="0" dirty="0"/>
              <a:t> the map/reduce </a:t>
            </a:r>
            <a:r>
              <a:rPr lang="en-US" baseline="0" dirty="0" smtClean="0"/>
              <a:t>framework</a:t>
            </a:r>
          </a:p>
          <a:p>
            <a:endParaRPr lang="en-US" baseline="0" dirty="0" smtClean="0"/>
          </a:p>
          <a:p>
            <a:r>
              <a:rPr lang="en-US" baseline="0" dirty="0" smtClean="0"/>
              <a:t>The BSD license (Berkeley Source Distribution) is part of the low restriction FOSS (Free and Open Source Software) family of licenses</a:t>
            </a:r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5B260-FE6E-D048-9DA9-096E9E98A9D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3444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</a:t>
            </a:r>
            <a:r>
              <a:rPr lang="en-US" baseline="0" dirty="0"/>
              <a:t> of the most exciting things you’ll find</a:t>
            </a:r>
          </a:p>
          <a:p>
            <a:r>
              <a:rPr lang="en-US" baseline="0" dirty="0"/>
              <a:t>Growing all the time</a:t>
            </a:r>
          </a:p>
          <a:p>
            <a:r>
              <a:rPr lang="en-US" baseline="0" dirty="0"/>
              <a:t>NASCAR slide</a:t>
            </a:r>
          </a:p>
          <a:p>
            <a:r>
              <a:rPr lang="en-US" baseline="0" dirty="0"/>
              <a:t>Including several sponsors of this event are just starting to get involved…</a:t>
            </a:r>
          </a:p>
          <a:p>
            <a:r>
              <a:rPr lang="en-US" baseline="0" dirty="0"/>
              <a:t>If your logo is not up here, forgive us – it’s hard to keep up!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5B260-FE6E-D048-9DA9-096E9E98A9D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5267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</a:t>
            </a:r>
            <a:r>
              <a:rPr lang="en-US" baseline="0" dirty="0"/>
              <a:t> of the most exciting things you’ll find</a:t>
            </a:r>
          </a:p>
          <a:p>
            <a:r>
              <a:rPr lang="en-US" baseline="0" dirty="0"/>
              <a:t>Growing all the time</a:t>
            </a:r>
          </a:p>
          <a:p>
            <a:r>
              <a:rPr lang="en-US" baseline="0" dirty="0"/>
              <a:t>NASCAR slide</a:t>
            </a:r>
          </a:p>
          <a:p>
            <a:r>
              <a:rPr lang="en-US" baseline="0" dirty="0"/>
              <a:t>Including several sponsors of this event are just starting to get involved…</a:t>
            </a:r>
          </a:p>
          <a:p>
            <a:r>
              <a:rPr lang="en-US" baseline="0" dirty="0"/>
              <a:t>If your logo is not up here, forgive us – it’s hard to keep up!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5B260-FE6E-D048-9DA9-096E9E98A9D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3054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 self-contained application consists of a single, installable bundle that contains your application and a copy of the JRE needed to run the application.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91FCF7-63E5-A648-AC38-E5755B65B36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5943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RDD </a:t>
            </a:r>
            <a:r>
              <a:rPr lang="en-US" dirty="0">
                <a:sym typeface="Wingdings"/>
              </a:rPr>
              <a:t> </a:t>
            </a:r>
            <a:r>
              <a:rPr lang="en-US" dirty="0"/>
              <a:t>Colloquially referred to as RDDs</a:t>
            </a:r>
          </a:p>
          <a:p>
            <a:r>
              <a:rPr lang="en-US" dirty="0"/>
              <a:t> (e.g. caching in RAM)</a:t>
            </a:r>
          </a:p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Lazy operations to build RDDs from other RDDs</a:t>
            </a:r>
          </a:p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Return a result or write it to storage</a:t>
            </a:r>
          </a:p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5B260-FE6E-D048-9DA9-096E9E98A9D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0262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glom() transforms each partition into a tuple (immutable list) of elements.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91FCF7-63E5-A648-AC38-E5755B65B36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7892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 lambda function is a small anonymous function. A lambda function can take any number of arguments, but can only have one expression.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91FCF7-63E5-A648-AC38-E5755B65B36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097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240F5-3DF6-6F45-86CF-D15051E10B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619B5E-98F4-E344-9D0C-8AB6489D6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1D1E8-9F2A-6342-BFE0-64314AE7A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FFEB1-8FAF-6543-BC45-74C76448D446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F19AE-68F0-1341-90DB-A858AC035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C79D4-BD52-8840-A755-1B0732511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31C90-8BE6-6446-9A17-96D8BC30F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3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FC253-F3BB-F540-8F42-F5BA2F214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56ABC-C81F-BE44-B6B4-8917F8D69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2F25A-D15A-6A4E-9211-30B6E1166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FFEB1-8FAF-6543-BC45-74C76448D446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3E582-6EA8-F246-8A19-63E8A9AF3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334B9-88F5-3B44-81BF-023DA2C20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31C90-8BE6-6446-9A17-96D8BC30F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983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9ADB6-86B3-E54C-8B9C-1F264681D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7AF627-0DC3-9641-B82B-327CCA4F5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75EEE-7DEC-8449-9B98-EB68BA253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FFEB1-8FAF-6543-BC45-74C76448D446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9B1D1-0E46-634E-A1D8-C22050378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4C837-D999-8A4A-8530-95F78BB1D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31C90-8BE6-6446-9A17-96D8BC30F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630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6C2FE-E7BC-1A43-BF7D-1C6854E39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F11A5-DADA-A142-9478-9988BAF522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1A50BD-6CC9-EC4B-8E97-AA7829D1E0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513738-EA59-2A48-98B2-B7416E50B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FFEB1-8FAF-6543-BC45-74C76448D446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D901F-8F89-CA4C-8799-79F41683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40C964-A1CC-9F40-9BF7-0F93B6313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31C90-8BE6-6446-9A17-96D8BC30F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188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2368B-0440-FC4B-BB44-0EDD28DB7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36B4F0-9946-7644-A8F7-2E0857C32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6D8834-3AA9-B746-907A-9BB4ACE531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55471A-DC5B-FC4E-8303-74DEA9F951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4B6AE2-B6B1-CE45-A5E9-C7DCB88E7F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9496BC-CFB9-1649-8889-7C4B02B13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FFEB1-8FAF-6543-BC45-74C76448D446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CC6013-2340-4F46-A0A8-64A3203EF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A28293-8615-5544-8FD5-A0726AD41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31C90-8BE6-6446-9A17-96D8BC30F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109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90E22-AE90-4A40-A415-F3D4254EF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D2AA39-7847-2D43-8AAE-A6D1B585B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FFEB1-8FAF-6543-BC45-74C76448D446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B1DEE6-07A8-E045-AE78-810C09E16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4D3874-B70F-5E42-B3E7-26910A766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31C90-8BE6-6446-9A17-96D8BC30F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601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1A714B-5B42-7747-A29F-F6EDF9502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FFEB1-8FAF-6543-BC45-74C76448D446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42A597-E95D-4840-9800-61DF91E43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BC5FA7-061B-0F4A-A511-D5DB527EC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31C90-8BE6-6446-9A17-96D8BC30F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96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84BFF-5828-8648-8D6D-D0F747794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0E847-0E1C-E941-81C1-59D570F5B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62C8C2-6523-EC4B-8E59-E4DFF913FF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2B608-7D28-3847-976F-7B0295693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FFEB1-8FAF-6543-BC45-74C76448D446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861AE-9B85-204E-B717-6C3949159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24062E-6259-2D40-9F13-C4B516C09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31C90-8BE6-6446-9A17-96D8BC30F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262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43416-1661-1540-B0C3-42BE5A626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E6F7BF-7FE8-4842-AF28-6FCE84FB0C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66C4D7-A188-8644-8DCB-A04CBF9E4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C7B1AA-287B-FA4C-B504-4D267EFC7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FFEB1-8FAF-6543-BC45-74C76448D446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9C77CA-ED60-E34F-9A0F-D35B2D53D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25BADE-1914-B744-949E-816E4DDEE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31C90-8BE6-6446-9A17-96D8BC30F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098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BA243-37BA-B747-8541-BFB2FE604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335252-D050-E446-AE63-A027F7D4A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94CAA-CE91-5A4B-84B6-FD8C79F76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FFEB1-8FAF-6543-BC45-74C76448D446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8ADD0-3117-D744-BA4C-BE5034F7B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A79A9-0100-3245-AF4F-1479C3F13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31C90-8BE6-6446-9A17-96D8BC30F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254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67B769-5C4A-084A-8304-17FB50FED5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92B5A1-2EA8-C149-98E3-9891DA0A7B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EF7CC-E756-7947-B75B-3CB3EBCE2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FFEB1-8FAF-6543-BC45-74C76448D446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0B6BB-F628-9E41-A137-E3CBE412B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4A679-570D-0B4C-A0EC-770EB1912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31C90-8BE6-6446-9A17-96D8BC30F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18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485929-4CF0-B143-90E0-6C1CDFB8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64321-C043-694A-8079-9FAE6E574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C6433-0BD9-D84A-8AB9-5008C0821D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7FFEB1-8FAF-6543-BC45-74C76448D446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A6C1B-3AEE-704D-A7DC-E7428F9923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071E1-470B-1543-B28B-84473652CA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631C90-8BE6-6446-9A17-96D8BC30F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694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jpe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.jpeg"/><Relationship Id="rId21" Type="http://schemas.openxmlformats.org/officeDocument/2006/relationships/image" Target="../media/image21.png"/><Relationship Id="rId7" Type="http://schemas.openxmlformats.org/officeDocument/2006/relationships/image" Target="../media/image7.jpe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jpe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31" Type="http://schemas.openxmlformats.org/officeDocument/2006/relationships/image" Target="../media/image31.png"/><Relationship Id="rId4" Type="http://schemas.openxmlformats.org/officeDocument/2006/relationships/image" Target="../media/image4.png"/><Relationship Id="rId9" Type="http://schemas.openxmlformats.org/officeDocument/2006/relationships/image" Target="../media/image9.jpeg"/><Relationship Id="rId14" Type="http://schemas.openxmlformats.org/officeDocument/2006/relationships/image" Target="../media/image14.gif"/><Relationship Id="rId22" Type="http://schemas.openxmlformats.org/officeDocument/2006/relationships/image" Target="../media/image22.png"/><Relationship Id="rId27" Type="http://schemas.openxmlformats.org/officeDocument/2006/relationships/image" Target="../media/image27.png"/><Relationship Id="rId30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tif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1D61F-5B03-5846-8305-A8FDC1E592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914400"/>
            <a:ext cx="11586575" cy="2693096"/>
          </a:xfrm>
        </p:spPr>
        <p:txBody>
          <a:bodyPr>
            <a:normAutofit/>
          </a:bodyPr>
          <a:lstStyle/>
          <a:p>
            <a:r>
              <a:rPr lang="en-US" sz="7200" b="1" dirty="0"/>
              <a:t>Introduction to Apache Spark</a:t>
            </a:r>
            <a:endParaRPr lang="en-US" sz="7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3F9450-85AE-3740-B429-EEE18F839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9522" y="3892514"/>
            <a:ext cx="5202477" cy="269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980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Spark?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1198347" y="3978922"/>
            <a:ext cx="4848226" cy="639763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rgbClr val="FF6600"/>
                </a:solidFill>
              </a:rPr>
              <a:t>Efficient</a:t>
            </a:r>
            <a:endParaRPr lang="en-US" sz="4800" dirty="0"/>
          </a:p>
        </p:txBody>
      </p:sp>
      <p:sp>
        <p:nvSpPr>
          <p:cNvPr id="16" name="Content Placeholder 15"/>
          <p:cNvSpPr>
            <a:spLocks noGrp="1"/>
          </p:cNvSpPr>
          <p:nvPr>
            <p:ph sz="half" idx="2"/>
          </p:nvPr>
        </p:nvSpPr>
        <p:spPr>
          <a:xfrm>
            <a:off x="1171609" y="4673591"/>
            <a:ext cx="4848226" cy="2067659"/>
          </a:xfrm>
        </p:spPr>
        <p:txBody>
          <a:bodyPr/>
          <a:lstStyle/>
          <a:p>
            <a:r>
              <a:rPr lang="en-US" sz="3840" dirty="0"/>
              <a:t>General execution graphs</a:t>
            </a:r>
          </a:p>
          <a:p>
            <a:r>
              <a:rPr lang="en-US" sz="3840" dirty="0"/>
              <a:t>In-memory storage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3"/>
          </p:nvPr>
        </p:nvSpPr>
        <p:spPr>
          <a:xfrm>
            <a:off x="6197002" y="3978922"/>
            <a:ext cx="4850130" cy="639763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rgbClr val="FF6600"/>
                </a:solidFill>
              </a:rPr>
              <a:t>Usable</a:t>
            </a:r>
            <a:endParaRPr lang="en-US" sz="4800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4"/>
          </p:nvPr>
        </p:nvSpPr>
        <p:spPr>
          <a:xfrm>
            <a:off x="6197002" y="4686759"/>
            <a:ext cx="4850130" cy="1835726"/>
          </a:xfrm>
        </p:spPr>
        <p:txBody>
          <a:bodyPr>
            <a:normAutofit/>
          </a:bodyPr>
          <a:lstStyle/>
          <a:p>
            <a:r>
              <a:rPr lang="en-US" sz="3840" dirty="0"/>
              <a:t>Rich APIs in Java, Scala, Python, R</a:t>
            </a:r>
          </a:p>
          <a:p>
            <a:r>
              <a:rPr lang="en-US" sz="3840" dirty="0"/>
              <a:t>Interactive shell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067855" y="2590565"/>
            <a:ext cx="10025680" cy="3931920"/>
          </a:xfrm>
          <a:prstGeom prst="rect">
            <a:avLst/>
          </a:prstGeom>
        </p:spPr>
        <p:txBody>
          <a:bodyPr vert="horz" lIns="109728" tIns="54864" rIns="109728" bIns="54864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840" b="1" dirty="0">
              <a:solidFill>
                <a:srgbClr val="FF6600"/>
              </a:solidFill>
            </a:endParaRPr>
          </a:p>
          <a:p>
            <a:pPr marL="0" indent="0">
              <a:buNone/>
            </a:pPr>
            <a:endParaRPr lang="en-US" sz="3840" b="1" dirty="0">
              <a:solidFill>
                <a:srgbClr val="FF66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97907" y="1289626"/>
            <a:ext cx="9483455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360" b="1" dirty="0">
                <a:solidFill>
                  <a:schemeClr val="bg1">
                    <a:lumMod val="50000"/>
                  </a:schemeClr>
                </a:solidFill>
                <a:latin typeface="Helvetica Neue Light"/>
                <a:cs typeface="Helvetica Neue Light"/>
              </a:rPr>
              <a:t>Fast</a:t>
            </a:r>
            <a:r>
              <a:rPr lang="en-US" sz="3360" dirty="0">
                <a:solidFill>
                  <a:schemeClr val="bg1">
                    <a:lumMod val="50000"/>
                  </a:schemeClr>
                </a:solidFill>
                <a:latin typeface="Helvetica Neue Light"/>
                <a:cs typeface="Helvetica Neue Light"/>
              </a:rPr>
              <a:t> and </a:t>
            </a:r>
            <a:r>
              <a:rPr lang="en-US" sz="3360" b="1" dirty="0">
                <a:solidFill>
                  <a:schemeClr val="bg1">
                    <a:lumMod val="50000"/>
                  </a:schemeClr>
                </a:solidFill>
                <a:latin typeface="Helvetica Neue Light"/>
                <a:cs typeface="Helvetica Neue Light"/>
              </a:rPr>
              <a:t>Expressive</a:t>
            </a:r>
            <a:r>
              <a:rPr lang="en-US" sz="3360" dirty="0">
                <a:solidFill>
                  <a:schemeClr val="bg1">
                    <a:lumMod val="50000"/>
                  </a:schemeClr>
                </a:solidFill>
                <a:latin typeface="Helvetica Neue Light"/>
                <a:cs typeface="Helvetica Neue Light"/>
              </a:rPr>
              <a:t> Cluster Computing </a:t>
            </a:r>
            <a:br>
              <a:rPr lang="en-US" sz="3360" dirty="0">
                <a:solidFill>
                  <a:schemeClr val="bg1">
                    <a:lumMod val="50000"/>
                  </a:schemeClr>
                </a:solidFill>
                <a:latin typeface="Helvetica Neue Light"/>
                <a:cs typeface="Helvetica Neue Light"/>
              </a:rPr>
            </a:br>
            <a:r>
              <a:rPr lang="en-US" sz="3360" dirty="0">
                <a:solidFill>
                  <a:schemeClr val="bg1">
                    <a:lumMod val="50000"/>
                  </a:schemeClr>
                </a:solidFill>
                <a:latin typeface="Helvetica Neue Light"/>
                <a:cs typeface="Helvetica Neue Light"/>
              </a:rPr>
              <a:t>Engine Compatible with Apache Hadoop</a:t>
            </a:r>
          </a:p>
        </p:txBody>
      </p:sp>
      <p:sp>
        <p:nvSpPr>
          <p:cNvPr id="24" name="Rounded Rectangle 23"/>
          <p:cNvSpPr/>
          <p:nvPr/>
        </p:nvSpPr>
        <p:spPr>
          <a:xfrm rot="634753">
            <a:off x="7468640" y="3404758"/>
            <a:ext cx="3341122" cy="667423"/>
          </a:xfrm>
          <a:prstGeom prst="roundRect">
            <a:avLst/>
          </a:prstGeom>
          <a:solidFill>
            <a:schemeClr val="bg1">
              <a:lumMod val="85000"/>
              <a:alpha val="80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4800" b="1" dirty="0">
                <a:solidFill>
                  <a:srgbClr val="FF6600"/>
                </a:solidFill>
                <a:latin typeface="Corbel"/>
                <a:cs typeface="Corbel"/>
              </a:rPr>
              <a:t>2-5× </a:t>
            </a:r>
            <a:r>
              <a:rPr lang="en-US" sz="3360" dirty="0">
                <a:solidFill>
                  <a:srgbClr val="FF6600"/>
                </a:solidFill>
                <a:latin typeface="Corbel"/>
                <a:cs typeface="Corbel"/>
              </a:rPr>
              <a:t>less code</a:t>
            </a:r>
          </a:p>
        </p:txBody>
      </p:sp>
      <p:sp>
        <p:nvSpPr>
          <p:cNvPr id="25" name="Rounded Rectangle 24"/>
          <p:cNvSpPr/>
          <p:nvPr/>
        </p:nvSpPr>
        <p:spPr>
          <a:xfrm rot="531739">
            <a:off x="1597743" y="2803786"/>
            <a:ext cx="4534754" cy="1188811"/>
          </a:xfrm>
          <a:prstGeom prst="roundRect">
            <a:avLst/>
          </a:prstGeom>
          <a:solidFill>
            <a:schemeClr val="bg1">
              <a:lumMod val="85000"/>
              <a:alpha val="80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2880" dirty="0">
                <a:solidFill>
                  <a:srgbClr val="FF6600"/>
                </a:solidFill>
                <a:latin typeface="Corbel"/>
                <a:cs typeface="Corbel"/>
              </a:rPr>
              <a:t>Up to </a:t>
            </a:r>
            <a:r>
              <a:rPr lang="en-US" sz="4800" b="1" dirty="0">
                <a:solidFill>
                  <a:srgbClr val="FF6600"/>
                </a:solidFill>
                <a:latin typeface="Corbel"/>
                <a:cs typeface="Corbel"/>
              </a:rPr>
              <a:t>10×</a:t>
            </a:r>
            <a:r>
              <a:rPr lang="en-US" sz="2880" dirty="0">
                <a:solidFill>
                  <a:srgbClr val="FF6600"/>
                </a:solidFill>
                <a:latin typeface="Corbel"/>
                <a:cs typeface="Corbel"/>
              </a:rPr>
              <a:t> faster on disk,</a:t>
            </a:r>
            <a:br>
              <a:rPr lang="en-US" sz="2880" dirty="0">
                <a:solidFill>
                  <a:srgbClr val="FF6600"/>
                </a:solidFill>
                <a:latin typeface="Corbel"/>
                <a:cs typeface="Corbel"/>
              </a:rPr>
            </a:br>
            <a:r>
              <a:rPr lang="en-US" sz="4800" b="1" dirty="0">
                <a:solidFill>
                  <a:srgbClr val="FF6600"/>
                </a:solidFill>
                <a:latin typeface="Corbel"/>
                <a:cs typeface="Corbel"/>
              </a:rPr>
              <a:t>100×</a:t>
            </a:r>
            <a:r>
              <a:rPr lang="en-US" sz="3840" b="1" dirty="0">
                <a:solidFill>
                  <a:srgbClr val="FF6600"/>
                </a:solidFill>
                <a:latin typeface="Corbel"/>
                <a:cs typeface="Corbel"/>
              </a:rPr>
              <a:t> </a:t>
            </a:r>
            <a:r>
              <a:rPr lang="en-US" sz="2880" dirty="0">
                <a:solidFill>
                  <a:srgbClr val="FF6600"/>
                </a:solidFill>
                <a:latin typeface="Corbel"/>
                <a:cs typeface="Corbel"/>
              </a:rPr>
              <a:t>in memory</a:t>
            </a:r>
          </a:p>
        </p:txBody>
      </p:sp>
    </p:spTree>
    <p:extLst>
      <p:ext uri="{BB962C8B-B14F-4D97-AF65-F5344CB8AC3E}">
        <p14:creationId xmlns:p14="http://schemas.microsoft.com/office/powerpoint/2010/main" val="1893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Spark?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159928E-B305-1A49-91E6-981FCADD07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81163"/>
            <a:ext cx="5157787" cy="4508500"/>
          </a:xfrm>
        </p:spPr>
        <p:txBody>
          <a:bodyPr>
            <a:normAutofit/>
          </a:bodyPr>
          <a:lstStyle/>
          <a:p>
            <a:r>
              <a:rPr lang="en-GB" dirty="0"/>
              <a:t>Open Source</a:t>
            </a:r>
          </a:p>
          <a:p>
            <a:r>
              <a:rPr lang="en-GB" dirty="0"/>
              <a:t>A low latency cluster computing system</a:t>
            </a:r>
          </a:p>
          <a:p>
            <a:r>
              <a:rPr lang="en-GB" dirty="0"/>
              <a:t>For very large data sets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9138BB3-72AA-6941-B3EB-E7FBDCCE74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601249"/>
            <a:ext cx="5183188" cy="5588414"/>
          </a:xfrm>
        </p:spPr>
        <p:txBody>
          <a:bodyPr>
            <a:normAutofit/>
          </a:bodyPr>
          <a:lstStyle/>
          <a:p>
            <a:pPr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dirty="0"/>
              <a:t>May be 100 times faster than Map Reduce for </a:t>
            </a:r>
          </a:p>
          <a:p>
            <a:pPr lvl="1"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sz="2800" dirty="0"/>
              <a:t>Iterative algorithms</a:t>
            </a:r>
          </a:p>
          <a:p>
            <a:pPr lvl="1"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sz="2800" dirty="0"/>
              <a:t>Interactive data mining </a:t>
            </a:r>
          </a:p>
          <a:p>
            <a:pPr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dirty="0"/>
              <a:t>Used with Hadoop / HDFS (</a:t>
            </a:r>
            <a:r>
              <a:rPr lang="en-US" dirty="0"/>
              <a:t>Spark can run on Hadoop 1.0, Hadoop 2.0, Apache Mesos, or a standalone Spark cluster)</a:t>
            </a:r>
            <a:endParaRPr lang="en-GB" dirty="0"/>
          </a:p>
          <a:p>
            <a:pPr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GB" dirty="0"/>
              <a:t>Released under BSD License</a:t>
            </a:r>
          </a:p>
          <a:p>
            <a:pPr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US" dirty="0"/>
              <a:t>A driver program that controls the execution of parallel operations across a cluster</a:t>
            </a:r>
            <a:endParaRPr lang="en-GB" dirty="0"/>
          </a:p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31EA878-A66C-A44B-B66D-BC5C46808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938" y="3632200"/>
            <a:ext cx="4343400" cy="322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27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/>
        </p:nvSpPr>
        <p:spPr>
          <a:xfrm>
            <a:off x="10015958" y="5981897"/>
            <a:ext cx="1566443" cy="8761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pic>
        <p:nvPicPr>
          <p:cNvPr id="7" name="Picture 10" descr="Intel-logo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23990" y="4779335"/>
            <a:ext cx="692905" cy="620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Spark Community</a:t>
            </a:r>
          </a:p>
        </p:txBody>
      </p:sp>
      <p:pic>
        <p:nvPicPr>
          <p:cNvPr id="5" name="Picture 4" descr="conviva-logo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32598" y="5784585"/>
            <a:ext cx="1183825" cy="196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8" descr="yahoologo-1.jp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39556" y="4586080"/>
            <a:ext cx="1405464" cy="388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1" descr="adobe-systems-incorporated.png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15741" y="5479169"/>
            <a:ext cx="662135" cy="639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 descr="bizo_283_224.jpg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91877" y="5773450"/>
            <a:ext cx="604579" cy="460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3" descr="logo_clearstory_data.png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26737" y="5451174"/>
            <a:ext cx="989968" cy="342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8" descr="86522_AdMobius.jpg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85791" y="5451174"/>
            <a:ext cx="950983" cy="247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 descr="Screen Shot 2013-05-29 at 12.18.46 AM.pn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16" y="5969110"/>
            <a:ext cx="1242278" cy="210744"/>
          </a:xfrm>
          <a:prstGeom prst="rect">
            <a:avLst/>
          </a:prstGeom>
        </p:spPr>
      </p:pic>
      <p:pic>
        <p:nvPicPr>
          <p:cNvPr id="13" name="Picture 12" descr="Screen Shot 2013-08-28 at 4.00.20 PM.png"/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6"/>
          <a:stretch/>
        </p:blipFill>
        <p:spPr>
          <a:xfrm>
            <a:off x="5385791" y="6354991"/>
            <a:ext cx="1301608" cy="207146"/>
          </a:xfrm>
          <a:prstGeom prst="rect">
            <a:avLst/>
          </a:prstGeom>
        </p:spPr>
      </p:pic>
      <p:pic>
        <p:nvPicPr>
          <p:cNvPr id="14" name="Picture 13" descr="tagged_logo.png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565" y="5593455"/>
            <a:ext cx="1008888" cy="179995"/>
          </a:xfrm>
          <a:prstGeom prst="rect">
            <a:avLst/>
          </a:prstGeom>
        </p:spPr>
      </p:pic>
      <p:pic>
        <p:nvPicPr>
          <p:cNvPr id="15" name="Picture 5" descr="quantifind_logo.jpg"/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06092" y="6242314"/>
            <a:ext cx="1133497" cy="360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15" descr="20130227104736!Wandisco_logo.gif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344" y="5076990"/>
            <a:ext cx="1812713" cy="19214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91463" y="4517757"/>
            <a:ext cx="1111829" cy="111183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335862" y="4246558"/>
            <a:ext cx="2142257" cy="41341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99196" y="4246558"/>
            <a:ext cx="2260061" cy="582424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18"/>
          <a:srcRect t="16388"/>
          <a:stretch/>
        </p:blipFill>
        <p:spPr>
          <a:xfrm>
            <a:off x="1251426" y="1477822"/>
            <a:ext cx="9633199" cy="2676374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83132" y="5922490"/>
            <a:ext cx="639648" cy="63964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22240" y="6172363"/>
            <a:ext cx="964926" cy="227909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718783" y="6046017"/>
            <a:ext cx="655645" cy="603193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35452" y="4873213"/>
            <a:ext cx="1180048" cy="44603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55297" y="6296877"/>
            <a:ext cx="1111163" cy="31280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324344" y="5476743"/>
            <a:ext cx="1011518" cy="443099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911960" y="5158924"/>
            <a:ext cx="536785" cy="614526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787071" y="5469359"/>
            <a:ext cx="761999" cy="3048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385791" y="4954222"/>
            <a:ext cx="1339286" cy="245536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734790" y="6283275"/>
            <a:ext cx="1169868" cy="375646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641124" y="4517757"/>
            <a:ext cx="1253948" cy="457194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43938" y="5330642"/>
            <a:ext cx="1026794" cy="30314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31"/>
          <a:srcRect t="33132" b="34513"/>
          <a:stretch/>
        </p:blipFill>
        <p:spPr>
          <a:xfrm>
            <a:off x="1340385" y="5800867"/>
            <a:ext cx="1171346" cy="37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965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/>
        </p:nvSpPr>
        <p:spPr>
          <a:xfrm>
            <a:off x="10015958" y="5981897"/>
            <a:ext cx="1566443" cy="8761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Spark Community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BA3FDE-B8F3-3142-A063-268A69ECA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5022" y="1689030"/>
            <a:ext cx="8468638" cy="473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088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Programming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PySpark</a:t>
            </a:r>
            <a:endParaRPr lang="en-US" dirty="0"/>
          </a:p>
          <a:p>
            <a:r>
              <a:rPr lang="en-US" dirty="0"/>
              <a:t>Resilient Distributed Datasets (RDDs)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507466-DE42-924C-99E4-5CC9962E9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929" y="3319463"/>
            <a:ext cx="50800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277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21EF5-B765-5A41-858E-D2CDFAE01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PySpark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3D6B6-18EC-E04E-8CDA-AB43E058D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PySpark</a:t>
            </a:r>
            <a:r>
              <a:rPr lang="en-US" dirty="0"/>
              <a:t> is Spark’s Python API. </a:t>
            </a:r>
            <a:r>
              <a:rPr lang="en-US" dirty="0" err="1"/>
              <a:t>PySpark</a:t>
            </a:r>
            <a:r>
              <a:rPr lang="en-US" dirty="0"/>
              <a:t> allows Spark applications to be created from an interactive shell or from Python programs.</a:t>
            </a:r>
          </a:p>
          <a:p>
            <a:r>
              <a:rPr lang="en-US" b="1" dirty="0"/>
              <a:t>Interactive Shell:</a:t>
            </a:r>
          </a:p>
          <a:p>
            <a:endParaRPr lang="en-US" b="1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5B8538-44B5-3C4A-BA7F-1D8F84380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621" y="3370024"/>
            <a:ext cx="693420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035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EB430-DAB3-214A-BD7F-D9AC35890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PySpark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2000C-0D27-0141-AD37-A10BD3758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Self-Contained Applications</a:t>
            </a:r>
          </a:p>
          <a:p>
            <a:r>
              <a:rPr lang="en-US" dirty="0"/>
              <a:t>Self-contained applications must first create a </a:t>
            </a:r>
            <a:r>
              <a:rPr lang="en-US" dirty="0" err="1"/>
              <a:t>SparkContext</a:t>
            </a:r>
            <a:r>
              <a:rPr lang="en-US" dirty="0"/>
              <a:t> object before using any Spark methods. 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To execute self-contained applications, they must be submitted to the spark-submit script.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2AF791-46BF-DB4B-BAD1-7AF5B1AD2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769" y="3407004"/>
            <a:ext cx="7725770" cy="5942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A2CD56-F50E-2948-99E5-5174094D00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768" y="5360423"/>
            <a:ext cx="8164157" cy="67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820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Concept: RDD’s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875808" y="2719278"/>
            <a:ext cx="6213646" cy="41973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960" b="1" dirty="0">
                <a:solidFill>
                  <a:srgbClr val="FF6600"/>
                </a:solidFill>
              </a:rPr>
              <a:t>Resilient Distributed Datasets</a:t>
            </a:r>
          </a:p>
          <a:p>
            <a:r>
              <a:rPr lang="en-US" dirty="0"/>
              <a:t>Collections of objects spread across a cluster, stored in RAM or on Disk</a:t>
            </a:r>
          </a:p>
          <a:p>
            <a:r>
              <a:rPr lang="en-US" dirty="0"/>
              <a:t>Built through parallel transformations</a:t>
            </a:r>
          </a:p>
          <a:p>
            <a:r>
              <a:rPr lang="en-US" dirty="0"/>
              <a:t>Automatically rebuilt on failure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7508942" y="2734485"/>
            <a:ext cx="4020181" cy="41973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960" b="1" dirty="0">
                <a:solidFill>
                  <a:srgbClr val="FF6600"/>
                </a:solidFill>
              </a:rPr>
              <a:t>Operations</a:t>
            </a:r>
          </a:p>
          <a:p>
            <a:r>
              <a:rPr lang="en-US" dirty="0"/>
              <a:t>Transformations</a:t>
            </a:r>
            <a:br>
              <a:rPr lang="en-US" dirty="0"/>
            </a:br>
            <a:r>
              <a:rPr lang="en-US" dirty="0"/>
              <a:t>(e.g. map, filter, </a:t>
            </a:r>
            <a:r>
              <a:rPr lang="en-US" dirty="0" err="1"/>
              <a:t>groupBy</a:t>
            </a:r>
            <a:r>
              <a:rPr lang="en-US" dirty="0"/>
              <a:t>)</a:t>
            </a:r>
          </a:p>
          <a:p>
            <a:r>
              <a:rPr lang="en-US" dirty="0"/>
              <a:t>Actions</a:t>
            </a:r>
            <a:br>
              <a:rPr lang="en-US" dirty="0"/>
            </a:br>
            <a:r>
              <a:rPr lang="en-US" dirty="0"/>
              <a:t>(e.g. count, collect, save)</a:t>
            </a:r>
          </a:p>
        </p:txBody>
      </p:sp>
      <p:sp>
        <p:nvSpPr>
          <p:cNvPr id="9" name="Rectangle 8"/>
          <p:cNvSpPr/>
          <p:nvPr/>
        </p:nvSpPr>
        <p:spPr>
          <a:xfrm>
            <a:off x="1397908" y="1344367"/>
            <a:ext cx="9354580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360" dirty="0">
                <a:solidFill>
                  <a:schemeClr val="bg1">
                    <a:lumMod val="50000"/>
                  </a:schemeClr>
                </a:solidFill>
                <a:latin typeface="Helvetica Neue Light"/>
                <a:cs typeface="Helvetica Neue Light"/>
              </a:rPr>
              <a:t>Write programs in terms of </a:t>
            </a:r>
            <a:r>
              <a:rPr lang="en-US" sz="3360" b="1" dirty="0">
                <a:solidFill>
                  <a:schemeClr val="bg1">
                    <a:lumMod val="50000"/>
                  </a:schemeClr>
                </a:solidFill>
                <a:latin typeface="Helvetica Neue Light"/>
                <a:cs typeface="Helvetica Neue Light"/>
              </a:rPr>
              <a:t>operations </a:t>
            </a:r>
            <a:r>
              <a:rPr lang="en-US" sz="3360" dirty="0">
                <a:solidFill>
                  <a:schemeClr val="bg1">
                    <a:lumMod val="50000"/>
                  </a:schemeClr>
                </a:solidFill>
                <a:latin typeface="Helvetica Neue Light"/>
                <a:cs typeface="Helvetica Neue Light"/>
              </a:rPr>
              <a:t>on </a:t>
            </a:r>
            <a:r>
              <a:rPr lang="en-US" sz="3360" b="1" dirty="0">
                <a:solidFill>
                  <a:schemeClr val="bg1">
                    <a:lumMod val="50000"/>
                  </a:schemeClr>
                </a:solidFill>
                <a:latin typeface="Helvetica Neue Light"/>
                <a:cs typeface="Helvetica Neue Light"/>
              </a:rPr>
              <a:t>distributed datasets</a:t>
            </a:r>
          </a:p>
        </p:txBody>
      </p:sp>
    </p:spTree>
    <p:extLst>
      <p:ext uri="{BB962C8B-B14F-4D97-AF65-F5344CB8AC3E}">
        <p14:creationId xmlns:p14="http://schemas.microsoft.com/office/powerpoint/2010/main" val="683652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31ED0-BC3E-BE41-B62A-1188342CC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6600"/>
                </a:solidFill>
              </a:rPr>
              <a:t>Resilient Distributed Datasets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8A349-A60A-6841-8ECF-7EF010E5D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RDDs can be constructed in multiple ways: </a:t>
            </a:r>
          </a:p>
          <a:p>
            <a:pPr lvl="1"/>
            <a:r>
              <a:rPr lang="en-US" sz="3200" dirty="0"/>
              <a:t>by parallelizing existing Python collections, </a:t>
            </a:r>
          </a:p>
          <a:p>
            <a:pPr lvl="1"/>
            <a:r>
              <a:rPr lang="en-US" sz="3200" dirty="0"/>
              <a:t>by referencing files in an external storage system such as HDFS</a:t>
            </a:r>
          </a:p>
          <a:p>
            <a:pPr lvl="1"/>
            <a:r>
              <a:rPr lang="en-US" sz="3200" dirty="0"/>
              <a:t>by applying transformations to existing RDDs.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DE9C72-2DC5-9946-8DF3-6E8F343C5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2170" y="4530769"/>
            <a:ext cx="5080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594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0F9CA-D818-3C49-97D0-0B2909D9F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RDDs from Collections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D18DD-7B14-184B-8AB7-CA361F65B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/>
              <a:t>RDDs can be created from a Python collection by calling the SparkContext.parallelize() method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To specify the number of partitions an RDD should be created with, a second argument can be passed to the parallelize() method. 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10EB24-04FA-0141-9159-EFE0DADA5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287" y="2632984"/>
            <a:ext cx="6596694" cy="14150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14F915-B8FE-BF4B-8CED-0FC2A72388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287" y="5140484"/>
            <a:ext cx="7473516" cy="1265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261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75948-D138-2148-87AD-57BCCE231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RDDs from External Sources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F72B0-3E20-8749-B0B5-8EF14B80E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Spark can read files residing on the local filesystem, any storage source supported by Hadoop, Amazon S3, and so on.</a:t>
            </a:r>
          </a:p>
          <a:p>
            <a:r>
              <a:rPr lang="en-US" dirty="0"/>
              <a:t>Spark supports text files, </a:t>
            </a:r>
            <a:r>
              <a:rPr lang="en-US" dirty="0" err="1"/>
              <a:t>SequenceFiles</a:t>
            </a:r>
            <a:r>
              <a:rPr lang="en-US" dirty="0"/>
              <a:t>, any other Hadoop </a:t>
            </a:r>
            <a:r>
              <a:rPr lang="en-US" dirty="0" err="1"/>
              <a:t>InputFormat</a:t>
            </a:r>
            <a:r>
              <a:rPr lang="en-US" dirty="0"/>
              <a:t>, directories, compressed files, and wildcards;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AD9AC7-DB75-A847-A6E9-60015A076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412" y="3826614"/>
            <a:ext cx="7886700" cy="138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810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1F92C-AFDB-C841-A67F-0A82A31A9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RDDs from External Sources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DBDFC-23AD-3843-AA15-39367A5D6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 </a:t>
            </a:r>
            <a:r>
              <a:rPr lang="en-US" dirty="0" err="1"/>
              <a:t>textFile</a:t>
            </a:r>
            <a:r>
              <a:rPr lang="en-US" dirty="0"/>
              <a:t>() method takes a second parameter that specifies the number of partitions to create: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CA0B6A-763C-7445-A7AD-34E1B658E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861" y="2918216"/>
            <a:ext cx="779780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94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2AF43-C22A-9243-AD4E-C24F6F69A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RDD Operations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F5DEA-3A16-FB42-9C79-ED7D8CAC0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RDDs support two types of operations: </a:t>
            </a:r>
            <a:r>
              <a:rPr lang="en-US" sz="3600" b="1" i="1" dirty="0"/>
              <a:t>transformations</a:t>
            </a:r>
            <a:r>
              <a:rPr lang="en-US" sz="3600" dirty="0"/>
              <a:t> and </a:t>
            </a:r>
            <a:r>
              <a:rPr lang="en-US" sz="3600" b="1" i="1" dirty="0"/>
              <a:t>actions</a:t>
            </a:r>
            <a:r>
              <a:rPr lang="en-US" sz="3600" dirty="0"/>
              <a:t>.</a:t>
            </a:r>
          </a:p>
          <a:p>
            <a:pPr lvl="1"/>
            <a:r>
              <a:rPr lang="en-US" sz="3200" dirty="0"/>
              <a:t>Transformations create new datasets from existing ones;</a:t>
            </a:r>
          </a:p>
          <a:p>
            <a:pPr lvl="1"/>
            <a:r>
              <a:rPr lang="en-US" sz="3200" dirty="0"/>
              <a:t>Actions run a computation on the dataset and return results to the driver program;</a:t>
            </a:r>
          </a:p>
          <a:p>
            <a:pPr lvl="1"/>
            <a:r>
              <a:rPr lang="en-US" sz="3200" dirty="0"/>
              <a:t>Transformations are lazy: Transformations are computed when an action requires a result to be returned to the driver program.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247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125D9-CD9A-CE46-ADCB-AD9665036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RDD Workflow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F402C7F-2FE5-DD4D-A4A4-61FC6A82E4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608843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5907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22D7B-F333-BD40-B2F7-506F61F0C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Calculate the number of characters in a file: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0CA950-B974-C643-8B46-19AD2B1D1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Transformation</a:t>
            </a:r>
            <a:r>
              <a:rPr lang="en-US" dirty="0"/>
              <a:t>: map() function to calculate the number of characters in each line. The variable </a:t>
            </a:r>
            <a:r>
              <a:rPr lang="en-US" i="1" dirty="0" err="1"/>
              <a:t>line_lengths</a:t>
            </a:r>
            <a:r>
              <a:rPr lang="en-US" dirty="0"/>
              <a:t> is not immediately computed due to the laziness of transformations.</a:t>
            </a:r>
          </a:p>
          <a:p>
            <a:r>
              <a:rPr lang="en-US" b="1" i="1" dirty="0"/>
              <a:t>Action</a:t>
            </a:r>
            <a:r>
              <a:rPr lang="en-US" dirty="0"/>
              <a:t>: reduce () method. Spark divides the computations into tasks to run on separate machines.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FBCA3AE4-F8CC-7A48-883E-7E4B22BB2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770" y="4001294"/>
            <a:ext cx="7835900" cy="177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4873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EBC14-9DB5-EB43-BB50-F9920CF99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Lambda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89B10-A166-654C-A146-B0932B2E1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Lambda functions are anonymous functions (i.e., they do not have a name) that are created at runtime.</a:t>
            </a:r>
          </a:p>
          <a:p>
            <a:r>
              <a:rPr lang="en-US" dirty="0"/>
              <a:t>Used wherever function objects are required and are syntactically restricted to a single expression.</a:t>
            </a:r>
          </a:p>
          <a:p>
            <a:r>
              <a:rPr lang="en-US" dirty="0"/>
              <a:t>Defined by the keyword lambda, followed by a comma-separated list of arguments. A colon separates the function declaration from the function expression. </a:t>
            </a:r>
          </a:p>
          <a:p>
            <a:r>
              <a:rPr lang="en-US" dirty="0"/>
              <a:t>The function expression is a single expression that produces a result for the provided arguments.</a:t>
            </a:r>
          </a:p>
        </p:txBody>
      </p:sp>
    </p:spTree>
    <p:extLst>
      <p:ext uri="{BB962C8B-B14F-4D97-AF65-F5344CB8AC3E}">
        <p14:creationId xmlns:p14="http://schemas.microsoft.com/office/powerpoint/2010/main" val="3213912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DC07A-8169-7940-9E78-22951805D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</a:t>
            </a:r>
            <a:r>
              <a:rPr lang="en-US" altLang="zh-CN" dirty="0"/>
              <a:t>Lambda</a:t>
            </a:r>
            <a:r>
              <a:rPr lang="zh-CN" altLang="en-US" dirty="0"/>
              <a:t> </a:t>
            </a:r>
            <a:r>
              <a:rPr lang="en-US" altLang="zh-CN" dirty="0"/>
              <a:t>Functions: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F5197-3FD4-6240-A514-2CFADCEB5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lambda function that returns the sum of its two arguments: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 lambda function has one argument and returns the length of the argument.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C28A7C-8231-B848-A4F9-855F514B1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632" y="2474214"/>
            <a:ext cx="6807200" cy="495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3EE0B1-D459-6447-8A4F-CD19DB182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632" y="4484370"/>
            <a:ext cx="75311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2969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FEDEA-55E8-6C44-8BBB-6BE63BD51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Transformations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39FEF-1384-A247-A21F-18EC45E18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Map</a:t>
            </a:r>
            <a:r>
              <a:rPr lang="en-US" dirty="0"/>
              <a:t>: The map(</a:t>
            </a:r>
            <a:r>
              <a:rPr lang="en-US" i="1" dirty="0" err="1"/>
              <a:t>func</a:t>
            </a:r>
            <a:r>
              <a:rPr lang="en-US" dirty="0"/>
              <a:t>) function returns a new RDD by applying a function, </a:t>
            </a:r>
            <a:r>
              <a:rPr lang="en-US" i="1" dirty="0" err="1"/>
              <a:t>func</a:t>
            </a:r>
            <a:r>
              <a:rPr lang="en-US" dirty="0"/>
              <a:t>, to each element of the source. 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Filter</a:t>
            </a:r>
            <a:r>
              <a:rPr lang="en-US" dirty="0"/>
              <a:t>: The filter(</a:t>
            </a:r>
            <a:r>
              <a:rPr lang="en-US" i="1" dirty="0" err="1"/>
              <a:t>func</a:t>
            </a:r>
            <a:r>
              <a:rPr lang="en-US" dirty="0"/>
              <a:t>) function returns a new RDD containing only the elements of the source that the supplied function returns as true.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5DD5C7-250C-2248-8320-B7EEE15E9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374" y="2689352"/>
            <a:ext cx="5398770" cy="15459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9CD281-D97A-9547-883F-501EAC4AC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374" y="5147540"/>
            <a:ext cx="71628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4500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046B4-21A9-EB43-A2BB-2A0D7665C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Transformations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2E748-9A1E-B446-8582-9D229B8021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Distinct: </a:t>
            </a:r>
            <a:r>
              <a:rPr lang="en-US" dirty="0"/>
              <a:t>The distinct() method returns a new RDD containing only the distinct;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FFC92E-1154-7345-9A93-13FD4C5E8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499871"/>
            <a:ext cx="5181600" cy="5677091"/>
          </a:xfrm>
        </p:spPr>
        <p:txBody>
          <a:bodyPr/>
          <a:lstStyle/>
          <a:p>
            <a:r>
              <a:rPr lang="en-US" b="1" dirty="0" err="1"/>
              <a:t>FlatMap</a:t>
            </a:r>
            <a:r>
              <a:rPr lang="en-US" b="1" dirty="0"/>
              <a:t>: </a:t>
            </a:r>
            <a:r>
              <a:rPr lang="en-US" dirty="0"/>
              <a:t>The </a:t>
            </a:r>
            <a:r>
              <a:rPr lang="en-US" dirty="0" err="1"/>
              <a:t>flatMap</a:t>
            </a:r>
            <a:r>
              <a:rPr lang="en-US" dirty="0"/>
              <a:t>(</a:t>
            </a:r>
            <a:r>
              <a:rPr lang="en-US" i="1" dirty="0" err="1"/>
              <a:t>func</a:t>
            </a:r>
            <a:r>
              <a:rPr lang="en-US" dirty="0"/>
              <a:t>) function is similar to the map() function, except it returns a flattened version of the results.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2F462F-6990-AC4C-81E9-728C7AE3B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" y="3271044"/>
            <a:ext cx="5422900" cy="1574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7FE59C-05A9-5646-B626-34F48FAF2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805176"/>
            <a:ext cx="5715000" cy="1574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C1EED5-44AA-B242-AC0B-61A75B5849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900" y="5003800"/>
            <a:ext cx="638810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1424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12522-7882-7844-A235-7EE7E2DA7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Basic Actions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E09C9-2F2E-414D-B7B6-6021A0FBBBD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fontAlgn="base"/>
            <a:r>
              <a:rPr lang="en-US" b="1" dirty="0"/>
              <a:t>Reduce: </a:t>
            </a:r>
            <a:r>
              <a:rPr lang="en-US" dirty="0"/>
              <a:t>The reduce() method aggregates elements in an RDD using a function, which takes two arguments and returns one. 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61850D-CFE7-A74F-82BD-3C0E86B7072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fontAlgn="base"/>
            <a:r>
              <a:rPr lang="en-US" b="1" dirty="0"/>
              <a:t>Take: </a:t>
            </a:r>
            <a:r>
              <a:rPr lang="en-US" dirty="0"/>
              <a:t>The take(</a:t>
            </a:r>
            <a:r>
              <a:rPr lang="en-US" i="1" dirty="0"/>
              <a:t>n</a:t>
            </a:r>
            <a:r>
              <a:rPr lang="en-US" dirty="0"/>
              <a:t>) method returns an array with the first</a:t>
            </a:r>
            <a:r>
              <a:rPr lang="en-US" i="1" dirty="0"/>
              <a:t> n</a:t>
            </a:r>
            <a:r>
              <a:rPr lang="en-US" dirty="0"/>
              <a:t> elements of the RDD. 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F2E574C-CC82-B845-8DA8-91D8033F9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3786886"/>
            <a:ext cx="4495800" cy="1308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F8276B1-B467-5E40-8941-31CC8BFB0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926" y="3705543"/>
            <a:ext cx="41021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4382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BE337-5679-2840-BAF1-72AC80D8A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Basic Actions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A8D3C-2ED6-F246-A1D4-F832CB8195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0664" y="1472057"/>
            <a:ext cx="5181600" cy="4351338"/>
          </a:xfrm>
        </p:spPr>
        <p:txBody>
          <a:bodyPr/>
          <a:lstStyle/>
          <a:p>
            <a:pPr fontAlgn="base"/>
            <a:r>
              <a:rPr lang="en-US" altLang="zh-CN" b="1" dirty="0"/>
              <a:t>C</a:t>
            </a:r>
            <a:r>
              <a:rPr lang="en-US" b="1" dirty="0"/>
              <a:t>ollect</a:t>
            </a:r>
            <a:r>
              <a:rPr lang="en-US" altLang="zh-CN" b="1" dirty="0"/>
              <a:t>:</a:t>
            </a:r>
            <a:r>
              <a:rPr lang="zh-CN" altLang="en-US" b="1" dirty="0"/>
              <a:t> </a:t>
            </a:r>
            <a:r>
              <a:rPr lang="en-US" dirty="0"/>
              <a:t>The collect() method returns all of the elements of the RDD as an array.</a:t>
            </a:r>
          </a:p>
          <a:p>
            <a:pPr fontAlgn="base"/>
            <a:endParaRPr lang="en-US" dirty="0"/>
          </a:p>
          <a:p>
            <a:pPr fontAlgn="base"/>
            <a:endParaRPr lang="en-US" dirty="0"/>
          </a:p>
          <a:p>
            <a:pPr fontAlgn="base"/>
            <a:endParaRPr lang="en-US" dirty="0"/>
          </a:p>
          <a:p>
            <a:pPr fontAlgn="base"/>
            <a:r>
              <a:rPr lang="en-US" altLang="zh-CN" dirty="0"/>
              <a:t>T</a:t>
            </a:r>
            <a:r>
              <a:rPr lang="en-US" dirty="0"/>
              <a:t>he take() and collect()methods can be used to inspect the top </a:t>
            </a:r>
            <a:r>
              <a:rPr lang="en-US" i="1" dirty="0"/>
              <a:t>n</a:t>
            </a:r>
            <a:r>
              <a:rPr lang="en-US" dirty="0"/>
              <a:t> elements of a large RDD. 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2A7801-834C-6C47-8AD3-B55572FFB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581373"/>
            <a:ext cx="5181600" cy="4351338"/>
          </a:xfrm>
        </p:spPr>
        <p:txBody>
          <a:bodyPr/>
          <a:lstStyle/>
          <a:p>
            <a:pPr fontAlgn="base"/>
            <a:r>
              <a:rPr lang="en-US" altLang="zh-CN" b="1" dirty="0" err="1"/>
              <a:t>T</a:t>
            </a:r>
            <a:r>
              <a:rPr lang="en-US" b="1" dirty="0" err="1"/>
              <a:t>akeOrdered</a:t>
            </a:r>
            <a:r>
              <a:rPr lang="en-US" altLang="zh-CN" b="1" dirty="0"/>
              <a:t>:</a:t>
            </a:r>
            <a:r>
              <a:rPr lang="zh-CN" altLang="en-US" b="1" dirty="0"/>
              <a:t> </a:t>
            </a:r>
            <a:r>
              <a:rPr lang="en-US" dirty="0"/>
              <a:t>The </a:t>
            </a:r>
            <a:r>
              <a:rPr lang="en-US" dirty="0" err="1"/>
              <a:t>takeOrdered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, </a:t>
            </a:r>
            <a:r>
              <a:rPr lang="en-US" i="1" dirty="0"/>
              <a:t>key=</a:t>
            </a:r>
            <a:r>
              <a:rPr lang="en-US" i="1" dirty="0" err="1"/>
              <a:t>func</a:t>
            </a:r>
            <a:r>
              <a:rPr lang="en-US" dirty="0"/>
              <a:t>) method returns the first </a:t>
            </a:r>
            <a:r>
              <a:rPr lang="en-US" i="1" dirty="0"/>
              <a:t>n</a:t>
            </a:r>
            <a:r>
              <a:rPr lang="en-US" dirty="0"/>
              <a:t> elements of the RDD, in their natural order, or as specified by the function </a:t>
            </a:r>
            <a:r>
              <a:rPr lang="en-US" i="1" dirty="0" err="1"/>
              <a:t>func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E6315C-DEAD-3141-964B-DA5890BB8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787746"/>
            <a:ext cx="4114800" cy="1397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9E1A22-F4E5-2F4A-96AD-3790CEA21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5823395"/>
            <a:ext cx="3759200" cy="469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3744D1A-07B5-AC4C-80E0-D295F3D686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100" y="4285742"/>
            <a:ext cx="4965700" cy="13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0690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RDD Operators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49680" y="2079697"/>
            <a:ext cx="4846320" cy="4221163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680"/>
              </a:spcBef>
            </a:pPr>
            <a:r>
              <a:rPr lang="en-US" sz="2640" dirty="0">
                <a:latin typeface="Lucida Console"/>
                <a:cs typeface="Lucida Console"/>
              </a:rPr>
              <a:t>map</a:t>
            </a:r>
          </a:p>
          <a:p>
            <a:pPr>
              <a:spcBef>
                <a:spcPts val="1680"/>
              </a:spcBef>
            </a:pPr>
            <a:r>
              <a:rPr lang="en-US" sz="2640" dirty="0">
                <a:latin typeface="Lucida Console"/>
                <a:cs typeface="Lucida Console"/>
              </a:rPr>
              <a:t>filter</a:t>
            </a:r>
          </a:p>
          <a:p>
            <a:pPr>
              <a:spcBef>
                <a:spcPts val="1680"/>
              </a:spcBef>
            </a:pPr>
            <a:r>
              <a:rPr lang="en-US" sz="2640" dirty="0" err="1">
                <a:latin typeface="Lucida Console"/>
                <a:cs typeface="Lucida Console"/>
              </a:rPr>
              <a:t>groupBy</a:t>
            </a:r>
            <a:endParaRPr lang="en-US" sz="2640" dirty="0">
              <a:latin typeface="Lucida Console"/>
              <a:cs typeface="Lucida Console"/>
            </a:endParaRPr>
          </a:p>
          <a:p>
            <a:pPr>
              <a:spcBef>
                <a:spcPts val="1680"/>
              </a:spcBef>
            </a:pPr>
            <a:r>
              <a:rPr lang="en-US" sz="2640" dirty="0">
                <a:latin typeface="Lucida Console"/>
                <a:cs typeface="Lucida Console"/>
              </a:rPr>
              <a:t>sort</a:t>
            </a:r>
          </a:p>
          <a:p>
            <a:pPr>
              <a:spcBef>
                <a:spcPts val="1680"/>
              </a:spcBef>
            </a:pPr>
            <a:r>
              <a:rPr lang="en-US" sz="2640" dirty="0">
                <a:latin typeface="Lucida Console"/>
                <a:cs typeface="Lucida Console"/>
              </a:rPr>
              <a:t>union</a:t>
            </a:r>
          </a:p>
          <a:p>
            <a:pPr>
              <a:spcBef>
                <a:spcPts val="1680"/>
              </a:spcBef>
            </a:pPr>
            <a:r>
              <a:rPr lang="en-US" sz="2640" dirty="0">
                <a:latin typeface="Lucida Console"/>
                <a:cs typeface="Lucida Console"/>
              </a:rPr>
              <a:t>join</a:t>
            </a:r>
          </a:p>
          <a:p>
            <a:pPr>
              <a:spcBef>
                <a:spcPts val="1680"/>
              </a:spcBef>
            </a:pPr>
            <a:r>
              <a:rPr lang="en-US" sz="2640" dirty="0" err="1">
                <a:latin typeface="Lucida Console"/>
                <a:cs typeface="Lucida Console"/>
              </a:rPr>
              <a:t>leftOuterJoin</a:t>
            </a:r>
            <a:endParaRPr lang="en-US" sz="2640" dirty="0">
              <a:latin typeface="Lucida Console"/>
              <a:cs typeface="Lucida Console"/>
            </a:endParaRPr>
          </a:p>
          <a:p>
            <a:pPr>
              <a:spcBef>
                <a:spcPts val="1680"/>
              </a:spcBef>
            </a:pPr>
            <a:r>
              <a:rPr lang="en-US" sz="2640" dirty="0" err="1">
                <a:latin typeface="Lucida Console"/>
                <a:cs typeface="Lucida Console"/>
              </a:rPr>
              <a:t>rightOuterJoin</a:t>
            </a:r>
            <a:endParaRPr lang="en-US" sz="2640" dirty="0">
              <a:latin typeface="Lucida Console"/>
              <a:cs typeface="Lucida Console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907280" y="2079697"/>
            <a:ext cx="4846320" cy="4221163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680"/>
              </a:spcBef>
            </a:pPr>
            <a:r>
              <a:rPr lang="en-US" sz="2640" dirty="0">
                <a:latin typeface="Lucida Console"/>
                <a:cs typeface="Lucida Console"/>
              </a:rPr>
              <a:t>reduce</a:t>
            </a:r>
          </a:p>
          <a:p>
            <a:pPr>
              <a:spcBef>
                <a:spcPts val="1680"/>
              </a:spcBef>
            </a:pPr>
            <a:r>
              <a:rPr lang="en-US" sz="2640" dirty="0">
                <a:latin typeface="Lucida Console"/>
                <a:cs typeface="Lucida Console"/>
              </a:rPr>
              <a:t>count</a:t>
            </a:r>
          </a:p>
          <a:p>
            <a:pPr>
              <a:spcBef>
                <a:spcPts val="1680"/>
              </a:spcBef>
            </a:pPr>
            <a:r>
              <a:rPr lang="en-US" sz="2640" dirty="0">
                <a:latin typeface="Lucida Console"/>
                <a:cs typeface="Lucida Console"/>
              </a:rPr>
              <a:t>fold</a:t>
            </a:r>
          </a:p>
          <a:p>
            <a:pPr>
              <a:spcBef>
                <a:spcPts val="1680"/>
              </a:spcBef>
            </a:pPr>
            <a:r>
              <a:rPr lang="en-US" sz="2640" dirty="0" err="1">
                <a:latin typeface="Lucida Console"/>
                <a:cs typeface="Lucida Console"/>
              </a:rPr>
              <a:t>reduceByKey</a:t>
            </a:r>
            <a:endParaRPr lang="en-US" sz="2640" dirty="0">
              <a:latin typeface="Lucida Console"/>
              <a:cs typeface="Lucida Console"/>
            </a:endParaRPr>
          </a:p>
          <a:p>
            <a:pPr>
              <a:spcBef>
                <a:spcPts val="1680"/>
              </a:spcBef>
            </a:pPr>
            <a:r>
              <a:rPr lang="en-US" sz="2640" dirty="0" err="1">
                <a:latin typeface="Lucida Console"/>
                <a:cs typeface="Lucida Console"/>
              </a:rPr>
              <a:t>groupByKey</a:t>
            </a:r>
            <a:endParaRPr lang="en-US" sz="2640" dirty="0">
              <a:latin typeface="Lucida Console"/>
              <a:cs typeface="Lucida Console"/>
            </a:endParaRPr>
          </a:p>
          <a:p>
            <a:pPr>
              <a:spcBef>
                <a:spcPts val="1680"/>
              </a:spcBef>
            </a:pPr>
            <a:r>
              <a:rPr lang="en-US" sz="2640" dirty="0" err="1">
                <a:latin typeface="Lucida Console"/>
                <a:cs typeface="Lucida Console"/>
              </a:rPr>
              <a:t>cogroup</a:t>
            </a:r>
            <a:endParaRPr lang="en-US" sz="2640" dirty="0">
              <a:latin typeface="Lucida Console"/>
              <a:cs typeface="Lucida Console"/>
            </a:endParaRPr>
          </a:p>
          <a:p>
            <a:pPr>
              <a:spcBef>
                <a:spcPts val="1680"/>
              </a:spcBef>
            </a:pPr>
            <a:r>
              <a:rPr lang="en-US" sz="2640" dirty="0">
                <a:latin typeface="Lucida Console"/>
                <a:cs typeface="Lucida Console"/>
              </a:rPr>
              <a:t>cross</a:t>
            </a:r>
          </a:p>
          <a:p>
            <a:pPr>
              <a:spcBef>
                <a:spcPts val="1680"/>
              </a:spcBef>
            </a:pPr>
            <a:r>
              <a:rPr lang="en-US" sz="2640" dirty="0">
                <a:latin typeface="Lucida Console"/>
                <a:cs typeface="Lucida Console"/>
              </a:rPr>
              <a:t>zip</a:t>
            </a:r>
          </a:p>
        </p:txBody>
      </p:sp>
      <p:sp>
        <p:nvSpPr>
          <p:cNvPr id="6" name="Content Placeholder 4"/>
          <p:cNvSpPr txBox="1">
            <a:spLocks/>
          </p:cNvSpPr>
          <p:nvPr/>
        </p:nvSpPr>
        <p:spPr bwMode="auto">
          <a:xfrm>
            <a:off x="8199120" y="2049534"/>
            <a:ext cx="3291840" cy="4221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9728" tIns="54864" rIns="109728" bIns="54864" numCol="1" anchor="t" anchorCtr="0" compatLnSpc="1">
            <a:prstTxWarp prst="textNoShape">
              <a:avLst/>
            </a:prstTxWarp>
          </a:bodyPr>
          <a:lstStyle>
            <a:lvl1pPr marL="0" indent="0" algn="l" defTabSz="457200" rtl="0" eaLnBrk="0" fontAlgn="base" hangingPunct="0">
              <a:spcBef>
                <a:spcPts val="2000"/>
              </a:spcBef>
              <a:spcAft>
                <a:spcPct val="0"/>
              </a:spcAft>
              <a:buNone/>
              <a:defRPr sz="28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457200" indent="-228600" algn="l" defTabSz="457200" rtl="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Lucida Grande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2pPr>
            <a:lvl3pPr marL="77724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680"/>
              </a:spcBef>
            </a:pPr>
            <a:r>
              <a:rPr lang="en-US" sz="2640" dirty="0">
                <a:latin typeface="Lucida Console"/>
                <a:cs typeface="Lucida Console"/>
              </a:rPr>
              <a:t>sample</a:t>
            </a:r>
          </a:p>
          <a:p>
            <a:pPr>
              <a:spcBef>
                <a:spcPts val="1680"/>
              </a:spcBef>
            </a:pPr>
            <a:r>
              <a:rPr lang="en-US" sz="2640" dirty="0">
                <a:latin typeface="Lucida Console"/>
                <a:cs typeface="Lucida Console"/>
              </a:rPr>
              <a:t>take</a:t>
            </a:r>
          </a:p>
          <a:p>
            <a:pPr>
              <a:spcBef>
                <a:spcPts val="1680"/>
              </a:spcBef>
            </a:pPr>
            <a:r>
              <a:rPr lang="en-US" sz="2640" dirty="0">
                <a:latin typeface="Lucida Console"/>
                <a:cs typeface="Lucida Console"/>
              </a:rPr>
              <a:t>first</a:t>
            </a:r>
          </a:p>
          <a:p>
            <a:pPr>
              <a:spcBef>
                <a:spcPts val="1680"/>
              </a:spcBef>
            </a:pPr>
            <a:r>
              <a:rPr lang="en-US" sz="2640" dirty="0" err="1">
                <a:latin typeface="Lucida Console"/>
                <a:cs typeface="Lucida Console"/>
              </a:rPr>
              <a:t>partitionBy</a:t>
            </a:r>
            <a:endParaRPr lang="en-US" sz="2640" dirty="0">
              <a:latin typeface="Lucida Console"/>
              <a:cs typeface="Lucida Console"/>
            </a:endParaRPr>
          </a:p>
          <a:p>
            <a:pPr>
              <a:spcBef>
                <a:spcPts val="1680"/>
              </a:spcBef>
            </a:pPr>
            <a:r>
              <a:rPr lang="en-US" sz="2640" dirty="0" err="1">
                <a:latin typeface="Lucida Console"/>
                <a:cs typeface="Lucida Console"/>
              </a:rPr>
              <a:t>mapWith</a:t>
            </a:r>
            <a:endParaRPr lang="en-US" sz="2640" dirty="0">
              <a:latin typeface="Lucida Console"/>
              <a:cs typeface="Lucida Console"/>
            </a:endParaRPr>
          </a:p>
          <a:p>
            <a:pPr>
              <a:spcBef>
                <a:spcPts val="1680"/>
              </a:spcBef>
            </a:pPr>
            <a:r>
              <a:rPr lang="en-US" sz="2640" dirty="0">
                <a:latin typeface="Lucida Console"/>
                <a:cs typeface="Lucida Console"/>
              </a:rPr>
              <a:t>pipe</a:t>
            </a:r>
          </a:p>
          <a:p>
            <a:pPr>
              <a:spcBef>
                <a:spcPts val="1680"/>
              </a:spcBef>
            </a:pPr>
            <a:r>
              <a:rPr lang="en-US" sz="2640" dirty="0">
                <a:latin typeface="Lucida Console"/>
                <a:cs typeface="Lucida Console"/>
              </a:rPr>
              <a:t>save    </a:t>
            </a:r>
            <a:r>
              <a:rPr lang="en-US" sz="2640" b="1" dirty="0">
                <a:latin typeface="Lucida Console"/>
                <a:cs typeface="Lucida Console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437232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329" y="304800"/>
            <a:ext cx="10314431" cy="1143000"/>
          </a:xfrm>
        </p:spPr>
        <p:txBody>
          <a:bodyPr>
            <a:normAutofit/>
          </a:bodyPr>
          <a:lstStyle/>
          <a:p>
            <a:r>
              <a:rPr lang="en-US" sz="5760" dirty="0"/>
              <a:t>Working with Key-Value Pairs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329" y="1335929"/>
            <a:ext cx="10533888" cy="956839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1680"/>
              </a:spcBef>
              <a:buNone/>
            </a:pPr>
            <a:r>
              <a:rPr lang="en-US" sz="2880" dirty="0"/>
              <a:t>Spark’s “distributed reduce” transformations operate on RDDs of key-value pairs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9329" y="2478929"/>
            <a:ext cx="10314431" cy="4295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680"/>
              </a:spcBef>
            </a:pPr>
            <a:r>
              <a:rPr lang="en-US" sz="3360" dirty="0">
                <a:solidFill>
                  <a:srgbClr val="FF6600"/>
                </a:solidFill>
              </a:rPr>
              <a:t>Python</a:t>
            </a:r>
            <a:r>
              <a:rPr lang="en-US" sz="2400" dirty="0">
                <a:solidFill>
                  <a:srgbClr val="FF6600"/>
                </a:solidFill>
              </a:rPr>
              <a:t>:</a:t>
            </a:r>
            <a:r>
              <a:rPr lang="en-US" sz="2400" dirty="0"/>
              <a:t> 	</a:t>
            </a:r>
            <a:r>
              <a:rPr lang="en-US" sz="2400" dirty="0">
                <a:latin typeface="Consolas"/>
                <a:cs typeface="Consolas"/>
              </a:rPr>
              <a:t>pair = (a, b)</a:t>
            </a:r>
            <a:br>
              <a:rPr lang="en-US" sz="2400" dirty="0">
                <a:latin typeface="Consolas"/>
                <a:cs typeface="Consolas"/>
              </a:rPr>
            </a:br>
            <a:r>
              <a:rPr lang="en-US" sz="2400" dirty="0">
                <a:latin typeface="Consolas"/>
                <a:cs typeface="Consolas"/>
              </a:rPr>
              <a:t>            		pair[0] </a:t>
            </a:r>
            <a:r>
              <a:rPr lang="en-US" sz="2400" dirty="0">
                <a:solidFill>
                  <a:srgbClr val="008000"/>
                </a:solidFill>
                <a:latin typeface="Consolas"/>
                <a:cs typeface="Consolas"/>
              </a:rPr>
              <a:t># =&gt; a </a:t>
            </a:r>
            <a:br>
              <a:rPr lang="en-US" sz="2400" dirty="0">
                <a:solidFill>
                  <a:srgbClr val="008000"/>
                </a:solidFill>
                <a:latin typeface="Consolas"/>
                <a:cs typeface="Consolas"/>
              </a:rPr>
            </a:br>
            <a:r>
              <a:rPr lang="en-US" sz="2400" dirty="0">
                <a:solidFill>
                  <a:srgbClr val="008000"/>
                </a:solidFill>
                <a:latin typeface="Consolas"/>
                <a:cs typeface="Consolas"/>
              </a:rPr>
              <a:t>					</a:t>
            </a:r>
            <a:r>
              <a:rPr lang="en-US" sz="2400" dirty="0">
                <a:latin typeface="Consolas"/>
                <a:cs typeface="Consolas"/>
              </a:rPr>
              <a:t>pair[1] </a:t>
            </a:r>
            <a:r>
              <a:rPr lang="en-US" sz="2400" dirty="0">
                <a:solidFill>
                  <a:srgbClr val="008000"/>
                </a:solidFill>
                <a:latin typeface="Consolas"/>
                <a:cs typeface="Consolas"/>
              </a:rPr>
              <a:t># =&gt; b</a:t>
            </a:r>
          </a:p>
          <a:p>
            <a:pPr>
              <a:spcBef>
                <a:spcPts val="1680"/>
              </a:spcBef>
            </a:pPr>
            <a:r>
              <a:rPr lang="en-US" sz="3360" dirty="0" err="1">
                <a:solidFill>
                  <a:srgbClr val="FF6600"/>
                </a:solidFill>
              </a:rPr>
              <a:t>Scala</a:t>
            </a:r>
            <a:r>
              <a:rPr lang="en-US" sz="2400" dirty="0">
                <a:solidFill>
                  <a:srgbClr val="FF6600"/>
                </a:solidFill>
              </a:rPr>
              <a:t>: </a:t>
            </a:r>
            <a:r>
              <a:rPr lang="en-US" sz="2400" dirty="0"/>
              <a:t>		</a:t>
            </a:r>
            <a:r>
              <a:rPr lang="en-US" sz="2400" b="1" dirty="0" err="1">
                <a:latin typeface="Consolas"/>
                <a:cs typeface="Consolas"/>
              </a:rPr>
              <a:t>val</a:t>
            </a:r>
            <a:r>
              <a:rPr lang="en-US" sz="2400" dirty="0">
                <a:latin typeface="Consolas"/>
                <a:cs typeface="Consolas"/>
              </a:rPr>
              <a:t> pair = (a, b)</a:t>
            </a:r>
            <a:br>
              <a:rPr lang="en-US" sz="2400" dirty="0">
                <a:latin typeface="Consolas"/>
                <a:cs typeface="Consolas"/>
              </a:rPr>
            </a:br>
            <a:r>
              <a:rPr lang="en-US" sz="2400" dirty="0">
                <a:latin typeface="Consolas"/>
                <a:cs typeface="Consolas"/>
              </a:rPr>
              <a:t>					pair._1 </a:t>
            </a:r>
            <a:r>
              <a:rPr lang="en-US" sz="2400" dirty="0">
                <a:solidFill>
                  <a:srgbClr val="008000"/>
                </a:solidFill>
                <a:latin typeface="Consolas"/>
                <a:cs typeface="Consolas"/>
              </a:rPr>
              <a:t>// =&gt; a</a:t>
            </a:r>
            <a:br>
              <a:rPr lang="en-US" sz="2400" dirty="0">
                <a:solidFill>
                  <a:srgbClr val="008000"/>
                </a:solidFill>
                <a:latin typeface="Consolas"/>
                <a:cs typeface="Consolas"/>
              </a:rPr>
            </a:br>
            <a:r>
              <a:rPr lang="en-US" sz="2400" dirty="0">
                <a:solidFill>
                  <a:srgbClr val="008000"/>
                </a:solidFill>
                <a:latin typeface="Consolas"/>
                <a:cs typeface="Consolas"/>
              </a:rPr>
              <a:t>					</a:t>
            </a:r>
            <a:r>
              <a:rPr lang="en-US" sz="2400" dirty="0">
                <a:latin typeface="Consolas"/>
                <a:cs typeface="Consolas"/>
              </a:rPr>
              <a:t>pair._2 </a:t>
            </a:r>
            <a:r>
              <a:rPr lang="en-US" sz="2400" dirty="0">
                <a:solidFill>
                  <a:srgbClr val="008000"/>
                </a:solidFill>
                <a:latin typeface="Consolas"/>
                <a:cs typeface="Consolas"/>
              </a:rPr>
              <a:t>// =&gt; b</a:t>
            </a:r>
            <a:endParaRPr lang="en-US" sz="2400" dirty="0">
              <a:solidFill>
                <a:srgbClr val="008000"/>
              </a:solidFill>
            </a:endParaRPr>
          </a:p>
          <a:p>
            <a:pPr>
              <a:spcBef>
                <a:spcPts val="1680"/>
              </a:spcBef>
            </a:pPr>
            <a:r>
              <a:rPr lang="en-US" sz="3360" dirty="0">
                <a:solidFill>
                  <a:srgbClr val="FF6600"/>
                </a:solidFill>
              </a:rPr>
              <a:t>Java</a:t>
            </a:r>
            <a:r>
              <a:rPr lang="en-US" sz="2400" dirty="0">
                <a:solidFill>
                  <a:srgbClr val="FF6600"/>
                </a:solidFill>
              </a:rPr>
              <a:t>:</a:t>
            </a:r>
            <a:r>
              <a:rPr lang="en-US" sz="2400" dirty="0"/>
              <a:t>		</a:t>
            </a:r>
            <a:r>
              <a:rPr lang="en-US" sz="2400" dirty="0">
                <a:latin typeface="Consolas"/>
                <a:cs typeface="Consolas"/>
              </a:rPr>
              <a:t>Tuple2 pair = </a:t>
            </a:r>
            <a:r>
              <a:rPr lang="en-US" sz="2400" b="1" dirty="0">
                <a:latin typeface="Consolas"/>
                <a:cs typeface="Consolas"/>
              </a:rPr>
              <a:t>new</a:t>
            </a:r>
            <a:r>
              <a:rPr lang="en-US" sz="2400" dirty="0">
                <a:latin typeface="Consolas"/>
                <a:cs typeface="Consolas"/>
              </a:rPr>
              <a:t> Tuple2(a, b); </a:t>
            </a:r>
            <a:r>
              <a:rPr lang="en-US" sz="2400" dirty="0">
                <a:solidFill>
                  <a:srgbClr val="008000"/>
                </a:solidFill>
                <a:latin typeface="Consolas"/>
                <a:cs typeface="Consolas"/>
              </a:rPr>
              <a:t/>
            </a:r>
            <a:br>
              <a:rPr lang="en-US" sz="2400" dirty="0">
                <a:solidFill>
                  <a:srgbClr val="008000"/>
                </a:solidFill>
                <a:latin typeface="Consolas"/>
                <a:cs typeface="Consolas"/>
              </a:rPr>
            </a:br>
            <a:r>
              <a:rPr lang="en-US" sz="2400" dirty="0">
                <a:solidFill>
                  <a:srgbClr val="008000"/>
                </a:solidFill>
                <a:latin typeface="Consolas"/>
                <a:cs typeface="Consolas"/>
              </a:rPr>
              <a:t>					</a:t>
            </a:r>
            <a:r>
              <a:rPr lang="en-US" sz="2400" dirty="0">
                <a:latin typeface="Consolas"/>
                <a:cs typeface="Consolas"/>
              </a:rPr>
              <a:t>pair._1 </a:t>
            </a:r>
            <a:r>
              <a:rPr lang="en-US" sz="2400" dirty="0">
                <a:solidFill>
                  <a:srgbClr val="008000"/>
                </a:solidFill>
                <a:latin typeface="Consolas"/>
                <a:cs typeface="Consolas"/>
              </a:rPr>
              <a:t>// =&gt; a</a:t>
            </a:r>
            <a:br>
              <a:rPr lang="en-US" sz="2400" dirty="0">
                <a:solidFill>
                  <a:srgbClr val="008000"/>
                </a:solidFill>
                <a:latin typeface="Consolas"/>
                <a:cs typeface="Consolas"/>
              </a:rPr>
            </a:br>
            <a:r>
              <a:rPr lang="en-US" sz="2400" dirty="0">
                <a:latin typeface="Consolas"/>
                <a:cs typeface="Consolas"/>
              </a:rPr>
              <a:t>					pair._2 </a:t>
            </a:r>
            <a:r>
              <a:rPr lang="en-US" sz="2400" dirty="0">
                <a:solidFill>
                  <a:srgbClr val="008000"/>
                </a:solidFill>
                <a:latin typeface="Consolas"/>
                <a:cs typeface="Consolas"/>
              </a:rPr>
              <a:t>// =&gt; b</a:t>
            </a:r>
            <a:endParaRPr lang="en-US" sz="2400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804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Some Key-Value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8241" y="1951039"/>
            <a:ext cx="9982770" cy="4221162"/>
          </a:xfrm>
        </p:spPr>
        <p:txBody>
          <a:bodyPr/>
          <a:lstStyle/>
          <a:p>
            <a:pPr>
              <a:buClr>
                <a:schemeClr val="bg1">
                  <a:lumMod val="75000"/>
                </a:schemeClr>
              </a:buClr>
              <a:buFont typeface="Lucida Grande"/>
              <a:buChar char="&gt;"/>
            </a:pPr>
            <a:r>
              <a:rPr lang="en-US" sz="2280" dirty="0">
                <a:latin typeface="Lucida Console"/>
                <a:cs typeface="Lucida Console"/>
              </a:rPr>
              <a:t>pets = </a:t>
            </a:r>
            <a:r>
              <a:rPr lang="en-US" sz="2280" dirty="0" err="1">
                <a:latin typeface="Lucida Console"/>
                <a:cs typeface="Lucida Console"/>
              </a:rPr>
              <a:t>sc.parallelize</a:t>
            </a:r>
            <a:r>
              <a:rPr lang="en-US" sz="2280" dirty="0">
                <a:latin typeface="Lucida Console"/>
                <a:cs typeface="Lucida Console"/>
              </a:rPr>
              <a:t>(</a:t>
            </a:r>
            <a:br>
              <a:rPr lang="en-US" sz="2280" dirty="0">
                <a:latin typeface="Lucida Console"/>
                <a:cs typeface="Lucida Console"/>
              </a:rPr>
            </a:br>
            <a:r>
              <a:rPr lang="en-US" sz="2280" dirty="0">
                <a:latin typeface="Lucida Console"/>
                <a:cs typeface="Lucida Console"/>
              </a:rPr>
              <a:t>  [(</a:t>
            </a:r>
            <a:r>
              <a:rPr lang="en-US" sz="2280" dirty="0">
                <a:solidFill>
                  <a:srgbClr val="000090"/>
                </a:solidFill>
                <a:latin typeface="Lucida Console"/>
                <a:cs typeface="Lucida Console"/>
              </a:rPr>
              <a:t>“cat”</a:t>
            </a:r>
            <a:r>
              <a:rPr lang="en-US" sz="2280" dirty="0">
                <a:latin typeface="Lucida Console"/>
                <a:cs typeface="Lucida Console"/>
              </a:rPr>
              <a:t>, 1), (</a:t>
            </a:r>
            <a:r>
              <a:rPr lang="en-US" sz="2280" dirty="0">
                <a:solidFill>
                  <a:srgbClr val="000090"/>
                </a:solidFill>
                <a:latin typeface="Lucida Console"/>
                <a:cs typeface="Lucida Console"/>
              </a:rPr>
              <a:t>“dog”</a:t>
            </a:r>
            <a:r>
              <a:rPr lang="en-US" sz="2280" dirty="0">
                <a:latin typeface="Lucida Console"/>
                <a:cs typeface="Lucida Console"/>
              </a:rPr>
              <a:t>, 1), (</a:t>
            </a:r>
            <a:r>
              <a:rPr lang="en-US" sz="2280" dirty="0">
                <a:solidFill>
                  <a:srgbClr val="000090"/>
                </a:solidFill>
                <a:latin typeface="Lucida Console"/>
                <a:cs typeface="Lucida Console"/>
              </a:rPr>
              <a:t>“cat”</a:t>
            </a:r>
            <a:r>
              <a:rPr lang="en-US" sz="2280" dirty="0">
                <a:latin typeface="Lucida Console"/>
                <a:cs typeface="Lucida Console"/>
              </a:rPr>
              <a:t>, 2)])</a:t>
            </a:r>
          </a:p>
          <a:p>
            <a:pPr>
              <a:buClr>
                <a:schemeClr val="bg1">
                  <a:lumMod val="75000"/>
                </a:schemeClr>
              </a:buClr>
              <a:buFont typeface="Lucida Grande"/>
              <a:buChar char="&gt;"/>
            </a:pPr>
            <a:r>
              <a:rPr lang="en-US" sz="2280" dirty="0" err="1">
                <a:latin typeface="Lucida Console"/>
                <a:cs typeface="Lucida Console"/>
              </a:rPr>
              <a:t>pets.</a:t>
            </a:r>
            <a:r>
              <a:rPr lang="en-US" sz="2280" dirty="0" err="1">
                <a:solidFill>
                  <a:srgbClr val="3366FF"/>
                </a:solidFill>
                <a:latin typeface="Lucida Console"/>
                <a:cs typeface="Lucida Console"/>
              </a:rPr>
              <a:t>reduceByKey</a:t>
            </a:r>
            <a:r>
              <a:rPr lang="en-US" sz="2280" dirty="0">
                <a:latin typeface="Lucida Console"/>
                <a:cs typeface="Lucida Console"/>
              </a:rPr>
              <a:t>(</a:t>
            </a:r>
            <a:r>
              <a:rPr lang="en-US" sz="2280" dirty="0">
                <a:solidFill>
                  <a:srgbClr val="FF0080"/>
                </a:solidFill>
                <a:latin typeface="Lucida Console"/>
                <a:cs typeface="Lucida Console"/>
              </a:rPr>
              <a:t>lambda x, y: x + y</a:t>
            </a:r>
            <a:r>
              <a:rPr lang="en-US" sz="2280" dirty="0">
                <a:latin typeface="Lucida Console"/>
                <a:cs typeface="Lucida Console"/>
              </a:rPr>
              <a:t>)</a:t>
            </a:r>
            <a:br>
              <a:rPr lang="en-US" sz="2280" dirty="0">
                <a:latin typeface="Lucida Console"/>
                <a:cs typeface="Lucida Console"/>
              </a:rPr>
            </a:br>
            <a:r>
              <a:rPr lang="en-US" sz="2280" dirty="0">
                <a:latin typeface="Lucida Console"/>
                <a:cs typeface="Lucida Console"/>
              </a:rPr>
              <a:t>                  </a:t>
            </a:r>
            <a:r>
              <a:rPr lang="en-US" sz="2280" dirty="0">
                <a:solidFill>
                  <a:srgbClr val="008040"/>
                </a:solidFill>
                <a:latin typeface="Lucida Console"/>
                <a:cs typeface="Lucida Console"/>
              </a:rPr>
              <a:t># =&gt; {(cat, 3), (dog, 1)}</a:t>
            </a:r>
          </a:p>
          <a:p>
            <a:pPr>
              <a:buClr>
                <a:schemeClr val="bg1">
                  <a:lumMod val="75000"/>
                </a:schemeClr>
              </a:buClr>
              <a:buFont typeface="Lucida Grande"/>
              <a:buChar char="&gt;"/>
            </a:pPr>
            <a:r>
              <a:rPr lang="en-US" sz="2280" dirty="0" err="1">
                <a:latin typeface="Lucida Console"/>
                <a:cs typeface="Lucida Console"/>
              </a:rPr>
              <a:t>pets.</a:t>
            </a:r>
            <a:r>
              <a:rPr lang="en-US" sz="2280" dirty="0" err="1">
                <a:solidFill>
                  <a:srgbClr val="3366FF"/>
                </a:solidFill>
                <a:latin typeface="Lucida Console"/>
                <a:cs typeface="Lucida Console"/>
              </a:rPr>
              <a:t>groupByKey</a:t>
            </a:r>
            <a:r>
              <a:rPr lang="en-US" sz="2280" dirty="0">
                <a:latin typeface="Lucida Console"/>
                <a:cs typeface="Lucida Console"/>
              </a:rPr>
              <a:t>() </a:t>
            </a:r>
            <a:r>
              <a:rPr lang="en-US" sz="2280" dirty="0">
                <a:solidFill>
                  <a:srgbClr val="008040"/>
                </a:solidFill>
                <a:latin typeface="Lucida Console"/>
                <a:cs typeface="Lucida Console"/>
              </a:rPr>
              <a:t># =&gt; {(cat, [1, 2]), (dog, [1])}</a:t>
            </a:r>
          </a:p>
          <a:p>
            <a:pPr>
              <a:buClr>
                <a:schemeClr val="bg1">
                  <a:lumMod val="75000"/>
                </a:schemeClr>
              </a:buClr>
              <a:buFont typeface="Lucida Grande"/>
              <a:buChar char="&gt;"/>
            </a:pPr>
            <a:r>
              <a:rPr lang="en-US" sz="2280" dirty="0" err="1">
                <a:latin typeface="Lucida Console"/>
                <a:cs typeface="Lucida Console"/>
              </a:rPr>
              <a:t>pets.</a:t>
            </a:r>
            <a:r>
              <a:rPr lang="en-US" sz="2280" dirty="0" err="1">
                <a:solidFill>
                  <a:srgbClr val="3366FF"/>
                </a:solidFill>
                <a:latin typeface="Lucida Console"/>
                <a:cs typeface="Lucida Console"/>
              </a:rPr>
              <a:t>sortByKey</a:t>
            </a:r>
            <a:r>
              <a:rPr lang="en-US" sz="2280" dirty="0">
                <a:latin typeface="Lucida Console"/>
                <a:cs typeface="Lucida Console"/>
              </a:rPr>
              <a:t>()  </a:t>
            </a:r>
            <a:r>
              <a:rPr lang="en-US" sz="2280" dirty="0">
                <a:solidFill>
                  <a:srgbClr val="008040"/>
                </a:solidFill>
                <a:latin typeface="Lucida Console"/>
                <a:cs typeface="Lucida Console"/>
              </a:rPr>
              <a:t># =&gt; {(cat, 1), (cat, 2), (dog, 1)}</a:t>
            </a:r>
          </a:p>
          <a:p>
            <a:endParaRPr lang="en-US" sz="2040" dirty="0">
              <a:solidFill>
                <a:srgbClr val="008040"/>
              </a:solidFill>
              <a:latin typeface="Lucida Console"/>
              <a:cs typeface="Lucida Console"/>
            </a:endParaRPr>
          </a:p>
          <a:p>
            <a:pPr marL="0" indent="0">
              <a:buNone/>
            </a:pPr>
            <a:r>
              <a:rPr lang="en-US" sz="2760" dirty="0" err="1">
                <a:latin typeface="Lucida Console"/>
                <a:cs typeface="Lucida Console"/>
              </a:rPr>
              <a:t>reduceByKey</a:t>
            </a:r>
            <a:r>
              <a:rPr lang="en-US" sz="3600" dirty="0">
                <a:cs typeface="Lucida Console"/>
              </a:rPr>
              <a:t> also automatically implements combiners on the map side</a:t>
            </a:r>
          </a:p>
        </p:txBody>
      </p:sp>
    </p:spTree>
    <p:extLst>
      <p:ext uri="{BB962C8B-B14F-4D97-AF65-F5344CB8AC3E}">
        <p14:creationId xmlns:p14="http://schemas.microsoft.com/office/powerpoint/2010/main" val="3109983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34C29-9FE0-6042-87FB-2D2C05BEA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Examples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D4303-16B2-144C-8614-F86F5095E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Word</a:t>
            </a:r>
            <a:r>
              <a:rPr lang="zh-CN" altLang="en-US" dirty="0"/>
              <a:t> </a:t>
            </a:r>
            <a:r>
              <a:rPr lang="en-US" altLang="zh-CN" dirty="0"/>
              <a:t>Count</a:t>
            </a:r>
            <a:r>
              <a:rPr lang="zh-CN" altLang="en-US" dirty="0"/>
              <a:t> </a:t>
            </a:r>
            <a:r>
              <a:rPr lang="en-US" altLang="zh-CN" dirty="0"/>
              <a:t>Example</a:t>
            </a:r>
          </a:p>
          <a:p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altLang="zh-CN" dirty="0"/>
              <a:t>Search</a:t>
            </a:r>
            <a:r>
              <a:rPr lang="zh-CN" altLang="en-US" dirty="0"/>
              <a:t> </a:t>
            </a:r>
            <a:r>
              <a:rPr lang="en-US" altLang="zh-CN" dirty="0"/>
              <a:t>Example</a:t>
            </a:r>
          </a:p>
          <a:p>
            <a:r>
              <a:rPr lang="en-US" altLang="zh-CN" dirty="0"/>
              <a:t>Max</a:t>
            </a:r>
            <a:r>
              <a:rPr lang="zh-CN" altLang="en-US" dirty="0"/>
              <a:t> </a:t>
            </a:r>
            <a:r>
              <a:rPr lang="en-US" altLang="zh-CN" dirty="0"/>
              <a:t>Temperature</a:t>
            </a:r>
            <a:r>
              <a:rPr lang="zh-CN" altLang="en-US" dirty="0"/>
              <a:t> </a:t>
            </a:r>
            <a:r>
              <a:rPr lang="en-US" altLang="zh-CN" dirty="0"/>
              <a:t>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4467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8240" y="1981200"/>
            <a:ext cx="10314432" cy="2590800"/>
          </a:xfrm>
        </p:spPr>
        <p:txBody>
          <a:bodyPr>
            <a:normAutofit/>
          </a:bodyPr>
          <a:lstStyle/>
          <a:p>
            <a:pPr>
              <a:buClr>
                <a:schemeClr val="bg1">
                  <a:lumMod val="75000"/>
                </a:schemeClr>
              </a:buClr>
              <a:buFont typeface="Lucida Grande"/>
              <a:buChar char="&gt;"/>
            </a:pPr>
            <a:r>
              <a:rPr lang="en-US" sz="2160" dirty="0">
                <a:latin typeface="Lucida Console"/>
                <a:cs typeface="Lucida Console"/>
              </a:rPr>
              <a:t>lines = </a:t>
            </a:r>
            <a:r>
              <a:rPr lang="en-US" sz="2160" dirty="0" err="1">
                <a:latin typeface="Lucida Console"/>
                <a:cs typeface="Lucida Console"/>
              </a:rPr>
              <a:t>sc.textFile</a:t>
            </a:r>
            <a:r>
              <a:rPr lang="en-US" sz="2160" dirty="0">
                <a:latin typeface="Lucida Console"/>
                <a:cs typeface="Lucida Console"/>
              </a:rPr>
              <a:t>(</a:t>
            </a:r>
            <a:r>
              <a:rPr lang="en-US" sz="2160" dirty="0">
                <a:solidFill>
                  <a:srgbClr val="000090"/>
                </a:solidFill>
                <a:latin typeface="Lucida Console"/>
                <a:cs typeface="Lucida Console"/>
              </a:rPr>
              <a:t>“</a:t>
            </a:r>
            <a:r>
              <a:rPr lang="en-US" altLang="zh-CN" sz="2160" dirty="0" err="1">
                <a:solidFill>
                  <a:srgbClr val="000090"/>
                </a:solidFill>
                <a:latin typeface="Lucida Console"/>
                <a:cs typeface="Lucida Console"/>
              </a:rPr>
              <a:t>data</a:t>
            </a:r>
            <a:r>
              <a:rPr lang="en-US" sz="2160" dirty="0" err="1">
                <a:solidFill>
                  <a:srgbClr val="000090"/>
                </a:solidFill>
                <a:latin typeface="Lucida Console"/>
                <a:cs typeface="Lucida Console"/>
              </a:rPr>
              <a:t>.txt</a:t>
            </a:r>
            <a:r>
              <a:rPr lang="en-US" sz="2160" dirty="0">
                <a:solidFill>
                  <a:srgbClr val="000090"/>
                </a:solidFill>
                <a:latin typeface="Lucida Console"/>
                <a:cs typeface="Lucida Console"/>
              </a:rPr>
              <a:t>”</a:t>
            </a:r>
            <a:r>
              <a:rPr lang="en-US" sz="2160" dirty="0">
                <a:latin typeface="Lucida Console"/>
                <a:cs typeface="Lucida Console"/>
              </a:rPr>
              <a:t>)</a:t>
            </a:r>
          </a:p>
          <a:p>
            <a:pPr>
              <a:buClr>
                <a:schemeClr val="bg1">
                  <a:lumMod val="75000"/>
                </a:schemeClr>
              </a:buClr>
              <a:buFont typeface="Lucida Grande"/>
              <a:buChar char="&gt;"/>
            </a:pPr>
            <a:r>
              <a:rPr lang="en-US" sz="2160" dirty="0">
                <a:latin typeface="Lucida Console"/>
                <a:cs typeface="Lucida Console"/>
              </a:rPr>
              <a:t>counts = </a:t>
            </a:r>
            <a:r>
              <a:rPr lang="en-US" sz="2160" dirty="0" err="1">
                <a:latin typeface="Lucida Console"/>
                <a:cs typeface="Lucida Console"/>
              </a:rPr>
              <a:t>lines.</a:t>
            </a:r>
            <a:r>
              <a:rPr lang="en-US" sz="2160" dirty="0" err="1">
                <a:solidFill>
                  <a:srgbClr val="3366FF"/>
                </a:solidFill>
                <a:latin typeface="Lucida Console"/>
                <a:cs typeface="Lucida Console"/>
              </a:rPr>
              <a:t>flatMap</a:t>
            </a:r>
            <a:r>
              <a:rPr lang="en-US" sz="2160" dirty="0">
                <a:latin typeface="Lucida Console"/>
                <a:cs typeface="Lucida Console"/>
              </a:rPr>
              <a:t>(</a:t>
            </a:r>
            <a:r>
              <a:rPr lang="en-US" sz="2160" dirty="0">
                <a:solidFill>
                  <a:srgbClr val="FF0080"/>
                </a:solidFill>
                <a:latin typeface="Lucida Console"/>
                <a:cs typeface="Lucida Console"/>
              </a:rPr>
              <a:t>lambda line: </a:t>
            </a:r>
            <a:r>
              <a:rPr lang="en-US" sz="2160" dirty="0" err="1">
                <a:solidFill>
                  <a:srgbClr val="FF0080"/>
                </a:solidFill>
                <a:latin typeface="Lucida Console"/>
                <a:cs typeface="Lucida Console"/>
              </a:rPr>
              <a:t>line.split</a:t>
            </a:r>
            <a:r>
              <a:rPr lang="en-US" sz="2160" dirty="0">
                <a:solidFill>
                  <a:srgbClr val="FF0080"/>
                </a:solidFill>
                <a:latin typeface="Lucida Console"/>
                <a:cs typeface="Lucida Console"/>
              </a:rPr>
              <a:t>(</a:t>
            </a:r>
            <a:r>
              <a:rPr lang="zh-CN" altLang="en-US" sz="2160" dirty="0">
                <a:solidFill>
                  <a:srgbClr val="FF0080"/>
                </a:solidFill>
                <a:latin typeface="Lucida Console"/>
                <a:cs typeface="Lucida Console"/>
              </a:rPr>
              <a:t> </a:t>
            </a:r>
            <a:r>
              <a:rPr lang="en-US" sz="2160" dirty="0">
                <a:solidFill>
                  <a:srgbClr val="FF0080"/>
                </a:solidFill>
                <a:latin typeface="Lucida Console"/>
                <a:cs typeface="Lucida Console"/>
              </a:rPr>
              <a:t>)</a:t>
            </a:r>
            <a:r>
              <a:rPr lang="en-US" sz="2160" dirty="0">
                <a:latin typeface="Lucida Console"/>
                <a:cs typeface="Lucida Console"/>
              </a:rPr>
              <a:t>)</a:t>
            </a:r>
            <a:br>
              <a:rPr lang="en-US" sz="2160" dirty="0">
                <a:latin typeface="Lucida Console"/>
                <a:cs typeface="Lucida Console"/>
              </a:rPr>
            </a:br>
            <a:r>
              <a:rPr lang="en-US" sz="2160" dirty="0">
                <a:latin typeface="Lucida Console"/>
                <a:cs typeface="Lucida Console"/>
              </a:rPr>
              <a:t>              .</a:t>
            </a:r>
            <a:r>
              <a:rPr lang="en-US" sz="2160" dirty="0">
                <a:solidFill>
                  <a:srgbClr val="3366FF"/>
                </a:solidFill>
                <a:latin typeface="Lucida Console"/>
                <a:cs typeface="Lucida Console"/>
              </a:rPr>
              <a:t>map</a:t>
            </a:r>
            <a:r>
              <a:rPr lang="en-US" sz="2160" dirty="0">
                <a:latin typeface="Lucida Console"/>
                <a:cs typeface="Lucida Console"/>
              </a:rPr>
              <a:t>(</a:t>
            </a:r>
            <a:r>
              <a:rPr lang="en-US" sz="2160" dirty="0">
                <a:solidFill>
                  <a:srgbClr val="FF0080"/>
                </a:solidFill>
                <a:latin typeface="Lucida Console"/>
                <a:cs typeface="Lucida Console"/>
              </a:rPr>
              <a:t>lambda word =&gt; (word, 1)</a:t>
            </a:r>
            <a:r>
              <a:rPr lang="en-US" sz="2160" dirty="0">
                <a:latin typeface="Lucida Console"/>
                <a:cs typeface="Lucida Console"/>
              </a:rPr>
              <a:t>)</a:t>
            </a:r>
            <a:br>
              <a:rPr lang="en-US" sz="2160" dirty="0">
                <a:latin typeface="Lucida Console"/>
                <a:cs typeface="Lucida Console"/>
              </a:rPr>
            </a:br>
            <a:r>
              <a:rPr lang="en-US" sz="2160" dirty="0">
                <a:latin typeface="Lucida Console"/>
                <a:cs typeface="Lucida Console"/>
              </a:rPr>
              <a:t>              .</a:t>
            </a:r>
            <a:r>
              <a:rPr lang="en-US" sz="2160" dirty="0" err="1">
                <a:solidFill>
                  <a:srgbClr val="3366FF"/>
                </a:solidFill>
                <a:latin typeface="Lucida Console"/>
                <a:cs typeface="Lucida Console"/>
              </a:rPr>
              <a:t>reduceByKey</a:t>
            </a:r>
            <a:r>
              <a:rPr lang="en-US" sz="2160" dirty="0">
                <a:latin typeface="Lucida Console"/>
                <a:cs typeface="Lucida Console"/>
              </a:rPr>
              <a:t>(</a:t>
            </a:r>
            <a:r>
              <a:rPr lang="en-US" sz="2160" dirty="0">
                <a:solidFill>
                  <a:srgbClr val="FF0080"/>
                </a:solidFill>
                <a:latin typeface="Lucida Console"/>
                <a:cs typeface="Lucida Console"/>
              </a:rPr>
              <a:t>lambda x, y: x + y</a:t>
            </a:r>
            <a:r>
              <a:rPr lang="en-US" sz="2160" dirty="0">
                <a:latin typeface="Lucida Console"/>
                <a:cs typeface="Lucida Console"/>
              </a:rPr>
              <a:t>)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1158240" y="545140"/>
            <a:ext cx="9875520" cy="1143000"/>
          </a:xfrm>
        </p:spPr>
        <p:txBody>
          <a:bodyPr/>
          <a:lstStyle/>
          <a:p>
            <a:r>
              <a:rPr lang="en-US" sz="6600" dirty="0"/>
              <a:t>Example: Word Count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1563041" y="3943921"/>
            <a:ext cx="7934850" cy="2381394"/>
            <a:chOff x="1364823" y="4724400"/>
            <a:chExt cx="5899276" cy="2254109"/>
          </a:xfrm>
        </p:grpSpPr>
        <p:sp>
          <p:nvSpPr>
            <p:cNvPr id="5" name="TextBox 4"/>
            <p:cNvSpPr txBox="1"/>
            <p:nvPr/>
          </p:nvSpPr>
          <p:spPr>
            <a:xfrm>
              <a:off x="1364823" y="5080000"/>
              <a:ext cx="1056580" cy="4369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orbel"/>
                  <a:cs typeface="Corbel"/>
                </a:rPr>
                <a:t>“to be or”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364823" y="6146741"/>
              <a:ext cx="1169369" cy="4369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orbel"/>
                  <a:cs typeface="Corbel"/>
                </a:rPr>
                <a:t>“not to be”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56599" y="4724400"/>
              <a:ext cx="555606" cy="11361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orbel"/>
                  <a:cs typeface="Corbel"/>
                </a:rPr>
                <a:t>“to”</a:t>
              </a:r>
              <a:br>
                <a:rPr lang="en-US" sz="2400" dirty="0">
                  <a:latin typeface="Corbel"/>
                  <a:cs typeface="Corbel"/>
                </a:rPr>
              </a:br>
              <a:r>
                <a:rPr lang="en-US" sz="2400" dirty="0">
                  <a:latin typeface="Corbel"/>
                  <a:cs typeface="Corbel"/>
                </a:rPr>
                <a:t>“be”</a:t>
              </a:r>
              <a:br>
                <a:rPr lang="en-US" sz="2400" dirty="0">
                  <a:latin typeface="Corbel"/>
                  <a:cs typeface="Corbel"/>
                </a:rPr>
              </a:br>
              <a:r>
                <a:rPr lang="en-US" sz="2400" dirty="0">
                  <a:latin typeface="Corbel"/>
                  <a:cs typeface="Corbel"/>
                </a:rPr>
                <a:t>“or”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56599" y="5842337"/>
              <a:ext cx="640222" cy="11361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orbel"/>
                  <a:cs typeface="Corbel"/>
                </a:rPr>
                <a:t>“not”</a:t>
              </a:r>
              <a:br>
                <a:rPr lang="en-US" sz="2400" dirty="0">
                  <a:latin typeface="Corbel"/>
                  <a:cs typeface="Corbel"/>
                </a:rPr>
              </a:br>
              <a:r>
                <a:rPr lang="en-US" sz="2400" dirty="0">
                  <a:latin typeface="Corbel"/>
                  <a:cs typeface="Corbel"/>
                </a:rPr>
                <a:t>“to”</a:t>
              </a:r>
              <a:br>
                <a:rPr lang="en-US" sz="2400" dirty="0">
                  <a:latin typeface="Corbel"/>
                  <a:cs typeface="Corbel"/>
                </a:rPr>
              </a:br>
              <a:r>
                <a:rPr lang="en-US" sz="2400" dirty="0">
                  <a:latin typeface="Corbel"/>
                  <a:cs typeface="Corbel"/>
                </a:rPr>
                <a:t>“be”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761126" y="4724400"/>
              <a:ext cx="721262" cy="11361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orbel"/>
                  <a:cs typeface="Corbel"/>
                </a:rPr>
                <a:t>(to, 1)</a:t>
              </a:r>
              <a:br>
                <a:rPr lang="en-US" sz="2400" dirty="0">
                  <a:latin typeface="Corbel"/>
                  <a:cs typeface="Corbel"/>
                </a:rPr>
              </a:br>
              <a:r>
                <a:rPr lang="en-US" sz="2400" dirty="0">
                  <a:latin typeface="Corbel"/>
                  <a:cs typeface="Corbel"/>
                </a:rPr>
                <a:t>(be, 1)</a:t>
              </a:r>
              <a:br>
                <a:rPr lang="en-US" sz="2400" dirty="0">
                  <a:latin typeface="Corbel"/>
                  <a:cs typeface="Corbel"/>
                </a:rPr>
              </a:br>
              <a:r>
                <a:rPr lang="en-US" sz="2400" dirty="0">
                  <a:latin typeface="Corbel"/>
                  <a:cs typeface="Corbel"/>
                </a:rPr>
                <a:t>(or, 1)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761126" y="5842337"/>
              <a:ext cx="803638" cy="11361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orbel"/>
                  <a:cs typeface="Corbel"/>
                </a:rPr>
                <a:t>(not, 1)</a:t>
              </a:r>
              <a:br>
                <a:rPr lang="en-US" sz="2400" dirty="0">
                  <a:latin typeface="Corbel"/>
                  <a:cs typeface="Corbel"/>
                </a:rPr>
              </a:br>
              <a:r>
                <a:rPr lang="en-US" sz="2400" dirty="0">
                  <a:latin typeface="Corbel"/>
                  <a:cs typeface="Corbel"/>
                </a:rPr>
                <a:t>(to, 1)</a:t>
              </a:r>
              <a:br>
                <a:rPr lang="en-US" sz="2400" dirty="0">
                  <a:latin typeface="Corbel"/>
                  <a:cs typeface="Corbel"/>
                </a:rPr>
              </a:br>
              <a:r>
                <a:rPr lang="en-US" sz="2400" dirty="0">
                  <a:latin typeface="Corbel"/>
                  <a:cs typeface="Corbel"/>
                </a:rPr>
                <a:t>(be, 1)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460461" y="4885074"/>
              <a:ext cx="803638" cy="786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orbel"/>
                  <a:cs typeface="Corbel"/>
                </a:rPr>
                <a:t>(be, 2)</a:t>
              </a:r>
              <a:br>
                <a:rPr lang="en-US" sz="2400" dirty="0">
                  <a:latin typeface="Corbel"/>
                  <a:cs typeface="Corbel"/>
                </a:rPr>
              </a:br>
              <a:r>
                <a:rPr lang="en-US" sz="2400" dirty="0">
                  <a:latin typeface="Corbel"/>
                  <a:cs typeface="Corbel"/>
                </a:rPr>
                <a:t>(not, 1)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460461" y="6001851"/>
              <a:ext cx="699810" cy="786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orbel"/>
                  <a:cs typeface="Corbel"/>
                </a:rPr>
                <a:t>(or, 1)</a:t>
              </a:r>
            </a:p>
            <a:p>
              <a:r>
                <a:rPr lang="en-US" sz="2400" dirty="0">
                  <a:latin typeface="Corbel"/>
                  <a:cs typeface="Corbel"/>
                </a:rPr>
                <a:t>(to, 2)</a:t>
              </a:r>
            </a:p>
          </p:txBody>
        </p:sp>
        <p:cxnSp>
          <p:nvCxnSpPr>
            <p:cNvPr id="23" name="Straight Connector 22"/>
            <p:cNvCxnSpPr/>
            <p:nvPr/>
          </p:nvCxnSpPr>
          <p:spPr>
            <a:xfrm>
              <a:off x="2518918" y="5287749"/>
              <a:ext cx="670540" cy="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2518918" y="6357863"/>
              <a:ext cx="670540" cy="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3973353" y="5264150"/>
              <a:ext cx="670540" cy="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973353" y="6400800"/>
              <a:ext cx="670540" cy="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5640793" y="5219821"/>
              <a:ext cx="764090" cy="1125631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5640793" y="5215684"/>
              <a:ext cx="764090" cy="101768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flipV="1">
              <a:off x="5640793" y="5311916"/>
              <a:ext cx="764090" cy="1117432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flipV="1">
              <a:off x="5640793" y="6340732"/>
              <a:ext cx="764090" cy="101027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11329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805</TotalTime>
  <Words>1517</Words>
  <Application>Microsoft Office PowerPoint</Application>
  <PresentationFormat>Widescreen</PresentationFormat>
  <Paragraphs>187</Paragraphs>
  <Slides>27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40" baseType="lpstr">
      <vt:lpstr>Helvetica Neue Light</vt:lpstr>
      <vt:lpstr>Lucida Grande</vt:lpstr>
      <vt:lpstr>ＭＳ Ｐゴシック</vt:lpstr>
      <vt:lpstr>等线</vt:lpstr>
      <vt:lpstr>等线 Light</vt:lpstr>
      <vt:lpstr>Arial</vt:lpstr>
      <vt:lpstr>Calibri</vt:lpstr>
      <vt:lpstr>Calibri Light</vt:lpstr>
      <vt:lpstr>Consolas</vt:lpstr>
      <vt:lpstr>Corbel</vt:lpstr>
      <vt:lpstr>Lucida Console</vt:lpstr>
      <vt:lpstr>Wingdings</vt:lpstr>
      <vt:lpstr>Office Theme</vt:lpstr>
      <vt:lpstr>Introduction to Apache Spark</vt:lpstr>
      <vt:lpstr>What is Spark?</vt:lpstr>
      <vt:lpstr>What is Spark?</vt:lpstr>
      <vt:lpstr>The Spark Community</vt:lpstr>
      <vt:lpstr>The Spark Community</vt:lpstr>
      <vt:lpstr>Spark Programming Model</vt:lpstr>
      <vt:lpstr>PySpark</vt:lpstr>
      <vt:lpstr>PySpark</vt:lpstr>
      <vt:lpstr>Key Concept: RDD’s</vt:lpstr>
      <vt:lpstr>Resilient Distributed Datasets</vt:lpstr>
      <vt:lpstr>Creating RDDs from Collections</vt:lpstr>
      <vt:lpstr>Creating RDDs from External Sources</vt:lpstr>
      <vt:lpstr>Creating RDDs from External Sources</vt:lpstr>
      <vt:lpstr>RDD Operations</vt:lpstr>
      <vt:lpstr>RDD Workflow</vt:lpstr>
      <vt:lpstr>Example: Calculate the number of characters in a file:</vt:lpstr>
      <vt:lpstr>Python Lambda Functions</vt:lpstr>
      <vt:lpstr>Examples of Lambda Functions:</vt:lpstr>
      <vt:lpstr>Basic Transformations</vt:lpstr>
      <vt:lpstr>Basic Transformations</vt:lpstr>
      <vt:lpstr>Basic Actions</vt:lpstr>
      <vt:lpstr>Basic Actions</vt:lpstr>
      <vt:lpstr>More RDD Operators</vt:lpstr>
      <vt:lpstr>Working with Key-Value Pairs</vt:lpstr>
      <vt:lpstr>Some Key-Value Operations</vt:lpstr>
      <vt:lpstr>More Examples</vt:lpstr>
      <vt:lpstr>Example: Word Count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Apache Spark</dc:title>
  <dc:creator>Yuanyuan Gao</dc:creator>
  <cp:lastModifiedBy>Jiming Wu</cp:lastModifiedBy>
  <cp:revision>34</cp:revision>
  <dcterms:created xsi:type="dcterms:W3CDTF">2023-03-31T16:06:21Z</dcterms:created>
  <dcterms:modified xsi:type="dcterms:W3CDTF">2024-02-15T06:51:01Z</dcterms:modified>
</cp:coreProperties>
</file>