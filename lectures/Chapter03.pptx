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388" r:id="rId2"/>
    <p:sldId id="428" r:id="rId3"/>
    <p:sldId id="390" r:id="rId4"/>
    <p:sldId id="391" r:id="rId5"/>
    <p:sldId id="392" r:id="rId6"/>
    <p:sldId id="431" r:id="rId7"/>
    <p:sldId id="393" r:id="rId8"/>
    <p:sldId id="421" r:id="rId9"/>
    <p:sldId id="401" r:id="rId10"/>
    <p:sldId id="402" r:id="rId11"/>
    <p:sldId id="422" r:id="rId12"/>
    <p:sldId id="424" r:id="rId13"/>
    <p:sldId id="425" r:id="rId14"/>
    <p:sldId id="408" r:id="rId15"/>
    <p:sldId id="423" r:id="rId16"/>
    <p:sldId id="409" r:id="rId17"/>
    <p:sldId id="410" r:id="rId18"/>
    <p:sldId id="411" r:id="rId19"/>
    <p:sldId id="412" r:id="rId20"/>
    <p:sldId id="413" r:id="rId21"/>
    <p:sldId id="414" r:id="rId22"/>
    <p:sldId id="429" r:id="rId23"/>
    <p:sldId id="415" r:id="rId24"/>
    <p:sldId id="416" r:id="rId25"/>
    <p:sldId id="417" r:id="rId26"/>
    <p:sldId id="418" r:id="rId27"/>
    <p:sldId id="419" r:id="rId28"/>
    <p:sldId id="395" r:id="rId29"/>
    <p:sldId id="396" r:id="rId30"/>
    <p:sldId id="397" r:id="rId31"/>
    <p:sldId id="398" r:id="rId32"/>
    <p:sldId id="399" r:id="rId33"/>
    <p:sldId id="426" r:id="rId34"/>
    <p:sldId id="427" r:id="rId35"/>
    <p:sldId id="430" r:id="rId36"/>
  </p:sldIdLst>
  <p:sldSz cx="9144000" cy="6858000" type="screen4x3"/>
  <p:notesSz cx="6858000" cy="9144000"/>
  <p:custShowLst>
    <p:custShow name="Custom Show 1" id="0">
      <p:sldLst/>
    </p:custShow>
  </p:custShow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0F10"/>
    <a:srgbClr val="FFB060"/>
    <a:srgbClr val="FF0000"/>
    <a:srgbClr val="A50021"/>
    <a:srgbClr val="FF6600"/>
    <a:srgbClr val="F9E9B5"/>
    <a:srgbClr val="E8CE9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1" autoAdjust="0"/>
    <p:restoredTop sz="99734" autoAdjust="0"/>
  </p:normalViewPr>
  <p:slideViewPr>
    <p:cSldViewPr>
      <p:cViewPr>
        <p:scale>
          <a:sx n="75" d="100"/>
          <a:sy n="75" d="100"/>
        </p:scale>
        <p:origin x="-620" y="3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fld id="{D0812615-5710-4348-85EC-BB3F7D419A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4527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F31D4F-E691-466A-BD2E-78E23D1C5E8B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5" descr="main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0"/>
            <a:ext cx="91440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66" name="Rectangle 42"/>
          <p:cNvSpPr>
            <a:spLocks noChangeArrowheads="1"/>
          </p:cNvSpPr>
          <p:nvPr userDrawn="1"/>
        </p:nvSpPr>
        <p:spPr bwMode="auto">
          <a:xfrm>
            <a:off x="0" y="6477000"/>
            <a:ext cx="9144000" cy="381000"/>
          </a:xfrm>
          <a:prstGeom prst="rect">
            <a:avLst/>
          </a:prstGeom>
          <a:solidFill>
            <a:srgbClr val="9F0F1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60" name="Text Box 36"/>
          <p:cNvSpPr txBox="1">
            <a:spLocks noChangeArrowheads="1"/>
          </p:cNvSpPr>
          <p:nvPr userDrawn="1"/>
        </p:nvSpPr>
        <p:spPr bwMode="auto">
          <a:xfrm>
            <a:off x="4267200" y="6521450"/>
            <a:ext cx="6953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r>
              <a:rPr lang="en-US" sz="1600" b="1" dirty="0" smtClean="0">
                <a:solidFill>
                  <a:srgbClr val="FFFFFF"/>
                </a:solidFill>
              </a:rPr>
              <a:t>.</a:t>
            </a:r>
            <a:fld id="{EC98DED3-7B70-48B6-8413-854EF57C18FA}" type="slidenum">
              <a:rPr lang="en-US" sz="1600" b="1" smtClean="0">
                <a:solidFill>
                  <a:srgbClr val="FFFFFF"/>
                </a:solidFill>
              </a:rPr>
              <a:pPr eaLnBrk="0" hangingPunct="0">
                <a:spcBef>
                  <a:spcPct val="50000"/>
                </a:spcBef>
                <a:defRPr/>
              </a:pPr>
              <a:t>‹#›</a:t>
            </a:fld>
            <a:endParaRPr lang="en-US" sz="1600" b="1" dirty="0">
              <a:solidFill>
                <a:srgbClr val="FFFFFF"/>
              </a:solidFill>
            </a:endParaRPr>
          </a:p>
        </p:txBody>
      </p:sp>
      <p:sp>
        <p:nvSpPr>
          <p:cNvPr id="1063" name="Text Box 39"/>
          <p:cNvSpPr txBox="1">
            <a:spLocks noChangeArrowheads="1"/>
          </p:cNvSpPr>
          <p:nvPr userDrawn="1"/>
        </p:nvSpPr>
        <p:spPr bwMode="auto">
          <a:xfrm>
            <a:off x="1752600" y="990600"/>
            <a:ext cx="6019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en-US"/>
          </a:p>
        </p:txBody>
      </p:sp>
      <p:sp>
        <p:nvSpPr>
          <p:cNvPr id="6" name="Rectangle 6"/>
          <p:cNvSpPr>
            <a:spLocks noChangeArrowheads="1"/>
          </p:cNvSpPr>
          <p:nvPr userDrawn="1"/>
        </p:nvSpPr>
        <p:spPr bwMode="auto">
          <a:xfrm>
            <a:off x="1752600" y="200025"/>
            <a:ext cx="7315200" cy="6381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pPr algn="ctr" eaLnBrk="0" hangingPunct="0">
              <a:defRPr/>
            </a:pPr>
            <a:r>
              <a:rPr lang="en-US" sz="2000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Hadoop – The Definitive Guide</a:t>
            </a:r>
            <a:endParaRPr lang="en-US" sz="20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 eaLnBrk="0" hangingPunct="0">
              <a:spcBef>
                <a:spcPts val="600"/>
              </a:spcBef>
              <a:defRPr/>
            </a:pPr>
            <a:r>
              <a:rPr lang="en-US" sz="1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Chapter </a:t>
            </a:r>
            <a:r>
              <a:rPr lang="en-US" sz="1600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3:</a:t>
            </a:r>
            <a:r>
              <a:rPr lang="en-US" sz="1600" b="1" baseline="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1600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The Hadoop Distributed</a:t>
            </a:r>
            <a:r>
              <a:rPr lang="en-US" sz="1600" b="1" baseline="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Filesystem</a:t>
            </a:r>
            <a:endParaRPr lang="en-US" sz="16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95400" y="2743200"/>
            <a:ext cx="6477000" cy="1828799"/>
          </a:xfrm>
        </p:spPr>
        <p:txBody>
          <a:bodyPr>
            <a:normAutofit fontScale="90000"/>
          </a:bodyPr>
          <a:lstStyle/>
          <a:p>
            <a:pPr>
              <a:spcBef>
                <a:spcPts val="1800"/>
              </a:spcBef>
            </a:pPr>
            <a:r>
              <a:rPr lang="en-US" altLang="ko-KR" sz="5300" b="1" dirty="0" smtClean="0"/>
              <a:t>The </a:t>
            </a:r>
            <a:r>
              <a:rPr lang="en-US" altLang="ko-KR" sz="5300" b="1" dirty="0"/>
              <a:t>Hadoop Distributed Filesystem</a:t>
            </a:r>
            <a:endParaRPr lang="ko-KR" altLang="en-US" sz="5300" b="1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657600" y="1066800"/>
            <a:ext cx="33528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Chapter 3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195088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8400" y="2362200"/>
            <a:ext cx="4953000" cy="2895600"/>
          </a:xfrm>
        </p:spPr>
        <p:txBody>
          <a:bodyPr/>
          <a:lstStyle/>
          <a:p>
            <a:pPr marL="342900" lvl="1" indent="-342900" eaLnBrk="1" hangingPunct="1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dirty="0" smtClean="0"/>
              <a:t>HDFS Concepts</a:t>
            </a:r>
            <a:endParaRPr lang="en-US" altLang="ko-KR" sz="2600" dirty="0"/>
          </a:p>
          <a:p>
            <a:pPr marL="342900" lvl="1" indent="-342900" eaLnBrk="1" hangingPunct="1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dirty="0" smtClean="0"/>
              <a:t>Command-Line Interface</a:t>
            </a:r>
            <a:endParaRPr lang="en-US" altLang="ko-KR" sz="2600" dirty="0"/>
          </a:p>
          <a:p>
            <a:pPr marL="342900" lvl="1" indent="-342900" eaLnBrk="1" hangingPunct="1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dirty="0" smtClean="0"/>
              <a:t>Java Interface</a:t>
            </a:r>
            <a:endParaRPr lang="en-US" altLang="ko-KR" sz="2600" dirty="0"/>
          </a:p>
          <a:p>
            <a:pPr marL="342900" lvl="1" indent="-342900" eaLnBrk="1" hangingPunct="1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dirty="0" smtClean="0"/>
              <a:t>Data Flow</a:t>
            </a:r>
            <a:endParaRPr lang="en-US" altLang="ko-KR" sz="2600" dirty="0"/>
          </a:p>
          <a:p>
            <a:pPr marL="342900" lvl="1" indent="-342900" eaLnBrk="1" hangingPunct="1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dirty="0" err="1" smtClean="0"/>
              <a:t>Distcp</a:t>
            </a:r>
            <a:r>
              <a:rPr lang="en-US" altLang="ko-KR" sz="2600" dirty="0" smtClean="0"/>
              <a:t> and Hadoop Archives</a:t>
            </a:r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4" name="Rectangle 3"/>
          <p:cNvSpPr/>
          <p:nvPr/>
        </p:nvSpPr>
        <p:spPr>
          <a:xfrm>
            <a:off x="3886200" y="1066800"/>
            <a:ext cx="304845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1600" b="1" dirty="0" smtClean="0">
                <a:cs typeface="Times New Roman" pitchFamily="18" charset="0"/>
              </a:rPr>
              <a:t>Learning Objectives</a:t>
            </a:r>
            <a:endParaRPr lang="en-US" sz="1600" b="1" dirty="0"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300234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0" y="1066800"/>
            <a:ext cx="4038600" cy="350838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Design Criteria of HDFS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grpSp>
        <p:nvGrpSpPr>
          <p:cNvPr id="12" name="그룹 11"/>
          <p:cNvGrpSpPr/>
          <p:nvPr/>
        </p:nvGrpSpPr>
        <p:grpSpPr>
          <a:xfrm>
            <a:off x="214282" y="5080590"/>
            <a:ext cx="4071966" cy="1000132"/>
            <a:chOff x="428596" y="1285860"/>
            <a:chExt cx="3571900" cy="1000132"/>
          </a:xfrm>
        </p:grpSpPr>
        <p:sp>
          <p:nvSpPr>
            <p:cNvPr id="11" name="모서리가 둥근 직사각형 10"/>
            <p:cNvSpPr/>
            <p:nvPr/>
          </p:nvSpPr>
          <p:spPr>
            <a:xfrm>
              <a:off x="428596" y="1571612"/>
              <a:ext cx="3571900" cy="71438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buClr>
                  <a:srgbClr val="C00000"/>
                </a:buClr>
                <a:buSzPct val="80000"/>
                <a:buFont typeface="Wingdings" pitchFamily="2" charset="2"/>
                <a:buChar char="§"/>
              </a:pPr>
              <a:r>
                <a:rPr lang="en-US" altLang="ko-KR" sz="2000" dirty="0" smtClean="0">
                  <a:solidFill>
                    <a:schemeClr val="tx1"/>
                  </a:solidFill>
                  <a:latin typeface="Corbel" pitchFamily="34" charset="0"/>
                </a:rPr>
                <a:t> Node failure handling</a:t>
              </a:r>
              <a:endParaRPr lang="ko-KR" altLang="en-US" sz="2000" dirty="0">
                <a:solidFill>
                  <a:schemeClr val="tx1"/>
                </a:solidFill>
                <a:latin typeface="Corbel" pitchFamily="34" charset="0"/>
              </a:endParaRPr>
            </a:p>
          </p:txBody>
        </p:sp>
        <p:sp>
          <p:nvSpPr>
            <p:cNvPr id="8" name="양쪽 모서리가 둥근 사각형 7"/>
            <p:cNvSpPr/>
            <p:nvPr/>
          </p:nvSpPr>
          <p:spPr>
            <a:xfrm>
              <a:off x="428596" y="1285860"/>
              <a:ext cx="3571900" cy="428628"/>
            </a:xfrm>
            <a:prstGeom prst="round2SameRect">
              <a:avLst/>
            </a:prstGeom>
            <a:solidFill>
              <a:schemeClr val="tx2">
                <a:lumMod val="50000"/>
              </a:schemeClr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2600" dirty="0" smtClean="0">
                  <a:latin typeface="Corbel" pitchFamily="34" charset="0"/>
                </a:rPr>
                <a:t>Commodity hardware</a:t>
              </a:r>
              <a:endParaRPr lang="ko-KR" altLang="en-US" sz="2600" dirty="0">
                <a:latin typeface="Corbel" pitchFamily="34" charset="0"/>
              </a:endParaRPr>
            </a:p>
          </p:txBody>
        </p:sp>
      </p:grpSp>
      <p:grpSp>
        <p:nvGrpSpPr>
          <p:cNvPr id="13" name="그룹 12"/>
          <p:cNvGrpSpPr/>
          <p:nvPr/>
        </p:nvGrpSpPr>
        <p:grpSpPr>
          <a:xfrm>
            <a:off x="214282" y="3151764"/>
            <a:ext cx="4071966" cy="1285884"/>
            <a:chOff x="428596" y="1285860"/>
            <a:chExt cx="3571900" cy="1285884"/>
          </a:xfrm>
        </p:grpSpPr>
        <p:sp>
          <p:nvSpPr>
            <p:cNvPr id="14" name="모서리가 둥근 직사각형 13"/>
            <p:cNvSpPr/>
            <p:nvPr/>
          </p:nvSpPr>
          <p:spPr>
            <a:xfrm>
              <a:off x="428596" y="1571612"/>
              <a:ext cx="3571900" cy="1000132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buClr>
                  <a:srgbClr val="C00000"/>
                </a:buClr>
                <a:buSzPct val="80000"/>
                <a:buFont typeface="Wingdings" pitchFamily="2" charset="2"/>
                <a:buChar char="§"/>
              </a:pPr>
              <a:r>
                <a:rPr lang="en-US" altLang="ko-KR" sz="2000" dirty="0" smtClean="0">
                  <a:solidFill>
                    <a:schemeClr val="tx1"/>
                  </a:solidFill>
                  <a:latin typeface="Corbel" pitchFamily="34" charset="0"/>
                </a:rPr>
                <a:t> Write-once, read-many-times</a:t>
              </a:r>
            </a:p>
            <a:p>
              <a:pPr>
                <a:buClr>
                  <a:srgbClr val="C00000"/>
                </a:buClr>
                <a:buSzPct val="80000"/>
                <a:buFont typeface="Wingdings" pitchFamily="2" charset="2"/>
                <a:buChar char="§"/>
              </a:pPr>
              <a:r>
                <a:rPr lang="en-US" altLang="ko-KR" sz="2000" dirty="0" smtClean="0">
                  <a:solidFill>
                    <a:schemeClr val="tx1"/>
                  </a:solidFill>
                  <a:latin typeface="Corbel" pitchFamily="34" charset="0"/>
                </a:rPr>
                <a:t> High throughput</a:t>
              </a:r>
            </a:p>
          </p:txBody>
        </p:sp>
        <p:sp>
          <p:nvSpPr>
            <p:cNvPr id="15" name="양쪽 모서리가 둥근 사각형 14"/>
            <p:cNvSpPr/>
            <p:nvPr/>
          </p:nvSpPr>
          <p:spPr>
            <a:xfrm>
              <a:off x="428596" y="1285860"/>
              <a:ext cx="3571900" cy="428628"/>
            </a:xfrm>
            <a:prstGeom prst="round2SameRect">
              <a:avLst/>
            </a:prstGeom>
            <a:solidFill>
              <a:schemeClr val="tx2">
                <a:lumMod val="50000"/>
              </a:schemeClr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2600" dirty="0" smtClean="0">
                  <a:latin typeface="Corbel" pitchFamily="34" charset="0"/>
                </a:rPr>
                <a:t>Streaming data access</a:t>
              </a:r>
              <a:endParaRPr lang="ko-KR" altLang="en-US" sz="2600" dirty="0">
                <a:latin typeface="Corbel" pitchFamily="34" charset="0"/>
              </a:endParaRPr>
            </a:p>
          </p:txBody>
        </p:sp>
      </p:grpSp>
      <p:grpSp>
        <p:nvGrpSpPr>
          <p:cNvPr id="17" name="그룹 16"/>
          <p:cNvGrpSpPr/>
          <p:nvPr/>
        </p:nvGrpSpPr>
        <p:grpSpPr>
          <a:xfrm>
            <a:off x="214282" y="1865880"/>
            <a:ext cx="4071966" cy="1000132"/>
            <a:chOff x="428596" y="1285860"/>
            <a:chExt cx="3571900" cy="1000132"/>
          </a:xfrm>
        </p:grpSpPr>
        <p:sp>
          <p:nvSpPr>
            <p:cNvPr id="18" name="모서리가 둥근 직사각형 17"/>
            <p:cNvSpPr/>
            <p:nvPr/>
          </p:nvSpPr>
          <p:spPr>
            <a:xfrm>
              <a:off x="428596" y="1571612"/>
              <a:ext cx="3571900" cy="71438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buClr>
                  <a:srgbClr val="C00000"/>
                </a:buClr>
                <a:buSzPct val="80000"/>
                <a:buFont typeface="Wingdings" pitchFamily="2" charset="2"/>
                <a:buChar char="§"/>
              </a:pPr>
              <a:r>
                <a:rPr lang="en-US" altLang="ko-KR" sz="2000" dirty="0" smtClean="0">
                  <a:solidFill>
                    <a:schemeClr val="tx1"/>
                  </a:solidFill>
                  <a:latin typeface="Corbel" pitchFamily="34" charset="0"/>
                </a:rPr>
                <a:t> </a:t>
              </a:r>
              <a:r>
                <a:rPr lang="en-US" altLang="ko-KR" sz="2000" dirty="0" err="1" smtClean="0">
                  <a:solidFill>
                    <a:schemeClr val="tx1"/>
                  </a:solidFill>
                  <a:latin typeface="Corbel" pitchFamily="34" charset="0"/>
                </a:rPr>
                <a:t>Petabyte</a:t>
              </a:r>
              <a:r>
                <a:rPr lang="en-US" altLang="ko-KR" sz="2000" dirty="0" smtClean="0">
                  <a:solidFill>
                    <a:schemeClr val="tx1"/>
                  </a:solidFill>
                  <a:latin typeface="Corbel" pitchFamily="34" charset="0"/>
                </a:rPr>
                <a:t>-scale data</a:t>
              </a:r>
              <a:endParaRPr lang="ko-KR" altLang="en-US" sz="2000" dirty="0">
                <a:solidFill>
                  <a:schemeClr val="tx1"/>
                </a:solidFill>
                <a:latin typeface="Corbel" pitchFamily="34" charset="0"/>
              </a:endParaRPr>
            </a:p>
          </p:txBody>
        </p:sp>
        <p:sp>
          <p:nvSpPr>
            <p:cNvPr id="19" name="양쪽 모서리가 둥근 사각형 18"/>
            <p:cNvSpPr/>
            <p:nvPr/>
          </p:nvSpPr>
          <p:spPr>
            <a:xfrm>
              <a:off x="428596" y="1285860"/>
              <a:ext cx="3571900" cy="428628"/>
            </a:xfrm>
            <a:prstGeom prst="round2SameRect">
              <a:avLst/>
            </a:prstGeom>
            <a:solidFill>
              <a:schemeClr val="tx2">
                <a:lumMod val="50000"/>
              </a:schemeClr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2600" dirty="0" smtClean="0">
                  <a:latin typeface="Corbel" pitchFamily="34" charset="0"/>
                </a:rPr>
                <a:t>Very large files</a:t>
              </a:r>
              <a:endParaRPr lang="ko-KR" altLang="en-US" sz="2600" dirty="0">
                <a:latin typeface="Corbel" pitchFamily="34" charset="0"/>
              </a:endParaRPr>
            </a:p>
          </p:txBody>
        </p:sp>
      </p:grpSp>
      <p:grpSp>
        <p:nvGrpSpPr>
          <p:cNvPr id="20" name="그룹 19"/>
          <p:cNvGrpSpPr/>
          <p:nvPr/>
        </p:nvGrpSpPr>
        <p:grpSpPr>
          <a:xfrm>
            <a:off x="4572000" y="1865880"/>
            <a:ext cx="4357718" cy="1000132"/>
            <a:chOff x="428596" y="1285860"/>
            <a:chExt cx="3571900" cy="1000132"/>
          </a:xfrm>
        </p:grpSpPr>
        <p:sp>
          <p:nvSpPr>
            <p:cNvPr id="21" name="모서리가 둥근 직사각형 20"/>
            <p:cNvSpPr/>
            <p:nvPr/>
          </p:nvSpPr>
          <p:spPr>
            <a:xfrm>
              <a:off x="428596" y="1571612"/>
              <a:ext cx="3571900" cy="714380"/>
            </a:xfrm>
            <a:prstGeom prst="roundRect">
              <a:avLst/>
            </a:prstGeom>
            <a:solidFill>
              <a:srgbClr val="F7EAE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buClr>
                  <a:srgbClr val="C00000"/>
                </a:buClr>
                <a:buSzPct val="80000"/>
                <a:buFont typeface="Wingdings" pitchFamily="2" charset="2"/>
                <a:buChar char="§"/>
              </a:pPr>
              <a:r>
                <a:rPr lang="en-US" altLang="ko-KR" sz="2000" dirty="0" smtClean="0">
                  <a:solidFill>
                    <a:schemeClr val="tx1"/>
                  </a:solidFill>
                  <a:latin typeface="Corbel" pitchFamily="34" charset="0"/>
                </a:rPr>
                <a:t> Growing of </a:t>
              </a:r>
              <a:r>
                <a:rPr lang="en-US" altLang="ko-KR" sz="2000" dirty="0" err="1" smtClean="0">
                  <a:solidFill>
                    <a:schemeClr val="tx1"/>
                  </a:solidFill>
                  <a:latin typeface="Corbel" pitchFamily="34" charset="0"/>
                </a:rPr>
                <a:t>filesystem</a:t>
              </a:r>
              <a:r>
                <a:rPr lang="en-US" altLang="ko-KR" sz="2000" dirty="0" smtClean="0">
                  <a:solidFill>
                    <a:schemeClr val="tx1"/>
                  </a:solidFill>
                  <a:latin typeface="Corbel" pitchFamily="34" charset="0"/>
                </a:rPr>
                <a:t> metadata </a:t>
              </a:r>
              <a:endParaRPr lang="ko-KR" altLang="en-US" sz="2000" dirty="0">
                <a:solidFill>
                  <a:schemeClr val="tx1"/>
                </a:solidFill>
                <a:latin typeface="Corbel" pitchFamily="34" charset="0"/>
              </a:endParaRPr>
            </a:p>
          </p:txBody>
        </p:sp>
        <p:sp>
          <p:nvSpPr>
            <p:cNvPr id="22" name="양쪽 모서리가 둥근 사각형 21"/>
            <p:cNvSpPr/>
            <p:nvPr/>
          </p:nvSpPr>
          <p:spPr>
            <a:xfrm>
              <a:off x="428596" y="1285860"/>
              <a:ext cx="3571900" cy="428628"/>
            </a:xfrm>
            <a:prstGeom prst="round2SameRect">
              <a:avLst/>
            </a:prstGeom>
            <a:solidFill>
              <a:srgbClr val="7A0000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2600" dirty="0" smtClean="0">
                  <a:latin typeface="Corbel" pitchFamily="34" charset="0"/>
                </a:rPr>
                <a:t>Lots of small files</a:t>
              </a:r>
              <a:endParaRPr lang="ko-KR" altLang="en-US" sz="2600" dirty="0">
                <a:latin typeface="Corbel" pitchFamily="34" charset="0"/>
              </a:endParaRPr>
            </a:p>
          </p:txBody>
        </p:sp>
      </p:grpSp>
      <p:grpSp>
        <p:nvGrpSpPr>
          <p:cNvPr id="29" name="그룹 28"/>
          <p:cNvGrpSpPr/>
          <p:nvPr/>
        </p:nvGrpSpPr>
        <p:grpSpPr>
          <a:xfrm>
            <a:off x="4572000" y="3151764"/>
            <a:ext cx="4357718" cy="1285884"/>
            <a:chOff x="428596" y="1285860"/>
            <a:chExt cx="3571900" cy="1285884"/>
          </a:xfrm>
        </p:grpSpPr>
        <p:sp>
          <p:nvSpPr>
            <p:cNvPr id="30" name="모서리가 둥근 직사각형 29"/>
            <p:cNvSpPr/>
            <p:nvPr/>
          </p:nvSpPr>
          <p:spPr>
            <a:xfrm>
              <a:off x="428596" y="1571612"/>
              <a:ext cx="3571900" cy="1000132"/>
            </a:xfrm>
            <a:prstGeom prst="roundRect">
              <a:avLst/>
            </a:prstGeom>
            <a:solidFill>
              <a:srgbClr val="F7EAE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buClr>
                  <a:srgbClr val="C00000"/>
                </a:buClr>
                <a:buSzPct val="80000"/>
                <a:buFont typeface="Wingdings" pitchFamily="2" charset="2"/>
                <a:buChar char="§"/>
              </a:pPr>
              <a:r>
                <a:rPr lang="en-US" altLang="ko-KR" sz="2000" dirty="0" smtClean="0">
                  <a:solidFill>
                    <a:schemeClr val="tx1"/>
                  </a:solidFill>
                  <a:latin typeface="Corbel" pitchFamily="34" charset="0"/>
                </a:rPr>
                <a:t> Multiple writers, arbitrary file update</a:t>
              </a:r>
            </a:p>
            <a:p>
              <a:pPr>
                <a:buClr>
                  <a:srgbClr val="C00000"/>
                </a:buClr>
                <a:buSzPct val="80000"/>
                <a:buFont typeface="Wingdings" pitchFamily="2" charset="2"/>
                <a:buChar char="§"/>
              </a:pPr>
              <a:r>
                <a:rPr lang="en-US" altLang="ko-KR" sz="2000" dirty="0" smtClean="0">
                  <a:solidFill>
                    <a:schemeClr val="tx1"/>
                  </a:solidFill>
                  <a:latin typeface="Corbel" pitchFamily="34" charset="0"/>
                </a:rPr>
                <a:t> Low latency</a:t>
              </a:r>
            </a:p>
          </p:txBody>
        </p:sp>
        <p:sp>
          <p:nvSpPr>
            <p:cNvPr id="31" name="양쪽 모서리가 둥근 사각형 30"/>
            <p:cNvSpPr/>
            <p:nvPr/>
          </p:nvSpPr>
          <p:spPr>
            <a:xfrm>
              <a:off x="428596" y="1285860"/>
              <a:ext cx="3571900" cy="428628"/>
            </a:xfrm>
            <a:prstGeom prst="round2SameRect">
              <a:avLst/>
            </a:prstGeom>
            <a:solidFill>
              <a:srgbClr val="7A0000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2600" dirty="0" smtClean="0">
                  <a:latin typeface="Corbel" pitchFamily="34" charset="0"/>
                </a:rPr>
                <a:t>Random data access</a:t>
              </a:r>
              <a:endParaRPr lang="ko-KR" altLang="en-US" sz="2600" dirty="0">
                <a:latin typeface="Corbel" pitchFamily="34" charset="0"/>
              </a:endParaRPr>
            </a:p>
          </p:txBody>
        </p:sp>
      </p:grpSp>
      <p:sp>
        <p:nvSpPr>
          <p:cNvPr id="32" name="왼쪽/오른쪽 화살표 31"/>
          <p:cNvSpPr/>
          <p:nvPr/>
        </p:nvSpPr>
        <p:spPr>
          <a:xfrm>
            <a:off x="4143372" y="2132744"/>
            <a:ext cx="571504" cy="357190"/>
          </a:xfrm>
          <a:prstGeom prst="left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왼쪽/오른쪽 화살표 33"/>
          <p:cNvSpPr/>
          <p:nvPr/>
        </p:nvSpPr>
        <p:spPr>
          <a:xfrm>
            <a:off x="4143372" y="3416496"/>
            <a:ext cx="571504" cy="357190"/>
          </a:xfrm>
          <a:prstGeom prst="left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342208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657600" y="1066800"/>
            <a:ext cx="3581400" cy="350838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HDFS Blocks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762000" y="1981200"/>
            <a:ext cx="7677152" cy="3733800"/>
          </a:xfrm>
        </p:spPr>
        <p:txBody>
          <a:bodyPr>
            <a:normAutofit/>
          </a:bodyPr>
          <a:lstStyle/>
          <a:p>
            <a:pPr marL="342900" lvl="1" indent="-342900" eaLnBrk="1" hangingPunct="1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dirty="0">
                <a:ea typeface="+mn-ea"/>
                <a:cs typeface="+mn-cs"/>
              </a:rPr>
              <a:t>Block: the minimum unit of data to read/write/replicate</a:t>
            </a:r>
          </a:p>
          <a:p>
            <a:pPr marL="342900" lvl="1" indent="-342900" eaLnBrk="1" hangingPunct="1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dirty="0">
                <a:ea typeface="+mn-ea"/>
                <a:cs typeface="+mn-cs"/>
              </a:rPr>
              <a:t>Large block size: 64MB by default, 128MB in practice</a:t>
            </a:r>
          </a:p>
          <a:p>
            <a:pPr lvl="1" eaLnBrk="1" hangingPunct="1">
              <a:spcBef>
                <a:spcPts val="6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000" dirty="0"/>
              <a:t>Small  metadata volumes, low seek </a:t>
            </a:r>
            <a:r>
              <a:rPr lang="en-US" altLang="ko-KR" sz="2000" dirty="0" smtClean="0"/>
              <a:t>time</a:t>
            </a:r>
          </a:p>
          <a:p>
            <a:pPr marL="342900" lvl="1" indent="-342900" eaLnBrk="1" hangingPunct="1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dirty="0">
                <a:ea typeface="+mn-ea"/>
                <a:cs typeface="+mn-cs"/>
              </a:rPr>
              <a:t>A small file does not occupy a full block</a:t>
            </a:r>
          </a:p>
          <a:p>
            <a:pPr lvl="1" eaLnBrk="1" hangingPunct="1">
              <a:spcBef>
                <a:spcPts val="6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000" dirty="0"/>
              <a:t>HDFS runs on top of underlying </a:t>
            </a:r>
            <a:r>
              <a:rPr lang="en-US" altLang="ko-KR" sz="2000" dirty="0" smtClean="0"/>
              <a:t>filesystem</a:t>
            </a:r>
            <a:endParaRPr lang="en-US" altLang="ko-KR" sz="2800" dirty="0" smtClean="0"/>
          </a:p>
          <a:p>
            <a:pPr marL="342900" lvl="1" indent="-342900" eaLnBrk="1" hangingPunct="1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dirty="0">
                <a:ea typeface="+mn-ea"/>
                <a:cs typeface="+mn-cs"/>
              </a:rPr>
              <a:t>Filesystem </a:t>
            </a:r>
            <a:r>
              <a:rPr lang="en-US" altLang="ko-KR" sz="2400" dirty="0" smtClean="0">
                <a:ea typeface="+mn-ea"/>
                <a:cs typeface="+mn-cs"/>
              </a:rPr>
              <a:t>check </a:t>
            </a:r>
            <a:r>
              <a:rPr lang="en-US" altLang="ko-KR" sz="2400" dirty="0">
                <a:ea typeface="+mn-ea"/>
                <a:cs typeface="+mn-cs"/>
              </a:rPr>
              <a:t>(</a:t>
            </a:r>
            <a:r>
              <a:rPr lang="en-US" altLang="ko-KR" sz="2400" dirty="0" err="1">
                <a:ea typeface="+mn-ea"/>
                <a:cs typeface="+mn-cs"/>
              </a:rPr>
              <a:t>fsck</a:t>
            </a:r>
            <a:r>
              <a:rPr lang="en-US" altLang="ko-KR" sz="2400" dirty="0">
                <a:ea typeface="+mn-ea"/>
                <a:cs typeface="+mn-cs"/>
              </a:rPr>
              <a:t>)</a:t>
            </a:r>
          </a:p>
        </p:txBody>
      </p:sp>
      <p:sp>
        <p:nvSpPr>
          <p:cNvPr id="5" name="모서리가 둥근 직사각형 4"/>
          <p:cNvSpPr/>
          <p:nvPr/>
        </p:nvSpPr>
        <p:spPr>
          <a:xfrm>
            <a:off x="1752600" y="4614596"/>
            <a:ext cx="4900642" cy="642942"/>
          </a:xfrm>
          <a:prstGeom prst="roundRect">
            <a:avLst/>
          </a:prstGeom>
          <a:ln w="38100"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2400" dirty="0" smtClean="0">
                <a:latin typeface="Corbel" pitchFamily="34" charset="0"/>
              </a:rPr>
              <a:t>%  </a:t>
            </a:r>
            <a:r>
              <a:rPr lang="en-US" altLang="ko-KR" sz="1600" b="1" dirty="0" err="1" smtClean="0">
                <a:latin typeface="Lucida Console" pitchFamily="49" charset="0"/>
              </a:rPr>
              <a:t>hadoop</a:t>
            </a:r>
            <a:r>
              <a:rPr lang="en-US" altLang="ko-KR" sz="1600" b="1" dirty="0" smtClean="0">
                <a:latin typeface="Lucida Console" pitchFamily="49" charset="0"/>
              </a:rPr>
              <a:t> </a:t>
            </a:r>
            <a:r>
              <a:rPr lang="en-US" altLang="ko-KR" sz="1600" b="1" dirty="0" err="1" smtClean="0">
                <a:latin typeface="Lucida Console" pitchFamily="49" charset="0"/>
              </a:rPr>
              <a:t>fsck</a:t>
            </a:r>
            <a:r>
              <a:rPr lang="en-US" altLang="ko-KR" sz="1600" b="1" dirty="0" smtClean="0">
                <a:latin typeface="Lucida Console" pitchFamily="49" charset="0"/>
              </a:rPr>
              <a:t> –files -blocks</a:t>
            </a:r>
            <a:endParaRPr lang="ko-KR" altLang="en-US" sz="1600" b="1" dirty="0">
              <a:latin typeface="Lucida Console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94924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200400" y="1066800"/>
            <a:ext cx="4419600" cy="350838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ko-KR" sz="1600" b="1" kern="1200" dirty="0" err="1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Namenode</a:t>
            </a:r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– The Master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1371600" y="4267200"/>
            <a:ext cx="6305552" cy="1600200"/>
          </a:xfrm>
        </p:spPr>
        <p:txBody>
          <a:bodyPr>
            <a:normAutofit/>
          </a:bodyPr>
          <a:lstStyle/>
          <a:p>
            <a:pPr marL="342900" lvl="1" indent="-342900" eaLnBrk="1" hangingPunct="1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dirty="0" smtClean="0">
                <a:ea typeface="+mn-ea"/>
                <a:cs typeface="+mn-cs"/>
              </a:rPr>
              <a:t>Single </a:t>
            </a:r>
            <a:r>
              <a:rPr lang="en-US" altLang="ko-KR" sz="2400" dirty="0">
                <a:ea typeface="+mn-ea"/>
                <a:cs typeface="+mn-cs"/>
              </a:rPr>
              <a:t>point of failure</a:t>
            </a:r>
          </a:p>
          <a:p>
            <a:pPr lvl="1" eaLnBrk="1" hangingPunct="1">
              <a:spcBef>
                <a:spcPts val="6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000" dirty="0"/>
              <a:t>Backup the persistent metadata files</a:t>
            </a:r>
          </a:p>
          <a:p>
            <a:pPr lvl="1" eaLnBrk="1" hangingPunct="1">
              <a:spcBef>
                <a:spcPts val="600"/>
              </a:spcBef>
              <a:buClr>
                <a:schemeClr val="accent2"/>
              </a:buClr>
              <a:buSzPct val="60000"/>
              <a:buBlip>
                <a:blip r:embed="rId2"/>
              </a:buBlip>
              <a:defRPr/>
            </a:pPr>
            <a:r>
              <a:rPr lang="en-US" altLang="ko-KR" sz="2000" dirty="0"/>
              <a:t>Run a secondary </a:t>
            </a:r>
            <a:r>
              <a:rPr lang="en-US" altLang="ko-KR" sz="2000" dirty="0" err="1"/>
              <a:t>namenode</a:t>
            </a:r>
            <a:r>
              <a:rPr lang="en-US" altLang="ko-KR" sz="2000" dirty="0"/>
              <a:t> (standby)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1415658"/>
              </p:ext>
            </p:extLst>
          </p:nvPr>
        </p:nvGraphicFramePr>
        <p:xfrm>
          <a:off x="357158" y="1905000"/>
          <a:ext cx="8358246" cy="20421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367242"/>
                <a:gridCol w="3991004"/>
              </a:tblGrid>
              <a:tr h="1371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>
                          <a:latin typeface="Corbel" pitchFamily="34" charset="0"/>
                        </a:rPr>
                        <a:t>Task</a:t>
                      </a:r>
                      <a:endParaRPr lang="ko-KR" altLang="en-US" sz="2800" dirty="0">
                        <a:latin typeface="Corbe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>
                          <a:latin typeface="Corbel" pitchFamily="34" charset="0"/>
                        </a:rPr>
                        <a:t>Information</a:t>
                      </a:r>
                      <a:r>
                        <a:rPr lang="en-US" altLang="ko-KR" sz="2800" baseline="0" dirty="0" smtClean="0">
                          <a:latin typeface="Corbel" pitchFamily="34" charset="0"/>
                        </a:rPr>
                        <a:t> Stored</a:t>
                      </a:r>
                      <a:endParaRPr lang="ko-KR" altLang="en-US" sz="2800" dirty="0">
                        <a:latin typeface="Corbe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294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2200" kern="1200" dirty="0" smtClean="0">
                          <a:solidFill>
                            <a:schemeClr val="tx1"/>
                          </a:solidFill>
                          <a:latin typeface="Corbel" pitchFamily="34" charset="0"/>
                          <a:ea typeface="+mn-ea"/>
                          <a:cs typeface="+mn-cs"/>
                        </a:rPr>
                        <a:t> Manage filesystem namespace (i.e.,       </a:t>
                      </a:r>
                    </a:p>
                    <a:p>
                      <a:pPr marL="0" algn="l" defTabSz="914400" rtl="0" eaLnBrk="1" latinLnBrk="1" hangingPunct="1"/>
                      <a:r>
                        <a:rPr lang="en-US" altLang="ko-KR" sz="2200" kern="1200" dirty="0" smtClean="0">
                          <a:solidFill>
                            <a:schemeClr val="tx1"/>
                          </a:solidFill>
                          <a:latin typeface="Corbel" pitchFamily="34" charset="0"/>
                          <a:ea typeface="+mn-ea"/>
                          <a:cs typeface="+mn-cs"/>
                        </a:rPr>
                        <a:t> filesystem tree &amp; metadata)</a:t>
                      </a:r>
                      <a:endParaRPr lang="ko-KR" altLang="en-US" sz="2200" kern="1200" dirty="0">
                        <a:solidFill>
                          <a:schemeClr val="tx1"/>
                        </a:solidFill>
                        <a:latin typeface="Corbel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200" dirty="0" smtClean="0">
                          <a:latin typeface="Corbel" pitchFamily="34" charset="0"/>
                        </a:rPr>
                        <a:t>  Namespace image,</a:t>
                      </a:r>
                      <a:r>
                        <a:rPr lang="en-US" altLang="ko-KR" sz="2200" baseline="0" dirty="0" smtClean="0">
                          <a:latin typeface="Corbel" pitchFamily="34" charset="0"/>
                        </a:rPr>
                        <a:t> e</a:t>
                      </a:r>
                      <a:r>
                        <a:rPr lang="en-US" altLang="ko-KR" sz="2200" dirty="0" smtClean="0">
                          <a:latin typeface="Corbel" pitchFamily="34" charset="0"/>
                        </a:rPr>
                        <a:t>dit log</a:t>
                      </a:r>
                    </a:p>
                    <a:p>
                      <a:pPr algn="l" latinLnBrk="1"/>
                      <a:r>
                        <a:rPr lang="en-US" altLang="ko-KR" sz="2200" dirty="0" smtClean="0">
                          <a:latin typeface="Corbel" pitchFamily="34" charset="0"/>
                        </a:rPr>
                        <a:t>  (stored</a:t>
                      </a:r>
                      <a:r>
                        <a:rPr lang="en-US" altLang="ko-KR" sz="2200" baseline="0" dirty="0" smtClean="0">
                          <a:latin typeface="Corbel" pitchFamily="34" charset="0"/>
                        </a:rPr>
                        <a:t> </a:t>
                      </a:r>
                      <a:r>
                        <a:rPr lang="en-US" altLang="ko-KR" sz="2200" dirty="0" smtClean="0">
                          <a:latin typeface="Corbel" pitchFamily="34" charset="0"/>
                        </a:rPr>
                        <a:t>persistently)</a:t>
                      </a:r>
                      <a:endParaRPr lang="ko-KR" altLang="en-US" sz="2200" dirty="0">
                        <a:latin typeface="Corbe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2942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200" dirty="0" smtClean="0">
                          <a:latin typeface="Corbel" pitchFamily="34" charset="0"/>
                        </a:rPr>
                        <a:t> Keeping</a:t>
                      </a:r>
                      <a:r>
                        <a:rPr lang="en-US" altLang="ko-KR" sz="2200" baseline="0" dirty="0" smtClean="0">
                          <a:latin typeface="Corbel" pitchFamily="34" charset="0"/>
                        </a:rPr>
                        <a:t> track of all the blocks  </a:t>
                      </a:r>
                      <a:endParaRPr lang="ko-KR" altLang="en-US" sz="2200" dirty="0">
                        <a:latin typeface="Corbe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2200" dirty="0" smtClean="0">
                          <a:latin typeface="Corbel" pitchFamily="34" charset="0"/>
                        </a:rPr>
                        <a:t>  Block locations</a:t>
                      </a:r>
                    </a:p>
                    <a:p>
                      <a:pPr algn="l" latinLnBrk="1"/>
                      <a:r>
                        <a:rPr lang="en-US" altLang="ko-KR" sz="2200" dirty="0" smtClean="0">
                          <a:latin typeface="Corbel" pitchFamily="34" charset="0"/>
                        </a:rPr>
                        <a:t>  (stored just</a:t>
                      </a:r>
                      <a:r>
                        <a:rPr lang="en-US" altLang="ko-KR" sz="2200" baseline="0" dirty="0" smtClean="0">
                          <a:latin typeface="Corbel" pitchFamily="34" charset="0"/>
                        </a:rPr>
                        <a:t> in memory)</a:t>
                      </a:r>
                      <a:endParaRPr lang="ko-KR" altLang="en-US" sz="2200" dirty="0">
                        <a:latin typeface="Corbel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36246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200400" y="1066800"/>
            <a:ext cx="4419600" cy="350838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Filesystem Tree Example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1660580"/>
            <a:ext cx="6512452" cy="4664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41249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0" y="1066800"/>
            <a:ext cx="3962400" cy="350838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ko-KR" sz="1600" b="1" kern="1200" dirty="0" err="1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Datanodes</a:t>
            </a:r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- Workers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1143000" y="2362200"/>
            <a:ext cx="6934200" cy="2133600"/>
          </a:xfrm>
        </p:spPr>
        <p:txBody>
          <a:bodyPr>
            <a:noAutofit/>
          </a:bodyPr>
          <a:lstStyle/>
          <a:p>
            <a:pPr marL="342900" lvl="1" indent="-342900" eaLnBrk="1" hangingPunct="1">
              <a:spcBef>
                <a:spcPts val="12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dirty="0" err="1" smtClean="0">
                <a:ea typeface="+mn-ea"/>
                <a:cs typeface="+mn-cs"/>
              </a:rPr>
              <a:t>Datanodes</a:t>
            </a:r>
            <a:r>
              <a:rPr lang="en-US" altLang="ko-KR" sz="2600" dirty="0" smtClean="0">
                <a:ea typeface="+mn-ea"/>
                <a:cs typeface="+mn-cs"/>
              </a:rPr>
              <a:t> are the workhorse of the filesystem.</a:t>
            </a:r>
          </a:p>
          <a:p>
            <a:pPr marL="342900" lvl="1" indent="-342900" eaLnBrk="1" hangingPunct="1">
              <a:spcBef>
                <a:spcPts val="12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dirty="0" smtClean="0">
                <a:ea typeface="+mn-ea"/>
                <a:cs typeface="+mn-cs"/>
              </a:rPr>
              <a:t>Store and </a:t>
            </a:r>
            <a:r>
              <a:rPr lang="en-US" altLang="ko-KR" sz="2600" dirty="0">
                <a:ea typeface="+mn-ea"/>
                <a:cs typeface="+mn-cs"/>
              </a:rPr>
              <a:t>retrieve </a:t>
            </a:r>
            <a:r>
              <a:rPr lang="en-US" altLang="ko-KR" sz="2600" dirty="0" smtClean="0">
                <a:ea typeface="+mn-ea"/>
                <a:cs typeface="+mn-cs"/>
              </a:rPr>
              <a:t>blocks when they are told to.</a:t>
            </a:r>
            <a:endParaRPr lang="en-US" altLang="ko-KR" sz="2600" dirty="0">
              <a:ea typeface="+mn-ea"/>
              <a:cs typeface="+mn-cs"/>
            </a:endParaRPr>
          </a:p>
          <a:p>
            <a:pPr marL="342900" lvl="1" indent="-342900" eaLnBrk="1" hangingPunct="1">
              <a:spcBef>
                <a:spcPts val="12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dirty="0">
                <a:ea typeface="+mn-ea"/>
                <a:cs typeface="+mn-cs"/>
              </a:rPr>
              <a:t>Report the lists of storing blocks to the </a:t>
            </a:r>
            <a:r>
              <a:rPr lang="en-US" altLang="ko-KR" sz="2600" dirty="0" err="1" smtClean="0">
                <a:ea typeface="+mn-ea"/>
                <a:cs typeface="+mn-cs"/>
              </a:rPr>
              <a:t>namenode</a:t>
            </a:r>
            <a:r>
              <a:rPr lang="en-US" altLang="ko-KR" sz="2600" dirty="0" smtClean="0">
                <a:ea typeface="+mn-ea"/>
                <a:cs typeface="+mn-cs"/>
              </a:rPr>
              <a:t> periodically.</a:t>
            </a:r>
            <a:endParaRPr lang="en-US" altLang="ko-KR" sz="2600" dirty="0"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021221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0" y="1066800"/>
            <a:ext cx="3962400" cy="350838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HDFS High Availability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914400" y="2057400"/>
            <a:ext cx="7391400" cy="3276600"/>
          </a:xfrm>
        </p:spPr>
        <p:txBody>
          <a:bodyPr>
            <a:noAutofit/>
          </a:bodyPr>
          <a:lstStyle/>
          <a:p>
            <a:pPr marL="0" lvl="1" indent="0" eaLnBrk="1" hangingPunct="1">
              <a:spcBef>
                <a:spcPts val="1200"/>
              </a:spcBef>
              <a:buClr>
                <a:schemeClr val="accent2"/>
              </a:buClr>
              <a:buNone/>
              <a:defRPr/>
            </a:pPr>
            <a:r>
              <a:rPr lang="en-US" altLang="ko-KR" sz="2400" dirty="0" smtClean="0">
                <a:ea typeface="+mn-ea"/>
                <a:cs typeface="+mn-cs"/>
              </a:rPr>
              <a:t>HDFS </a:t>
            </a:r>
            <a:r>
              <a:rPr lang="en-US" altLang="ko-KR" sz="2400" dirty="0">
                <a:ea typeface="+mn-ea"/>
                <a:cs typeface="+mn-cs"/>
              </a:rPr>
              <a:t>h</a:t>
            </a:r>
            <a:r>
              <a:rPr lang="en-US" altLang="ko-KR" sz="2400" dirty="0" smtClean="0">
                <a:ea typeface="+mn-ea"/>
                <a:cs typeface="+mn-cs"/>
              </a:rPr>
              <a:t>igh availability </a:t>
            </a:r>
          </a:p>
          <a:p>
            <a:pPr marL="342900" lvl="1" indent="-342900" eaLnBrk="1" hangingPunct="1">
              <a:spcBef>
                <a:spcPts val="12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200" dirty="0" smtClean="0">
                <a:ea typeface="+mn-ea"/>
                <a:cs typeface="+mn-cs"/>
              </a:rPr>
              <a:t>Use a pair of </a:t>
            </a:r>
            <a:r>
              <a:rPr lang="en-US" altLang="ko-KR" sz="2200" dirty="0" err="1" smtClean="0">
                <a:ea typeface="+mn-ea"/>
                <a:cs typeface="+mn-cs"/>
              </a:rPr>
              <a:t>namenodes</a:t>
            </a:r>
            <a:r>
              <a:rPr lang="en-US" altLang="ko-KR" sz="2200" dirty="0" smtClean="0">
                <a:ea typeface="+mn-ea"/>
                <a:cs typeface="+mn-cs"/>
              </a:rPr>
              <a:t> in an active-standby configuration.</a:t>
            </a:r>
          </a:p>
          <a:p>
            <a:pPr marL="342900" lvl="1" indent="-342900" eaLnBrk="1" hangingPunct="1">
              <a:spcBef>
                <a:spcPts val="12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200" dirty="0" smtClean="0">
                <a:ea typeface="+mn-ea"/>
                <a:cs typeface="+mn-cs"/>
              </a:rPr>
              <a:t>The standby has both the latest edit log entries and an up-to-date block mapping in memory.</a:t>
            </a:r>
            <a:endParaRPr lang="en-US" altLang="ko-KR" sz="2200" dirty="0">
              <a:ea typeface="+mn-ea"/>
              <a:cs typeface="+mn-cs"/>
            </a:endParaRPr>
          </a:p>
          <a:p>
            <a:pPr marL="342900" lvl="1" indent="-342900" eaLnBrk="1" hangingPunct="1">
              <a:spcBef>
                <a:spcPts val="12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200" dirty="0" smtClean="0">
                <a:ea typeface="+mn-ea"/>
                <a:cs typeface="+mn-cs"/>
              </a:rPr>
              <a:t>Failover controller manages the transition from  the active </a:t>
            </a:r>
            <a:r>
              <a:rPr lang="en-US" altLang="ko-KR" sz="2200" dirty="0" err="1" smtClean="0">
                <a:ea typeface="+mn-ea"/>
                <a:cs typeface="+mn-cs"/>
              </a:rPr>
              <a:t>namenode</a:t>
            </a:r>
            <a:r>
              <a:rPr lang="en-US" altLang="ko-KR" sz="2200" dirty="0" smtClean="0">
                <a:ea typeface="+mn-ea"/>
                <a:cs typeface="+mn-cs"/>
              </a:rPr>
              <a:t> to the standby.</a:t>
            </a:r>
          </a:p>
          <a:p>
            <a:pPr marL="342900" lvl="1" indent="-342900" eaLnBrk="1" hangingPunct="1">
              <a:spcBef>
                <a:spcPts val="12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200" dirty="0" smtClean="0">
                <a:ea typeface="+mn-ea"/>
                <a:cs typeface="+mn-cs"/>
              </a:rPr>
              <a:t>Failover may also be initiated manually by an administrator.</a:t>
            </a:r>
            <a:endParaRPr lang="en-US" altLang="ko-KR" sz="2200" dirty="0"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865267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0" y="1066800"/>
            <a:ext cx="3886200" cy="350838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HDFS Configuration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1066800" y="2209800"/>
            <a:ext cx="6991352" cy="3048000"/>
          </a:xfrm>
        </p:spPr>
        <p:txBody>
          <a:bodyPr>
            <a:normAutofit/>
          </a:bodyPr>
          <a:lstStyle/>
          <a:p>
            <a:pPr marL="342900" lvl="1" indent="-342900" eaLnBrk="1" hangingPunct="1">
              <a:spcBef>
                <a:spcPts val="12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dirty="0">
                <a:ea typeface="+mn-ea"/>
                <a:cs typeface="+mn-cs"/>
              </a:rPr>
              <a:t>Pseudo-distributed configuration</a:t>
            </a:r>
          </a:p>
          <a:p>
            <a:pPr lvl="1" eaLnBrk="1" hangingPunct="1">
              <a:lnSpc>
                <a:spcPct val="80000"/>
              </a:lnSpc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000" dirty="0"/>
              <a:t>fs.default.name = hdfs://localhost/</a:t>
            </a:r>
          </a:p>
          <a:p>
            <a:pPr lvl="1" eaLnBrk="1" hangingPunct="1">
              <a:lnSpc>
                <a:spcPct val="80000"/>
              </a:lnSpc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000" dirty="0" err="1"/>
              <a:t>dfs.replication</a:t>
            </a:r>
            <a:r>
              <a:rPr lang="en-US" altLang="ko-KR" sz="2000" dirty="0"/>
              <a:t> = 1</a:t>
            </a:r>
          </a:p>
          <a:p>
            <a:pPr marL="342900" lvl="1" indent="-342900" eaLnBrk="1" hangingPunct="1">
              <a:spcBef>
                <a:spcPts val="12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dirty="0">
                <a:ea typeface="+mn-ea"/>
                <a:cs typeface="+mn-cs"/>
              </a:rPr>
              <a:t>hdfs://localhost</a:t>
            </a:r>
            <a:r>
              <a:rPr lang="en-US" altLang="ko-KR" sz="2400" dirty="0" smtClean="0">
                <a:ea typeface="+mn-ea"/>
                <a:cs typeface="+mn-cs"/>
              </a:rPr>
              <a:t>/ is used to set a default filesystem for Hadoop.</a:t>
            </a:r>
          </a:p>
          <a:p>
            <a:pPr marL="342900" lvl="1" indent="-342900" eaLnBrk="1" hangingPunct="1">
              <a:spcBef>
                <a:spcPts val="12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dirty="0" smtClean="0">
                <a:ea typeface="+mn-ea"/>
                <a:cs typeface="+mn-cs"/>
              </a:rPr>
              <a:t>Set </a:t>
            </a:r>
            <a:r>
              <a:rPr lang="en-US" altLang="ko-KR" sz="2400" dirty="0" err="1"/>
              <a:t>dfs.replication</a:t>
            </a:r>
            <a:r>
              <a:rPr lang="en-US" altLang="ko-KR" sz="2400" dirty="0"/>
              <a:t> = </a:t>
            </a:r>
            <a:r>
              <a:rPr lang="en-US" altLang="ko-KR" sz="2400" dirty="0" smtClean="0"/>
              <a:t>1</a:t>
            </a:r>
            <a:r>
              <a:rPr lang="en-US" altLang="ko-KR" sz="2400" dirty="0">
                <a:ea typeface="+mn-ea"/>
                <a:cs typeface="+mn-cs"/>
              </a:rPr>
              <a:t> </a:t>
            </a:r>
            <a:r>
              <a:rPr lang="en-US" altLang="ko-KR" sz="2400" dirty="0" smtClean="0">
                <a:ea typeface="+mn-ea"/>
                <a:cs typeface="+mn-cs"/>
              </a:rPr>
              <a:t>so that HDFS doesn’t replicate filesystem blocks by the default factor of 3.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205431316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352800" y="1066800"/>
            <a:ext cx="4191000" cy="350838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Basic Filesystem 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Operations – 1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533400" y="1905000"/>
            <a:ext cx="8077200" cy="4038600"/>
          </a:xfrm>
        </p:spPr>
        <p:txBody>
          <a:bodyPr>
            <a:normAutofit/>
          </a:bodyPr>
          <a:lstStyle/>
          <a:p>
            <a:pPr marL="342900" lvl="1" indent="-342900" eaLnBrk="1" hangingPunct="1">
              <a:spcBef>
                <a:spcPts val="12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dirty="0">
                <a:ea typeface="+mn-ea"/>
                <a:cs typeface="+mn-cs"/>
              </a:rPr>
              <a:t>Copying a file from the local </a:t>
            </a:r>
            <a:r>
              <a:rPr lang="en-US" altLang="ko-KR" sz="2400" dirty="0" err="1">
                <a:ea typeface="+mn-ea"/>
                <a:cs typeface="+mn-cs"/>
              </a:rPr>
              <a:t>filesystem</a:t>
            </a:r>
            <a:r>
              <a:rPr lang="en-US" altLang="ko-KR" sz="2400" dirty="0">
                <a:ea typeface="+mn-ea"/>
                <a:cs typeface="+mn-cs"/>
              </a:rPr>
              <a:t> to HDFS</a:t>
            </a:r>
          </a:p>
          <a:p>
            <a:pPr>
              <a:spcAft>
                <a:spcPts val="600"/>
              </a:spcAft>
            </a:pPr>
            <a:endParaRPr lang="en-US" altLang="ko-KR" dirty="0" smtClean="0"/>
          </a:p>
          <a:p>
            <a:pPr marL="0" lvl="1" indent="0" eaLnBrk="1" hangingPunct="1">
              <a:spcBef>
                <a:spcPts val="1200"/>
              </a:spcBef>
              <a:buClr>
                <a:schemeClr val="accent2"/>
              </a:buClr>
              <a:buNone/>
              <a:defRPr/>
            </a:pPr>
            <a:endParaRPr lang="en-US" altLang="ko-KR" sz="2400" dirty="0">
              <a:ea typeface="+mn-ea"/>
              <a:cs typeface="+mn-cs"/>
            </a:endParaRPr>
          </a:p>
          <a:p>
            <a:pPr marL="342900" lvl="1" indent="-342900" eaLnBrk="1" hangingPunct="1">
              <a:spcBef>
                <a:spcPts val="12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dirty="0" smtClean="0">
                <a:ea typeface="+mn-ea"/>
                <a:cs typeface="+mn-cs"/>
              </a:rPr>
              <a:t>Copying </a:t>
            </a:r>
            <a:r>
              <a:rPr lang="en-US" altLang="ko-KR" sz="2400" dirty="0">
                <a:ea typeface="+mn-ea"/>
                <a:cs typeface="+mn-cs"/>
              </a:rPr>
              <a:t>the file back to the local </a:t>
            </a:r>
            <a:r>
              <a:rPr lang="en-US" altLang="ko-KR" sz="2400" dirty="0" smtClean="0">
                <a:ea typeface="+mn-ea"/>
                <a:cs typeface="+mn-cs"/>
              </a:rPr>
              <a:t>filesystem</a:t>
            </a:r>
            <a:endParaRPr lang="en-US" altLang="ko-KR" sz="2400" dirty="0">
              <a:ea typeface="+mn-ea"/>
              <a:cs typeface="+mn-cs"/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762000" y="2514600"/>
            <a:ext cx="6629400" cy="714380"/>
          </a:xfrm>
          <a:prstGeom prst="roundRect">
            <a:avLst/>
          </a:prstGeom>
          <a:ln w="38100"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600" dirty="0" smtClean="0">
                <a:latin typeface="Corbel" pitchFamily="34" charset="0"/>
              </a:rPr>
              <a:t>%  </a:t>
            </a:r>
            <a:r>
              <a:rPr lang="en-US" altLang="ko-KR" sz="1600" b="1" dirty="0" err="1" smtClean="0">
                <a:latin typeface="Lucida Console" pitchFamily="49" charset="0"/>
              </a:rPr>
              <a:t>hadoop</a:t>
            </a:r>
            <a:r>
              <a:rPr lang="en-US" altLang="ko-KR" sz="1600" b="1" dirty="0" smtClean="0">
                <a:latin typeface="Lucida Console" pitchFamily="49" charset="0"/>
              </a:rPr>
              <a:t> </a:t>
            </a:r>
            <a:r>
              <a:rPr lang="en-US" altLang="ko-KR" sz="1600" b="1" dirty="0" err="1" smtClean="0">
                <a:latin typeface="Lucida Console" pitchFamily="49" charset="0"/>
              </a:rPr>
              <a:t>fs</a:t>
            </a:r>
            <a:r>
              <a:rPr lang="en-US" altLang="ko-KR" sz="1600" b="1" dirty="0" smtClean="0">
                <a:latin typeface="Lucida Console" pitchFamily="49" charset="0"/>
              </a:rPr>
              <a:t> –</a:t>
            </a:r>
            <a:r>
              <a:rPr lang="en-US" altLang="ko-KR" sz="1600" b="1" dirty="0" err="1" smtClean="0">
                <a:latin typeface="Lucida Console" pitchFamily="49" charset="0"/>
              </a:rPr>
              <a:t>copyFromLocal</a:t>
            </a:r>
            <a:r>
              <a:rPr lang="en-US" altLang="ko-KR" sz="1600" b="1" dirty="0" smtClean="0">
                <a:latin typeface="Lucida Console" pitchFamily="49" charset="0"/>
              </a:rPr>
              <a:t> input/docs/quangle.txt </a:t>
            </a:r>
            <a:r>
              <a:rPr lang="en-US" altLang="ko-KR" sz="1600" b="1" dirty="0" smtClean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hdfs://localhost</a:t>
            </a:r>
            <a:r>
              <a:rPr lang="en-US" altLang="ko-KR" sz="1600" b="1" dirty="0" smtClean="0">
                <a:latin typeface="Lucida Console" pitchFamily="49" charset="0"/>
              </a:rPr>
              <a:t>/user/tom/quangle.txt </a:t>
            </a:r>
            <a:endParaRPr lang="ko-KR" altLang="en-US" sz="1600" b="1" dirty="0">
              <a:latin typeface="Lucida Console" pitchFamily="49" charset="0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609600" y="4191000"/>
            <a:ext cx="7848600" cy="714380"/>
          </a:xfrm>
          <a:prstGeom prst="roundRect">
            <a:avLst/>
          </a:prstGeom>
          <a:ln w="38100"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600" dirty="0" smtClean="0">
                <a:latin typeface="Corbel" pitchFamily="34" charset="0"/>
              </a:rPr>
              <a:t>%  </a:t>
            </a:r>
            <a:r>
              <a:rPr lang="en-US" altLang="ko-KR" sz="1600" b="1" dirty="0" err="1" smtClean="0">
                <a:latin typeface="Lucida Console" pitchFamily="49" charset="0"/>
              </a:rPr>
              <a:t>hadoop</a:t>
            </a:r>
            <a:r>
              <a:rPr lang="en-US" altLang="ko-KR" sz="1600" b="1" dirty="0" smtClean="0">
                <a:latin typeface="Lucida Console" pitchFamily="49" charset="0"/>
              </a:rPr>
              <a:t> </a:t>
            </a:r>
            <a:r>
              <a:rPr lang="en-US" altLang="ko-KR" sz="1600" b="1" dirty="0" err="1" smtClean="0">
                <a:latin typeface="Lucida Console" pitchFamily="49" charset="0"/>
              </a:rPr>
              <a:t>fs</a:t>
            </a:r>
            <a:r>
              <a:rPr lang="en-US" altLang="ko-KR" sz="1600" b="1" dirty="0" smtClean="0">
                <a:latin typeface="Lucida Console" pitchFamily="49" charset="0"/>
              </a:rPr>
              <a:t> –</a:t>
            </a:r>
            <a:r>
              <a:rPr lang="en-US" altLang="ko-KR" sz="1600" b="1" dirty="0" err="1" smtClean="0">
                <a:latin typeface="Lucida Console" pitchFamily="49" charset="0"/>
              </a:rPr>
              <a:t>copyToLocal</a:t>
            </a:r>
            <a:r>
              <a:rPr lang="en-US" altLang="ko-KR" sz="1600" b="1" dirty="0" smtClean="0">
                <a:latin typeface="Lucida Console" pitchFamily="49" charset="0"/>
              </a:rPr>
              <a:t> </a:t>
            </a:r>
            <a:r>
              <a:rPr lang="en-US" altLang="ko-KR" sz="1600" b="1" dirty="0" smtClean="0">
                <a:solidFill>
                  <a:schemeClr val="bg1">
                    <a:lumMod val="65000"/>
                  </a:schemeClr>
                </a:solidFill>
                <a:latin typeface="Lucida Console" pitchFamily="49" charset="0"/>
              </a:rPr>
              <a:t>hdfs://localhost</a:t>
            </a:r>
            <a:r>
              <a:rPr lang="en-US" altLang="ko-KR" sz="1600" b="1" dirty="0" smtClean="0">
                <a:latin typeface="Lucida Console" pitchFamily="49" charset="0"/>
              </a:rPr>
              <a:t>/user/tom/quangle.txt </a:t>
            </a:r>
          </a:p>
          <a:p>
            <a:r>
              <a:rPr lang="en-US" altLang="ko-KR" sz="1600" b="1" dirty="0" err="1" smtClean="0">
                <a:latin typeface="Lucida Console" pitchFamily="49" charset="0"/>
              </a:rPr>
              <a:t>quangle.copy.txt</a:t>
            </a:r>
            <a:endParaRPr lang="ko-KR" altLang="en-US" sz="1600" b="1" dirty="0">
              <a:latin typeface="Lucida Console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528301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/>
        </p:nvSpPr>
        <p:spPr>
          <a:xfrm>
            <a:off x="978674" y="2370667"/>
            <a:ext cx="7239000" cy="1295400"/>
          </a:xfrm>
          <a:prstGeom prst="round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352800" y="1066800"/>
            <a:ext cx="4191000" cy="350838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Basic Filesystem 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Operations – 2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838200" y="1761069"/>
            <a:ext cx="7620000" cy="524932"/>
          </a:xfrm>
        </p:spPr>
        <p:txBody>
          <a:bodyPr>
            <a:normAutofit/>
          </a:bodyPr>
          <a:lstStyle/>
          <a:p>
            <a:pPr marL="342900" lvl="1" indent="-342900" eaLnBrk="1" hangingPunct="1">
              <a:spcBef>
                <a:spcPts val="12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200" dirty="0" smtClean="0">
                <a:ea typeface="+mn-ea"/>
                <a:cs typeface="+mn-cs"/>
              </a:rPr>
              <a:t>Check if two files are the same using MD5 message digest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905933" y="4648200"/>
            <a:ext cx="7467600" cy="1295400"/>
          </a:xfrm>
          <a:prstGeom prst="roundRect">
            <a:avLst/>
          </a:prstGeom>
          <a:ln w="38100"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300" dirty="0" smtClean="0">
                <a:latin typeface="Corbel" pitchFamily="34" charset="0"/>
              </a:rPr>
              <a:t>%  </a:t>
            </a:r>
            <a:r>
              <a:rPr lang="en-US" altLang="ko-KR" sz="1300" b="1" dirty="0" err="1" smtClean="0">
                <a:latin typeface="Lucida Console" pitchFamily="49" charset="0"/>
              </a:rPr>
              <a:t>hadoop</a:t>
            </a:r>
            <a:r>
              <a:rPr lang="en-US" altLang="ko-KR" sz="1300" b="1" dirty="0" smtClean="0">
                <a:latin typeface="Lucida Console" pitchFamily="49" charset="0"/>
              </a:rPr>
              <a:t> </a:t>
            </a:r>
            <a:r>
              <a:rPr lang="en-US" altLang="ko-KR" sz="1300" b="1" dirty="0" err="1" smtClean="0">
                <a:latin typeface="Lucida Console" pitchFamily="49" charset="0"/>
              </a:rPr>
              <a:t>fs</a:t>
            </a:r>
            <a:r>
              <a:rPr lang="en-US" altLang="ko-KR" sz="1300" b="1" dirty="0" smtClean="0">
                <a:latin typeface="Lucida Console" pitchFamily="49" charset="0"/>
              </a:rPr>
              <a:t> –</a:t>
            </a:r>
            <a:r>
              <a:rPr lang="en-US" altLang="ko-KR" sz="1300" b="1" dirty="0" err="1" smtClean="0">
                <a:latin typeface="Lucida Console" pitchFamily="49" charset="0"/>
              </a:rPr>
              <a:t>mkdir</a:t>
            </a:r>
            <a:r>
              <a:rPr lang="en-US" altLang="ko-KR" sz="1300" b="1" dirty="0" smtClean="0">
                <a:latin typeface="Lucida Console" pitchFamily="49" charset="0"/>
              </a:rPr>
              <a:t> books</a:t>
            </a:r>
          </a:p>
          <a:p>
            <a:r>
              <a:rPr lang="en-US" altLang="ko-KR" sz="1300" b="1" dirty="0" smtClean="0">
                <a:latin typeface="Lucida Console" pitchFamily="49" charset="0"/>
              </a:rPr>
              <a:t>% </a:t>
            </a:r>
            <a:r>
              <a:rPr lang="en-US" altLang="ko-KR" sz="1300" b="1" dirty="0" err="1" smtClean="0">
                <a:latin typeface="Lucida Console" pitchFamily="49" charset="0"/>
              </a:rPr>
              <a:t>hadoop</a:t>
            </a:r>
            <a:r>
              <a:rPr lang="en-US" altLang="ko-KR" sz="1300" b="1" dirty="0" smtClean="0">
                <a:latin typeface="Lucida Console" pitchFamily="49" charset="0"/>
              </a:rPr>
              <a:t> </a:t>
            </a:r>
            <a:r>
              <a:rPr lang="en-US" altLang="ko-KR" sz="1300" b="1" dirty="0" err="1" smtClean="0">
                <a:latin typeface="Lucida Console" pitchFamily="49" charset="0"/>
              </a:rPr>
              <a:t>fs</a:t>
            </a:r>
            <a:r>
              <a:rPr lang="en-US" altLang="ko-KR" sz="1300" b="1" dirty="0" smtClean="0">
                <a:latin typeface="Lucida Console" pitchFamily="49" charset="0"/>
              </a:rPr>
              <a:t> -</a:t>
            </a:r>
            <a:r>
              <a:rPr lang="en-US" altLang="ko-KR" sz="1300" b="1" dirty="0" err="1" smtClean="0">
                <a:latin typeface="Lucida Console" pitchFamily="49" charset="0"/>
              </a:rPr>
              <a:t>ls</a:t>
            </a:r>
            <a:r>
              <a:rPr lang="en-US" altLang="ko-KR" sz="1300" b="1" dirty="0" smtClean="0">
                <a:latin typeface="Lucida Console" pitchFamily="49" charset="0"/>
              </a:rPr>
              <a:t> .</a:t>
            </a:r>
          </a:p>
          <a:p>
            <a:r>
              <a:rPr lang="en-US" altLang="ko-KR" sz="1300" b="1" dirty="0" smtClean="0">
                <a:latin typeface="Lucida Console" pitchFamily="49" charset="0"/>
              </a:rPr>
              <a:t>Found 2 items</a:t>
            </a:r>
          </a:p>
          <a:p>
            <a:r>
              <a:rPr lang="en-US" altLang="ko-KR" sz="1300" b="1" dirty="0" err="1" smtClean="0">
                <a:latin typeface="Lucida Console" pitchFamily="49" charset="0"/>
              </a:rPr>
              <a:t>drwxr</a:t>
            </a:r>
            <a:r>
              <a:rPr lang="en-US" altLang="ko-KR" sz="1300" b="1" dirty="0" smtClean="0">
                <a:latin typeface="Lucida Console" pitchFamily="49" charset="0"/>
              </a:rPr>
              <a:t>-</a:t>
            </a:r>
            <a:r>
              <a:rPr lang="en-US" altLang="ko-KR" sz="1300" b="1" dirty="0" err="1" smtClean="0">
                <a:latin typeface="Lucida Console" pitchFamily="49" charset="0"/>
              </a:rPr>
              <a:t>xr</a:t>
            </a:r>
            <a:r>
              <a:rPr lang="en-US" altLang="ko-KR" sz="1300" b="1" dirty="0" smtClean="0">
                <a:latin typeface="Lucida Console" pitchFamily="49" charset="0"/>
              </a:rPr>
              <a:t>-x - tom </a:t>
            </a:r>
            <a:r>
              <a:rPr lang="en-US" altLang="ko-KR" sz="1300" b="1" dirty="0" err="1" smtClean="0">
                <a:latin typeface="Lucida Console" pitchFamily="49" charset="0"/>
              </a:rPr>
              <a:t>supergroup</a:t>
            </a:r>
            <a:r>
              <a:rPr lang="en-US" altLang="ko-KR" sz="1300" b="1" dirty="0" smtClean="0">
                <a:latin typeface="Lucida Console" pitchFamily="49" charset="0"/>
              </a:rPr>
              <a:t>   0 2009-04-02 22:41 /user/tom/books</a:t>
            </a:r>
          </a:p>
          <a:p>
            <a:r>
              <a:rPr lang="en-US" altLang="ko-KR" sz="1300" b="1" dirty="0" smtClean="0">
                <a:latin typeface="Lucida Console" pitchFamily="49" charset="0"/>
              </a:rPr>
              <a:t>-</a:t>
            </a:r>
            <a:r>
              <a:rPr lang="en-US" altLang="ko-KR" sz="1300" b="1" dirty="0" err="1" smtClean="0">
                <a:latin typeface="Lucida Console" pitchFamily="49" charset="0"/>
              </a:rPr>
              <a:t>rw</a:t>
            </a:r>
            <a:r>
              <a:rPr lang="en-US" altLang="ko-KR" sz="1300" b="1" dirty="0" smtClean="0">
                <a:latin typeface="Lucida Console" pitchFamily="49" charset="0"/>
              </a:rPr>
              <a:t>-r--r-- 1 tom </a:t>
            </a:r>
            <a:r>
              <a:rPr lang="en-US" altLang="ko-KR" sz="1300" b="1" dirty="0" err="1" smtClean="0">
                <a:latin typeface="Lucida Console" pitchFamily="49" charset="0"/>
              </a:rPr>
              <a:t>supergroup</a:t>
            </a:r>
            <a:r>
              <a:rPr lang="en-US" altLang="ko-KR" sz="1300" b="1" dirty="0" smtClean="0">
                <a:latin typeface="Lucida Console" pitchFamily="49" charset="0"/>
              </a:rPr>
              <a:t> 118 2009-04-02 22:29 /user/tom/quangle.txt</a:t>
            </a:r>
            <a:endParaRPr lang="ko-KR" altLang="en-US" sz="1300" b="1" dirty="0">
              <a:latin typeface="Lucida Console" pitchFamily="49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999" y="2438400"/>
            <a:ext cx="6910351" cy="1143000"/>
          </a:xfrm>
          <a:prstGeom prst="rect">
            <a:avLst/>
          </a:prstGeom>
        </p:spPr>
      </p:pic>
      <p:sp>
        <p:nvSpPr>
          <p:cNvPr id="10" name="내용 개체 틀 2"/>
          <p:cNvSpPr txBox="1">
            <a:spLocks/>
          </p:cNvSpPr>
          <p:nvPr/>
        </p:nvSpPr>
        <p:spPr>
          <a:xfrm>
            <a:off x="914400" y="4038600"/>
            <a:ext cx="4495800" cy="4572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lvl="1" indent="-342900" eaLnBrk="1" hangingPunct="1">
              <a:spcBef>
                <a:spcPts val="12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200" kern="0" dirty="0" smtClean="0">
                <a:ea typeface="+mn-ea"/>
                <a:cs typeface="+mn-cs"/>
              </a:rPr>
              <a:t>Creating a directory</a:t>
            </a:r>
            <a:endParaRPr lang="en-US" altLang="ko-KR" sz="2200" kern="0" dirty="0"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481186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657600" y="1066800"/>
            <a:ext cx="3505200" cy="350838"/>
          </a:xfrm>
        </p:spPr>
        <p:txBody>
          <a:bodyPr/>
          <a:lstStyle/>
          <a:p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Hadoop 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Filesystems – 1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6672337"/>
              </p:ext>
            </p:extLst>
          </p:nvPr>
        </p:nvGraphicFramePr>
        <p:xfrm>
          <a:off x="914400" y="1676400"/>
          <a:ext cx="7429552" cy="45332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44329"/>
                <a:gridCol w="1398942"/>
                <a:gridCol w="4286281"/>
              </a:tblGrid>
              <a:tr h="6429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 smtClean="0">
                          <a:solidFill>
                            <a:schemeClr val="tx1"/>
                          </a:solidFill>
                          <a:latin typeface="Corbel" pitchFamily="34" charset="0"/>
                        </a:rPr>
                        <a:t>Filesystem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Corbel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Corbel" pitchFamily="34" charset="0"/>
                        </a:rPr>
                        <a:t>URI scheme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Corbel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Corbel" pitchFamily="34" charset="0"/>
                        </a:rPr>
                        <a:t>Java implementation</a:t>
                      </a:r>
                    </a:p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Corbel" pitchFamily="34" charset="0"/>
                        </a:rPr>
                        <a:t>(all</a:t>
                      </a:r>
                      <a:r>
                        <a:rPr lang="en-US" altLang="ko-KR" baseline="0" dirty="0" smtClean="0">
                          <a:solidFill>
                            <a:schemeClr val="tx1"/>
                          </a:solidFill>
                          <a:latin typeface="Corbel" pitchFamily="34" charset="0"/>
                        </a:rPr>
                        <a:t> </a:t>
                      </a:r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Corbel" pitchFamily="34" charset="0"/>
                        </a:rPr>
                        <a:t>under </a:t>
                      </a:r>
                      <a:r>
                        <a:rPr lang="en-US" altLang="ko-KR" dirty="0" err="1" smtClean="0">
                          <a:solidFill>
                            <a:schemeClr val="tx1"/>
                          </a:solidFill>
                          <a:latin typeface="Corbel" pitchFamily="34" charset="0"/>
                        </a:rPr>
                        <a:t>org.apache.hadoop</a:t>
                      </a:r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Corbel" pitchFamily="34" charset="0"/>
                        </a:rPr>
                        <a:t>)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Corbel" pitchFamily="34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4062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Corbel" pitchFamily="34" charset="0"/>
                        </a:rPr>
                        <a:t>Local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Corb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i="1" dirty="0" smtClean="0">
                          <a:solidFill>
                            <a:schemeClr val="tx1"/>
                          </a:solidFill>
                          <a:latin typeface="Corbel" pitchFamily="34" charset="0"/>
                        </a:rPr>
                        <a:t>file</a:t>
                      </a:r>
                      <a:endParaRPr lang="ko-KR" altLang="en-US" i="1" dirty="0">
                        <a:solidFill>
                          <a:schemeClr val="tx1"/>
                        </a:solidFill>
                        <a:latin typeface="Corb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 smtClean="0">
                          <a:solidFill>
                            <a:schemeClr val="tx1"/>
                          </a:solidFill>
                          <a:latin typeface="Corbel" pitchFamily="34" charset="0"/>
                        </a:rPr>
                        <a:t>fs.LocalFileSystem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Corbel" pitchFamily="34" charset="0"/>
                      </a:endParaRPr>
                    </a:p>
                  </a:txBody>
                  <a:tcPr anchor="ctr"/>
                </a:tc>
              </a:tr>
              <a:tr h="4062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Corbel" pitchFamily="34" charset="0"/>
                        </a:rPr>
                        <a:t>HDFS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Corb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i="1" dirty="0" err="1" smtClean="0">
                          <a:solidFill>
                            <a:schemeClr val="tx1"/>
                          </a:solidFill>
                          <a:latin typeface="Corbel" pitchFamily="34" charset="0"/>
                        </a:rPr>
                        <a:t>hdfs</a:t>
                      </a:r>
                      <a:endParaRPr lang="ko-KR" altLang="en-US" i="1" dirty="0">
                        <a:solidFill>
                          <a:schemeClr val="tx1"/>
                        </a:solidFill>
                        <a:latin typeface="Corb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 smtClean="0">
                          <a:solidFill>
                            <a:schemeClr val="tx1"/>
                          </a:solidFill>
                          <a:latin typeface="Corbel" pitchFamily="34" charset="0"/>
                        </a:rPr>
                        <a:t>hdfs.DistributedFileSystem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Corbel" pitchFamily="34" charset="0"/>
                      </a:endParaRPr>
                    </a:p>
                  </a:txBody>
                  <a:tcPr anchor="ctr"/>
                </a:tc>
              </a:tr>
              <a:tr h="4062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Corbel" pitchFamily="34" charset="0"/>
                        </a:rPr>
                        <a:t>HFTP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Corb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i="1" dirty="0" err="1" smtClean="0">
                          <a:solidFill>
                            <a:schemeClr val="tx1"/>
                          </a:solidFill>
                          <a:latin typeface="Corbel" pitchFamily="34" charset="0"/>
                        </a:rPr>
                        <a:t>hftp</a:t>
                      </a:r>
                      <a:endParaRPr lang="ko-KR" altLang="en-US" i="1" dirty="0">
                        <a:solidFill>
                          <a:schemeClr val="tx1"/>
                        </a:solidFill>
                        <a:latin typeface="Corb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 smtClean="0">
                          <a:solidFill>
                            <a:schemeClr val="tx1"/>
                          </a:solidFill>
                          <a:latin typeface="Corbel" pitchFamily="34" charset="0"/>
                        </a:rPr>
                        <a:t>hdfs.HftpFileSystem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Corbel" pitchFamily="34" charset="0"/>
                      </a:endParaRPr>
                    </a:p>
                  </a:txBody>
                  <a:tcPr anchor="ctr"/>
                </a:tc>
              </a:tr>
              <a:tr h="4062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Corbel" pitchFamily="34" charset="0"/>
                        </a:rPr>
                        <a:t>HSFTP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Corb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i="1" dirty="0" err="1" smtClean="0">
                          <a:solidFill>
                            <a:schemeClr val="tx1"/>
                          </a:solidFill>
                          <a:latin typeface="Corbel" pitchFamily="34" charset="0"/>
                        </a:rPr>
                        <a:t>hsftp</a:t>
                      </a:r>
                      <a:endParaRPr lang="ko-KR" altLang="en-US" i="1" dirty="0">
                        <a:solidFill>
                          <a:schemeClr val="tx1"/>
                        </a:solidFill>
                        <a:latin typeface="Corb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 smtClean="0">
                          <a:solidFill>
                            <a:schemeClr val="tx1"/>
                          </a:solidFill>
                          <a:latin typeface="Corbel" pitchFamily="34" charset="0"/>
                        </a:rPr>
                        <a:t>hdfs.HsftpFileSystem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Corbel" pitchFamily="34" charset="0"/>
                      </a:endParaRPr>
                    </a:p>
                  </a:txBody>
                  <a:tcPr anchor="ctr"/>
                </a:tc>
              </a:tr>
              <a:tr h="4062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Corbel" pitchFamily="34" charset="0"/>
                        </a:rPr>
                        <a:t>HAR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Corb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i="1" dirty="0" err="1" smtClean="0">
                          <a:solidFill>
                            <a:schemeClr val="tx1"/>
                          </a:solidFill>
                          <a:latin typeface="Corbel" pitchFamily="34" charset="0"/>
                        </a:rPr>
                        <a:t>har</a:t>
                      </a:r>
                      <a:endParaRPr lang="ko-KR" altLang="en-US" i="1" dirty="0">
                        <a:solidFill>
                          <a:schemeClr val="tx1"/>
                        </a:solidFill>
                        <a:latin typeface="Corb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 smtClean="0">
                          <a:solidFill>
                            <a:schemeClr val="tx1"/>
                          </a:solidFill>
                          <a:latin typeface="Corbel" pitchFamily="34" charset="0"/>
                        </a:rPr>
                        <a:t>fs.HarFileSystem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Corbel" pitchFamily="34" charset="0"/>
                      </a:endParaRPr>
                    </a:p>
                  </a:txBody>
                  <a:tcPr anchor="ctr"/>
                </a:tc>
              </a:tr>
              <a:tr h="4062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Corbel" pitchFamily="34" charset="0"/>
                        </a:rPr>
                        <a:t>KFS (Cloud-Store)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Corb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i="1" dirty="0" err="1" smtClean="0">
                          <a:solidFill>
                            <a:schemeClr val="tx1"/>
                          </a:solidFill>
                          <a:latin typeface="Corbel" pitchFamily="34" charset="0"/>
                        </a:rPr>
                        <a:t>kfs</a:t>
                      </a:r>
                      <a:endParaRPr lang="ko-KR" altLang="en-US" i="1" dirty="0">
                        <a:solidFill>
                          <a:schemeClr val="tx1"/>
                        </a:solidFill>
                        <a:latin typeface="Corb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 smtClean="0">
                          <a:solidFill>
                            <a:schemeClr val="tx1"/>
                          </a:solidFill>
                          <a:latin typeface="Corbel" pitchFamily="34" charset="0"/>
                        </a:rPr>
                        <a:t>fs.kfs.KosmosFileSystem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Corbel" pitchFamily="34" charset="0"/>
                      </a:endParaRPr>
                    </a:p>
                  </a:txBody>
                  <a:tcPr anchor="ctr"/>
                </a:tc>
              </a:tr>
              <a:tr h="4062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Corbel" pitchFamily="34" charset="0"/>
                        </a:rPr>
                        <a:t>FTP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Corb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i="1" dirty="0" smtClean="0">
                          <a:solidFill>
                            <a:schemeClr val="tx1"/>
                          </a:solidFill>
                          <a:latin typeface="Corbel" pitchFamily="34" charset="0"/>
                        </a:rPr>
                        <a:t>ftp</a:t>
                      </a:r>
                      <a:endParaRPr lang="ko-KR" altLang="en-US" i="1" dirty="0">
                        <a:solidFill>
                          <a:schemeClr val="tx1"/>
                        </a:solidFill>
                        <a:latin typeface="Corb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 smtClean="0">
                          <a:solidFill>
                            <a:schemeClr val="tx1"/>
                          </a:solidFill>
                          <a:latin typeface="Corbel" pitchFamily="34" charset="0"/>
                        </a:rPr>
                        <a:t>fs.ftp.FTPFileSystem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Corbel" pitchFamily="34" charset="0"/>
                      </a:endParaRPr>
                    </a:p>
                  </a:txBody>
                  <a:tcPr anchor="ctr"/>
                </a:tc>
              </a:tr>
              <a:tr h="4062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Corbel" pitchFamily="34" charset="0"/>
                        </a:rPr>
                        <a:t>S3 (native)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Corb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i="1" dirty="0" smtClean="0">
                          <a:solidFill>
                            <a:schemeClr val="tx1"/>
                          </a:solidFill>
                          <a:latin typeface="Corbel" pitchFamily="34" charset="0"/>
                        </a:rPr>
                        <a:t>s3n</a:t>
                      </a:r>
                      <a:endParaRPr lang="ko-KR" altLang="en-US" i="1" dirty="0">
                        <a:solidFill>
                          <a:schemeClr val="tx1"/>
                        </a:solidFill>
                        <a:latin typeface="Corb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Corbel" pitchFamily="34" charset="0"/>
                        </a:rPr>
                        <a:t>fs.s3native.NativeS3FileSystem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Corbel" pitchFamily="34" charset="0"/>
                      </a:endParaRPr>
                    </a:p>
                  </a:txBody>
                  <a:tcPr anchor="ctr"/>
                </a:tc>
              </a:tr>
              <a:tr h="4062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Corbel" pitchFamily="34" charset="0"/>
                        </a:rPr>
                        <a:t>S3</a:t>
                      </a:r>
                      <a:r>
                        <a:rPr lang="en-US" altLang="ko-KR" baseline="0" dirty="0" smtClean="0">
                          <a:solidFill>
                            <a:schemeClr val="tx1"/>
                          </a:solidFill>
                          <a:latin typeface="Corbel" pitchFamily="34" charset="0"/>
                        </a:rPr>
                        <a:t> (block-based)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Corb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i="1" dirty="0" smtClean="0">
                          <a:solidFill>
                            <a:schemeClr val="tx1"/>
                          </a:solidFill>
                          <a:latin typeface="Corbel" pitchFamily="34" charset="0"/>
                        </a:rPr>
                        <a:t>s3</a:t>
                      </a:r>
                      <a:endParaRPr lang="ko-KR" altLang="en-US" i="1" dirty="0">
                        <a:solidFill>
                          <a:schemeClr val="tx1"/>
                        </a:solidFill>
                        <a:latin typeface="Corbe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Corbel" pitchFamily="34" charset="0"/>
                        </a:rPr>
                        <a:t>fs.s3.S3FileSystem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Corbel" pitchFamily="34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728659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"/>
          <p:cNvSpPr txBox="1">
            <a:spLocks/>
          </p:cNvSpPr>
          <p:nvPr/>
        </p:nvSpPr>
        <p:spPr>
          <a:xfrm>
            <a:off x="1066800" y="3657600"/>
            <a:ext cx="6915152" cy="1981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1" indent="-342900">
              <a:spcBef>
                <a:spcPts val="12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200" dirty="0" smtClean="0">
                <a:latin typeface="+mn-lt"/>
              </a:rPr>
              <a:t>HDFS </a:t>
            </a:r>
            <a:r>
              <a:rPr lang="en-US" altLang="ko-KR" sz="2200" dirty="0">
                <a:latin typeface="+mn-lt"/>
              </a:rPr>
              <a:t>is just one implementation of Hadoop </a:t>
            </a:r>
            <a:r>
              <a:rPr lang="en-US" altLang="ko-KR" sz="2200" dirty="0" smtClean="0">
                <a:latin typeface="+mn-lt"/>
              </a:rPr>
              <a:t>filesystem.</a:t>
            </a:r>
            <a:endParaRPr lang="en-US" altLang="ko-KR" sz="2200" dirty="0">
              <a:latin typeface="+mn-lt"/>
            </a:endParaRPr>
          </a:p>
          <a:p>
            <a:pPr marL="342900" marR="0" lvl="1" indent="-342900" defTabSz="914400" eaLnBrk="1" latinLnBrk="1" hangingPunct="1">
              <a:lnSpc>
                <a:spcPct val="100000"/>
              </a:lnSpc>
              <a:spcBef>
                <a:spcPts val="1200"/>
              </a:spcBef>
              <a:buClr>
                <a:schemeClr val="accent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US" altLang="ko-KR" sz="2200" dirty="0">
                <a:latin typeface="+mn-lt"/>
              </a:rPr>
              <a:t>You can run MapReduce programs on any of these filesystems, but HDFS is better to process large volumes of </a:t>
            </a:r>
            <a:r>
              <a:rPr lang="en-US" altLang="ko-KR" sz="2200" dirty="0" smtClean="0">
                <a:latin typeface="+mn-lt"/>
              </a:rPr>
              <a:t>data.</a:t>
            </a:r>
            <a:endParaRPr lang="en-US" altLang="ko-KR" sz="2200" dirty="0">
              <a:latin typeface="+mn-lt"/>
            </a:endParaRPr>
          </a:p>
        </p:txBody>
      </p:sp>
      <p:sp>
        <p:nvSpPr>
          <p:cNvPr id="5" name="직사각형 12"/>
          <p:cNvSpPr/>
          <p:nvPr/>
        </p:nvSpPr>
        <p:spPr>
          <a:xfrm>
            <a:off x="1066800" y="2133600"/>
            <a:ext cx="73152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1" indent="-342900">
              <a:spcBef>
                <a:spcPts val="12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200" dirty="0">
                <a:latin typeface="+mn-lt"/>
              </a:rPr>
              <a:t>Listing the files in the root directory of the local </a:t>
            </a:r>
            <a:r>
              <a:rPr lang="en-US" altLang="ko-KR" sz="2200" dirty="0" smtClean="0">
                <a:latin typeface="+mn-lt"/>
              </a:rPr>
              <a:t>filesystem.</a:t>
            </a:r>
            <a:endParaRPr lang="en-US" altLang="ko-KR" sz="2200" dirty="0">
              <a:latin typeface="+mn-lt"/>
            </a:endParaRPr>
          </a:p>
        </p:txBody>
      </p:sp>
      <p:sp>
        <p:nvSpPr>
          <p:cNvPr id="6" name="모서리가 둥근 직사각형 11"/>
          <p:cNvSpPr/>
          <p:nvPr/>
        </p:nvSpPr>
        <p:spPr>
          <a:xfrm>
            <a:off x="1524000" y="2743200"/>
            <a:ext cx="6223000" cy="428628"/>
          </a:xfrm>
          <a:prstGeom prst="roundRect">
            <a:avLst/>
          </a:prstGeom>
          <a:ln w="38100"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dirty="0" smtClean="0">
                <a:latin typeface="Corbel" pitchFamily="34" charset="0"/>
              </a:rPr>
              <a:t>%  </a:t>
            </a:r>
            <a:r>
              <a:rPr lang="en-US" altLang="ko-KR" sz="1700" b="1" dirty="0" err="1" smtClean="0">
                <a:latin typeface="Lucida Console" pitchFamily="49" charset="0"/>
              </a:rPr>
              <a:t>hadoop</a:t>
            </a:r>
            <a:r>
              <a:rPr lang="en-US" altLang="ko-KR" sz="1700" b="1" dirty="0" smtClean="0">
                <a:latin typeface="Lucida Console" pitchFamily="49" charset="0"/>
              </a:rPr>
              <a:t> </a:t>
            </a:r>
            <a:r>
              <a:rPr lang="en-US" altLang="ko-KR" sz="1700" b="1" dirty="0" err="1" smtClean="0">
                <a:latin typeface="Lucida Console" pitchFamily="49" charset="0"/>
              </a:rPr>
              <a:t>fs</a:t>
            </a:r>
            <a:r>
              <a:rPr lang="en-US" altLang="ko-KR" sz="1700" b="1" dirty="0" smtClean="0">
                <a:latin typeface="Lucida Console" pitchFamily="49" charset="0"/>
              </a:rPr>
              <a:t> –</a:t>
            </a:r>
            <a:r>
              <a:rPr lang="en-US" altLang="ko-KR" sz="1700" b="1" dirty="0" err="1" smtClean="0">
                <a:latin typeface="Lucida Console" pitchFamily="49" charset="0"/>
              </a:rPr>
              <a:t>ls</a:t>
            </a:r>
            <a:r>
              <a:rPr lang="en-US" altLang="ko-KR" sz="1700" b="1" dirty="0" smtClean="0">
                <a:latin typeface="Lucida Console" pitchFamily="49" charset="0"/>
              </a:rPr>
              <a:t> file:///</a:t>
            </a:r>
            <a:endParaRPr lang="ko-KR" altLang="en-US" sz="1700" b="1" dirty="0">
              <a:latin typeface="Lucida Console" pitchFamily="49" charset="0"/>
            </a:endParaRPr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3657600" y="1066800"/>
            <a:ext cx="35052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Hadoop Filesystems – 2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285873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"/>
          <p:cNvSpPr txBox="1">
            <a:spLocks/>
          </p:cNvSpPr>
          <p:nvPr/>
        </p:nvSpPr>
        <p:spPr>
          <a:xfrm>
            <a:off x="685800" y="2379133"/>
            <a:ext cx="7702552" cy="457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 marL="342900" lvl="1" indent="-342900">
              <a:spcBef>
                <a:spcPts val="12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200" dirty="0">
                <a:latin typeface="+mn-lt"/>
              </a:rPr>
              <a:t>Using java.net.URL object to open a </a:t>
            </a:r>
            <a:r>
              <a:rPr lang="en-US" altLang="ko-KR" sz="2200" dirty="0" err="1">
                <a:latin typeface="+mn-lt"/>
              </a:rPr>
              <a:t>tream</a:t>
            </a:r>
            <a:r>
              <a:rPr lang="en-US" altLang="ko-KR" sz="2200" dirty="0">
                <a:latin typeface="+mn-lt"/>
              </a:rPr>
              <a:t> to read the data from</a:t>
            </a:r>
          </a:p>
          <a:p>
            <a:pPr marL="342900" lvl="0" indent="-342900">
              <a:spcBef>
                <a:spcPct val="20000"/>
              </a:spcBef>
              <a:spcAft>
                <a:spcPts val="600"/>
              </a:spcAft>
              <a:buClr>
                <a:srgbClr val="C00000"/>
              </a:buClr>
              <a:buFont typeface="Wingdings" pitchFamily="2" charset="2"/>
              <a:buChar char="§"/>
            </a:pPr>
            <a:endParaRPr lang="en-US" altLang="ko-KR" sz="2800" dirty="0" smtClean="0">
              <a:latin typeface="Corbel" pitchFamily="34" charset="0"/>
            </a:endParaRPr>
          </a:p>
        </p:txBody>
      </p:sp>
      <p:sp>
        <p:nvSpPr>
          <p:cNvPr id="16" name="제목 1"/>
          <p:cNvSpPr>
            <a:spLocks noGrp="1"/>
          </p:cNvSpPr>
          <p:nvPr>
            <p:ph type="title"/>
          </p:nvPr>
        </p:nvSpPr>
        <p:spPr>
          <a:xfrm>
            <a:off x="3663952" y="1066800"/>
            <a:ext cx="3505200" cy="350838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Open a Data Stream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778" y="3124200"/>
            <a:ext cx="6120596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56120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663952" y="1066800"/>
            <a:ext cx="3505200" cy="350838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Read Data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927985" y="1832708"/>
            <a:ext cx="6515104" cy="4270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1" indent="-342900">
              <a:spcBef>
                <a:spcPts val="12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200" dirty="0" smtClean="0">
                <a:latin typeface="+mn-lt"/>
              </a:rPr>
              <a:t>Displaying </a:t>
            </a:r>
            <a:r>
              <a:rPr lang="en-US" altLang="ko-KR" sz="2200" dirty="0">
                <a:latin typeface="+mn-lt"/>
              </a:rPr>
              <a:t>a file like UNIX cat command</a:t>
            </a: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C00000"/>
              </a:buClr>
              <a:buSzTx/>
              <a:tabLst/>
              <a:defRPr/>
            </a:pPr>
            <a:endParaRPr kumimoji="0" lang="en-US" altLang="ko-KR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rbel" pitchFamily="34" charset="0"/>
              <a:ea typeface="+mn-ea"/>
              <a:cs typeface="+mn-cs"/>
            </a:endParaRPr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5108" y="2438400"/>
            <a:ext cx="6297981" cy="360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모서리가 둥근 직사각형 11"/>
          <p:cNvSpPr/>
          <p:nvPr/>
        </p:nvSpPr>
        <p:spPr>
          <a:xfrm>
            <a:off x="1532467" y="4461933"/>
            <a:ext cx="3605487" cy="228600"/>
          </a:xfrm>
          <a:prstGeom prst="roundRect">
            <a:avLst/>
          </a:prstGeom>
          <a:solidFill>
            <a:srgbClr val="FF0000">
              <a:alpha val="10000"/>
            </a:srgb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1456267" y="3093308"/>
            <a:ext cx="6096000" cy="280800"/>
          </a:xfrm>
          <a:prstGeom prst="roundRect">
            <a:avLst/>
          </a:prstGeom>
          <a:solidFill>
            <a:srgbClr val="FF0000">
              <a:alpha val="10000"/>
            </a:srgb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화살표 연결선 14"/>
          <p:cNvCxnSpPr/>
          <p:nvPr/>
        </p:nvCxnSpPr>
        <p:spPr>
          <a:xfrm flipH="1">
            <a:off x="4890831" y="2667000"/>
            <a:ext cx="357190" cy="41753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/>
        </p:nvSpPr>
        <p:spPr>
          <a:xfrm>
            <a:off x="5266267" y="2365886"/>
            <a:ext cx="2837636" cy="52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700"/>
              </a:lnSpc>
            </a:pPr>
            <a:r>
              <a:rPr lang="en-US" altLang="ko-KR" sz="1600" dirty="0" smtClean="0">
                <a:latin typeface="Corbel" pitchFamily="34" charset="0"/>
              </a:rPr>
              <a:t>This method can only be called </a:t>
            </a:r>
            <a:br>
              <a:rPr lang="en-US" altLang="ko-KR" sz="1600" dirty="0" smtClean="0">
                <a:latin typeface="Corbel" pitchFamily="34" charset="0"/>
              </a:rPr>
            </a:br>
            <a:r>
              <a:rPr lang="en-US" altLang="ko-KR" sz="1600" dirty="0" smtClean="0">
                <a:latin typeface="Corbel" pitchFamily="34" charset="0"/>
              </a:rPr>
              <a:t>just once per JVM</a:t>
            </a:r>
            <a:endParaRPr lang="ko-KR" altLang="en-US" sz="1600" dirty="0">
              <a:latin typeface="Corbe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00954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505200" y="1066800"/>
            <a:ext cx="38100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A Sample Run</a:t>
            </a:r>
            <a:endParaRPr lang="ko-KR" altLang="en-US" dirty="0"/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685799" y="2286000"/>
            <a:ext cx="3894667" cy="53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1" indent="-342900">
              <a:spcBef>
                <a:spcPts val="12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dirty="0" smtClean="0">
                <a:latin typeface="+mn-lt"/>
              </a:rPr>
              <a:t>Output of A Sample Run</a:t>
            </a:r>
            <a:endParaRPr kumimoji="0" lang="en-US" altLang="ko-KR" sz="2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rbel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7491" y="2971800"/>
            <a:ext cx="7985952" cy="1800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161551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1981200"/>
            <a:ext cx="6267450" cy="384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048000" y="1066800"/>
            <a:ext cx="4729178" cy="381000"/>
          </a:xfrm>
        </p:spPr>
        <p:txBody>
          <a:bodyPr/>
          <a:lstStyle/>
          <a:p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Reading Data Using the </a:t>
            </a:r>
            <a:r>
              <a:rPr lang="en-US" altLang="ko-KR" sz="1600" b="1" kern="1200" dirty="0" err="1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FileSystem</a:t>
            </a:r>
            <a:endParaRPr lang="ko-KR" altLang="en-US" dirty="0"/>
          </a:p>
        </p:txBody>
      </p:sp>
      <p:sp>
        <p:nvSpPr>
          <p:cNvPr id="12" name="모서리가 둥근 직사각형 11"/>
          <p:cNvSpPr/>
          <p:nvPr/>
        </p:nvSpPr>
        <p:spPr>
          <a:xfrm>
            <a:off x="1888067" y="4016619"/>
            <a:ext cx="3069702" cy="280800"/>
          </a:xfrm>
          <a:prstGeom prst="roundRect">
            <a:avLst/>
          </a:prstGeom>
          <a:solidFill>
            <a:srgbClr val="FF0000">
              <a:alpha val="10000"/>
            </a:srgb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1752600" y="3279264"/>
            <a:ext cx="5715040" cy="280800"/>
          </a:xfrm>
          <a:prstGeom prst="roundRect">
            <a:avLst/>
          </a:prstGeom>
          <a:solidFill>
            <a:srgbClr val="FF0000">
              <a:alpha val="10000"/>
            </a:srgb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932631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505200" y="1066800"/>
            <a:ext cx="3824984" cy="304800"/>
          </a:xfrm>
        </p:spPr>
        <p:txBody>
          <a:bodyPr/>
          <a:lstStyle/>
          <a:p>
            <a:r>
              <a:rPr lang="en-US" altLang="ko-KR" sz="1600" b="1" kern="1200" dirty="0" err="1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FSDataInputStream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14" name="내용 개체 틀 2"/>
          <p:cNvSpPr txBox="1">
            <a:spLocks/>
          </p:cNvSpPr>
          <p:nvPr/>
        </p:nvSpPr>
        <p:spPr>
          <a:xfrm>
            <a:off x="804498" y="1600200"/>
            <a:ext cx="6534152" cy="50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1" indent="-342900">
              <a:spcBef>
                <a:spcPts val="12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200" dirty="0">
                <a:latin typeface="+mn-lt"/>
              </a:rPr>
              <a:t>A specialization of </a:t>
            </a:r>
            <a:r>
              <a:rPr lang="en-US" altLang="ko-KR" sz="2200" dirty="0" err="1">
                <a:latin typeface="+mn-lt"/>
              </a:rPr>
              <a:t>java.io.DataInputStream</a:t>
            </a:r>
            <a:endParaRPr lang="en-US" altLang="ko-KR" sz="2200" dirty="0">
              <a:latin typeface="+mn-lt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C00000"/>
              </a:buClr>
              <a:buSzTx/>
              <a:tabLst/>
              <a:defRPr/>
            </a:pPr>
            <a:endParaRPr kumimoji="0" lang="en-US" altLang="ko-KR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rbel" pitchFamily="34" charset="0"/>
              <a:ea typeface="+mn-ea"/>
              <a:cs typeface="+mn-cs"/>
            </a:endParaRPr>
          </a:p>
        </p:txBody>
      </p:sp>
      <p:pic>
        <p:nvPicPr>
          <p:cNvPr id="16" name="그림 15" descr="그림 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45529" y="2201549"/>
            <a:ext cx="6501588" cy="1726984"/>
          </a:xfrm>
          <a:prstGeom prst="rect">
            <a:avLst/>
          </a:prstGeom>
        </p:spPr>
      </p:pic>
      <p:pic>
        <p:nvPicPr>
          <p:cNvPr id="17" name="그림 16" descr="그림 5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45529" y="4191000"/>
            <a:ext cx="7301588" cy="149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8616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3505200" y="1066800"/>
            <a:ext cx="3824984" cy="304800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Seek – p.58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2209800"/>
            <a:ext cx="5781675" cy="4018303"/>
          </a:xfrm>
          <a:prstGeom prst="rect">
            <a:avLst/>
          </a:prstGeom>
        </p:spPr>
      </p:pic>
      <p:sp>
        <p:nvSpPr>
          <p:cNvPr id="10" name="내용 개체 틀 2"/>
          <p:cNvSpPr txBox="1">
            <a:spLocks/>
          </p:cNvSpPr>
          <p:nvPr/>
        </p:nvSpPr>
        <p:spPr>
          <a:xfrm>
            <a:off x="1219200" y="1684867"/>
            <a:ext cx="6534152" cy="50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1" indent="-342900">
              <a:spcBef>
                <a:spcPts val="12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200" dirty="0" smtClean="0">
                <a:latin typeface="+mn-lt"/>
              </a:rPr>
              <a:t>Display files on standard output twice by using seek</a:t>
            </a:r>
            <a:endParaRPr lang="en-US" altLang="ko-KR" sz="2200" dirty="0">
              <a:latin typeface="+mn-lt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C00000"/>
              </a:buClr>
              <a:buSzTx/>
              <a:tabLst/>
              <a:defRPr/>
            </a:pPr>
            <a:endParaRPr kumimoji="0" lang="en-US" altLang="ko-KR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rbel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277627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0" y="1066800"/>
            <a:ext cx="3962400" cy="350838"/>
          </a:xfrm>
        </p:spPr>
        <p:txBody>
          <a:bodyPr/>
          <a:lstStyle/>
          <a:p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Writing Data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18" name="그림 17" descr="그림 9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60448" y="2286000"/>
            <a:ext cx="5786477" cy="995523"/>
          </a:xfrm>
          <a:prstGeom prst="rect">
            <a:avLst/>
          </a:prstGeom>
        </p:spPr>
      </p:pic>
      <p:pic>
        <p:nvPicPr>
          <p:cNvPr id="19" name="그림 18" descr="그림 10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91656" y="3352800"/>
            <a:ext cx="7206975" cy="3000372"/>
          </a:xfrm>
          <a:prstGeom prst="rect">
            <a:avLst/>
          </a:prstGeom>
        </p:spPr>
      </p:pic>
      <p:sp>
        <p:nvSpPr>
          <p:cNvPr id="20" name="모서리가 둥근 직사각형 19"/>
          <p:cNvSpPr/>
          <p:nvPr/>
        </p:nvSpPr>
        <p:spPr>
          <a:xfrm>
            <a:off x="1227666" y="4013200"/>
            <a:ext cx="6358467" cy="1176346"/>
          </a:xfrm>
          <a:prstGeom prst="roundRect">
            <a:avLst/>
          </a:prstGeom>
          <a:solidFill>
            <a:srgbClr val="FF0000">
              <a:alpha val="10000"/>
            </a:srgb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1077381" y="1718733"/>
            <a:ext cx="6534152" cy="431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1" indent="-342900">
              <a:spcBef>
                <a:spcPts val="12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000" dirty="0" smtClean="0">
                <a:latin typeface="+mn-lt"/>
              </a:rPr>
              <a:t>Copy a local file to a Hadoop filesystem</a:t>
            </a:r>
            <a:endParaRPr lang="en-US" altLang="ko-KR" sz="2000" dirty="0">
              <a:latin typeface="+mn-lt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C00000"/>
              </a:buClr>
              <a:buSzTx/>
              <a:tabLst/>
              <a:defRPr/>
            </a:pPr>
            <a:endParaRPr kumimoji="0" lang="en-US" altLang="ko-KR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rbel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471105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352800" y="1066800"/>
            <a:ext cx="4038600" cy="350838"/>
          </a:xfrm>
        </p:spPr>
        <p:txBody>
          <a:bodyPr/>
          <a:lstStyle/>
          <a:p>
            <a:r>
              <a:rPr lang="en-US" altLang="ko-KR" sz="1600" b="1" kern="1200" dirty="0" err="1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FSDataOutputStream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470959" y="1904999"/>
            <a:ext cx="8153400" cy="535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1" indent="-342900">
              <a:spcBef>
                <a:spcPts val="12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200" dirty="0" smtClean="0">
                <a:latin typeface="+mn-lt"/>
              </a:rPr>
              <a:t>The create() method on </a:t>
            </a:r>
            <a:r>
              <a:rPr lang="en-US" altLang="ko-KR" sz="2200" dirty="0" err="1" smtClean="0">
                <a:latin typeface="+mn-lt"/>
              </a:rPr>
              <a:t>FileSystem</a:t>
            </a:r>
            <a:r>
              <a:rPr lang="en-US" altLang="ko-KR" sz="2200" dirty="0" smtClean="0">
                <a:latin typeface="+mn-lt"/>
              </a:rPr>
              <a:t> returns an </a:t>
            </a:r>
            <a:r>
              <a:rPr lang="en-US" altLang="ko-KR" sz="2200" dirty="0" err="1" smtClean="0">
                <a:latin typeface="+mn-lt"/>
              </a:rPr>
              <a:t>FSDataOutputStream</a:t>
            </a:r>
            <a:endParaRPr lang="en-US" altLang="ko-KR" sz="2800" dirty="0" smtClean="0">
              <a:latin typeface="Corbel" pitchFamily="34" charset="0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C00000"/>
              </a:buClr>
              <a:buSzTx/>
              <a:tabLst/>
              <a:defRPr/>
            </a:pPr>
            <a:endParaRPr kumimoji="0" lang="en-US" altLang="ko-KR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rbel" pitchFamily="34" charset="0"/>
              <a:ea typeface="+mn-ea"/>
              <a:cs typeface="+mn-cs"/>
            </a:endParaRPr>
          </a:p>
        </p:txBody>
      </p:sp>
      <p:pic>
        <p:nvPicPr>
          <p:cNvPr id="10" name="그림 9" descr="그림 1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09072" y="2590800"/>
            <a:ext cx="7877174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66330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3505200" y="1066800"/>
            <a:ext cx="3824984" cy="304800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Show File Status Test – p.62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1752600" y="3352800"/>
            <a:ext cx="5410200" cy="5080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lvl="1" indent="-342900">
              <a:spcBef>
                <a:spcPts val="12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800" dirty="0" smtClean="0">
                <a:latin typeface="+mn-lt"/>
              </a:rPr>
              <a:t>Example 3-5: </a:t>
            </a:r>
            <a:r>
              <a:rPr lang="en-US" altLang="ko-KR" sz="2800" dirty="0" err="1" smtClean="0">
                <a:latin typeface="+mn-lt"/>
              </a:rPr>
              <a:t>ShowFileStatusTest</a:t>
            </a:r>
            <a:endParaRPr lang="en-US" altLang="ko-KR" sz="2800" dirty="0">
              <a:latin typeface="+mn-lt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C00000"/>
              </a:buClr>
              <a:buSzTx/>
              <a:tabLst/>
              <a:defRPr/>
            </a:pPr>
            <a:endParaRPr kumimoji="0" lang="en-US" altLang="ko-KR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rbel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585484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276600" cy="350838"/>
          </a:xfrm>
        </p:spPr>
        <p:txBody>
          <a:bodyPr/>
          <a:lstStyle/>
          <a:p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Directories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770467" y="2286000"/>
            <a:ext cx="7634318" cy="2895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1" indent="-342900">
              <a:spcBef>
                <a:spcPts val="12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dirty="0">
                <a:latin typeface="+mn-lt"/>
              </a:rPr>
              <a:t>Creating a directory</a:t>
            </a:r>
          </a:p>
          <a:p>
            <a:pPr marL="0" lvl="1">
              <a:spcBef>
                <a:spcPts val="1200"/>
              </a:spcBef>
              <a:buClr>
                <a:schemeClr val="accent2"/>
              </a:buClr>
              <a:defRPr/>
            </a:pPr>
            <a:endParaRPr lang="en-US" altLang="ko-KR" sz="2200" dirty="0" smtClean="0">
              <a:latin typeface="+mn-lt"/>
            </a:endParaRPr>
          </a:p>
          <a:p>
            <a:pPr marL="342900" lvl="1" indent="-342900">
              <a:spcBef>
                <a:spcPts val="18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dirty="0">
                <a:latin typeface="+mn-lt"/>
              </a:rPr>
              <a:t>Often, you don’t need to explicitly create a directory.</a:t>
            </a:r>
          </a:p>
          <a:p>
            <a:pPr marL="342900" lvl="1" indent="-342900">
              <a:spcBef>
                <a:spcPts val="12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600" dirty="0">
                <a:latin typeface="+mn-lt"/>
              </a:rPr>
              <a:t>Writing a file will automatically creates any parent directories.</a:t>
            </a:r>
          </a:p>
          <a:p>
            <a:pPr marL="342900" marR="0" lvl="1" indent="-342900" defTabSz="914400" eaLnBrk="1" latinLnBrk="1" hangingPunct="1">
              <a:lnSpc>
                <a:spcPct val="100000"/>
              </a:lnSpc>
              <a:spcBef>
                <a:spcPts val="1200"/>
              </a:spcBef>
              <a:buClr>
                <a:schemeClr val="accent2"/>
              </a:buClr>
              <a:buSzTx/>
              <a:buFont typeface="Wingdings" pitchFamily="2" charset="2"/>
              <a:buChar char="§"/>
              <a:tabLst/>
              <a:defRPr/>
            </a:pPr>
            <a:endParaRPr lang="en-US" altLang="ko-KR" sz="2600" dirty="0">
              <a:latin typeface="+mn-lt"/>
            </a:endParaRPr>
          </a:p>
        </p:txBody>
      </p:sp>
      <p:pic>
        <p:nvPicPr>
          <p:cNvPr id="6" name="그림 5" descr="그림 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83267" y="2967546"/>
            <a:ext cx="5777778" cy="33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86608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0" y="1066800"/>
            <a:ext cx="3886200" cy="350838"/>
          </a:xfrm>
        </p:spPr>
        <p:txBody>
          <a:bodyPr/>
          <a:lstStyle/>
          <a:p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File Metadata: </a:t>
            </a:r>
            <a:r>
              <a:rPr lang="en-US" altLang="ko-KR" sz="1600" b="1" kern="1200" dirty="0" err="1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FileStatus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8" name="그림 7" descr="그림 1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24488" y="1988201"/>
            <a:ext cx="7052712" cy="1891622"/>
          </a:xfrm>
          <a:prstGeom prst="rect">
            <a:avLst/>
          </a:prstGeom>
        </p:spPr>
      </p:pic>
      <p:pic>
        <p:nvPicPr>
          <p:cNvPr id="10" name="그림 9" descr="그림 16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66800" y="3920697"/>
            <a:ext cx="6739445" cy="2098237"/>
          </a:xfrm>
          <a:prstGeom prst="rect">
            <a:avLst/>
          </a:prstGeom>
        </p:spPr>
      </p:pic>
      <p:sp>
        <p:nvSpPr>
          <p:cNvPr id="11" name="모서리가 둥근 직사각형 10"/>
          <p:cNvSpPr/>
          <p:nvPr/>
        </p:nvSpPr>
        <p:spPr>
          <a:xfrm>
            <a:off x="1143000" y="2791136"/>
            <a:ext cx="4929222" cy="285752"/>
          </a:xfrm>
          <a:prstGeom prst="roundRect">
            <a:avLst/>
          </a:prstGeom>
          <a:solidFill>
            <a:srgbClr val="FF0000">
              <a:alpha val="10000"/>
            </a:srgb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948152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581400" y="1066800"/>
            <a:ext cx="3505200" cy="350838"/>
          </a:xfrm>
        </p:spPr>
        <p:txBody>
          <a:bodyPr/>
          <a:lstStyle/>
          <a:p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Listing Files 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13" name="그림 12" descr="그림 18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24000" y="1887630"/>
            <a:ext cx="6096000" cy="4503666"/>
          </a:xfrm>
          <a:prstGeom prst="rect">
            <a:avLst/>
          </a:prstGeom>
        </p:spPr>
      </p:pic>
      <p:sp>
        <p:nvSpPr>
          <p:cNvPr id="14" name="모서리가 둥근 직사각형 13"/>
          <p:cNvSpPr/>
          <p:nvPr/>
        </p:nvSpPr>
        <p:spPr>
          <a:xfrm>
            <a:off x="1828800" y="4519620"/>
            <a:ext cx="5181600" cy="1247784"/>
          </a:xfrm>
          <a:prstGeom prst="roundRect">
            <a:avLst/>
          </a:prstGeom>
          <a:solidFill>
            <a:srgbClr val="FF0000">
              <a:alpha val="10000"/>
            </a:srgb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326285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962400" y="1066800"/>
            <a:ext cx="2819400" cy="350838"/>
          </a:xfrm>
        </p:spPr>
        <p:txBody>
          <a:bodyPr/>
          <a:lstStyle/>
          <a:p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File Patterns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609572" y="1600200"/>
            <a:ext cx="7010400" cy="45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1" indent="-342900">
              <a:spcBef>
                <a:spcPts val="12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000" dirty="0" err="1">
                <a:latin typeface="+mn-lt"/>
              </a:rPr>
              <a:t>Globbing</a:t>
            </a:r>
            <a:r>
              <a:rPr lang="en-US" altLang="ko-KR" sz="2000" dirty="0">
                <a:latin typeface="+mn-lt"/>
              </a:rPr>
              <a:t>: to use wildcard characters to match </a:t>
            </a:r>
            <a:r>
              <a:rPr lang="en-US" altLang="ko-KR" sz="2000" dirty="0" smtClean="0">
                <a:latin typeface="+mn-lt"/>
              </a:rPr>
              <a:t>multiple files</a:t>
            </a:r>
            <a:r>
              <a:rPr lang="en-US" altLang="ko-KR" sz="2000" dirty="0">
                <a:latin typeface="Corbel" pitchFamily="34" charset="0"/>
              </a:rPr>
              <a:t>.</a:t>
            </a:r>
            <a:endParaRPr lang="en-US" altLang="ko-KR" sz="2000" dirty="0">
              <a:latin typeface="+mn-lt"/>
            </a:endParaRPr>
          </a:p>
        </p:txBody>
      </p:sp>
      <p:pic>
        <p:nvPicPr>
          <p:cNvPr id="8" name="그림 7" descr="그림 19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62000" y="2057400"/>
            <a:ext cx="7562880" cy="448580"/>
          </a:xfrm>
          <a:prstGeom prst="rect">
            <a:avLst/>
          </a:prstGeom>
        </p:spPr>
      </p:pic>
      <p:pic>
        <p:nvPicPr>
          <p:cNvPr id="9" name="그림 8" descr="그림 20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09572" y="3048000"/>
            <a:ext cx="8010524" cy="3215265"/>
          </a:xfrm>
          <a:prstGeom prst="rect">
            <a:avLst/>
          </a:prstGeom>
        </p:spPr>
      </p:pic>
      <p:sp>
        <p:nvSpPr>
          <p:cNvPr id="10" name="내용 개체 틀 2"/>
          <p:cNvSpPr txBox="1">
            <a:spLocks/>
          </p:cNvSpPr>
          <p:nvPr/>
        </p:nvSpPr>
        <p:spPr>
          <a:xfrm>
            <a:off x="626505" y="2582180"/>
            <a:ext cx="4648200" cy="3813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1" indent="-342900">
              <a:spcBef>
                <a:spcPts val="12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000" dirty="0" smtClean="0">
                <a:latin typeface="+mn-lt"/>
              </a:rPr>
              <a:t>Glob characters and their meanings</a:t>
            </a:r>
            <a:endParaRPr lang="en-US" altLang="ko-KR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9786687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0000" y="1066800"/>
            <a:ext cx="2947925" cy="350838"/>
          </a:xfrm>
        </p:spPr>
        <p:txBody>
          <a:bodyPr/>
          <a:lstStyle/>
          <a:p>
            <a:r>
              <a:rPr lang="en-US" altLang="ko-KR" sz="1600" b="1" kern="1200" dirty="0" err="1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PathFilter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1500125" y="1607088"/>
            <a:ext cx="4876800" cy="381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lvl="1" indent="-342900">
              <a:spcBef>
                <a:spcPts val="12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1800" dirty="0">
                <a:latin typeface="+mn-lt"/>
              </a:rPr>
              <a:t>Allows programmatic control over matching</a:t>
            </a:r>
          </a:p>
        </p:txBody>
      </p:sp>
      <p:pic>
        <p:nvPicPr>
          <p:cNvPr id="11" name="그림 10" descr="그림 2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35288" y="2005833"/>
            <a:ext cx="2384877" cy="889768"/>
          </a:xfrm>
          <a:prstGeom prst="rect">
            <a:avLst/>
          </a:prstGeom>
        </p:spPr>
      </p:pic>
      <p:pic>
        <p:nvPicPr>
          <p:cNvPr id="13" name="그림 12" descr="그림 2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313019" y="3439820"/>
            <a:ext cx="4444906" cy="2198641"/>
          </a:xfrm>
          <a:prstGeom prst="rect">
            <a:avLst/>
          </a:prstGeom>
        </p:spPr>
      </p:pic>
      <p:pic>
        <p:nvPicPr>
          <p:cNvPr id="14" name="그림 13" descr="그림 23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373172" y="5875073"/>
            <a:ext cx="6324600" cy="244878"/>
          </a:xfrm>
          <a:prstGeom prst="rect">
            <a:avLst/>
          </a:prstGeom>
        </p:spPr>
      </p:pic>
      <p:sp>
        <p:nvSpPr>
          <p:cNvPr id="8" name="내용 개체 틀 2"/>
          <p:cNvSpPr txBox="1">
            <a:spLocks/>
          </p:cNvSpPr>
          <p:nvPr/>
        </p:nvSpPr>
        <p:spPr>
          <a:xfrm>
            <a:off x="1500125" y="2986845"/>
            <a:ext cx="5257800" cy="4191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1" indent="-342900">
              <a:spcBef>
                <a:spcPts val="12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1800" dirty="0" err="1">
                <a:latin typeface="+mn-lt"/>
              </a:rPr>
              <a:t>PathFilter</a:t>
            </a:r>
            <a:r>
              <a:rPr lang="en-US" altLang="ko-KR" sz="1800" dirty="0">
                <a:latin typeface="+mn-lt"/>
              </a:rPr>
              <a:t> for excluding paths that match a regex</a:t>
            </a:r>
          </a:p>
        </p:txBody>
      </p:sp>
    </p:spTree>
    <p:extLst>
      <p:ext uri="{BB962C8B-B14F-4D97-AF65-F5344CB8AC3E}">
        <p14:creationId xmlns:p14="http://schemas.microsoft.com/office/powerpoint/2010/main" val="61857339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0" y="1066800"/>
            <a:ext cx="39624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A Client Reading Data From HDFS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9" name="그림 8" descr="그림 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800" y="1676400"/>
            <a:ext cx="7772400" cy="4543823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5164667" y="2506133"/>
            <a:ext cx="1565559" cy="5212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</a:pPr>
            <a:r>
              <a:rPr lang="en-US" altLang="ko-KR" sz="1400" dirty="0" smtClean="0">
                <a:latin typeface="Corbel" pitchFamily="34" charset="0"/>
              </a:rPr>
              <a:t>(according to</a:t>
            </a:r>
            <a:br>
              <a:rPr lang="en-US" altLang="ko-KR" sz="1400" dirty="0" smtClean="0">
                <a:latin typeface="Corbel" pitchFamily="34" charset="0"/>
              </a:rPr>
            </a:br>
            <a:r>
              <a:rPr lang="en-US" altLang="ko-KR" sz="1400" dirty="0" smtClean="0">
                <a:latin typeface="Corbel" pitchFamily="34" charset="0"/>
              </a:rPr>
              <a:t> network topology)</a:t>
            </a:r>
            <a:endParaRPr lang="ko-KR" altLang="en-US" sz="1400" dirty="0">
              <a:latin typeface="Corbel" pitchFamily="34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462866" y="4344718"/>
            <a:ext cx="901209" cy="2964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700"/>
              </a:lnSpc>
            </a:pPr>
            <a:r>
              <a:rPr lang="en-US" altLang="ko-KR" sz="1200" dirty="0" smtClean="0">
                <a:latin typeface="Corbel" pitchFamily="34" charset="0"/>
              </a:rPr>
              <a:t>(first block)</a:t>
            </a:r>
            <a:endParaRPr lang="ko-KR" altLang="en-US" sz="1200" dirty="0">
              <a:latin typeface="Corbel" pitchFamily="34" charset="0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112731" y="4348293"/>
            <a:ext cx="930191" cy="2964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700"/>
              </a:lnSpc>
            </a:pPr>
            <a:r>
              <a:rPr lang="en-US" altLang="ko-KR" sz="1200" dirty="0" smtClean="0">
                <a:latin typeface="Corbel" pitchFamily="34" charset="0"/>
              </a:rPr>
              <a:t>(next block)</a:t>
            </a:r>
            <a:endParaRPr lang="ko-KR" altLang="en-US" sz="1200" dirty="0">
              <a:latin typeface="Corbe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314990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0000" y="1066800"/>
            <a:ext cx="31242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Error Handling – 1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14" name="내용 개체 틀 2"/>
          <p:cNvSpPr>
            <a:spLocks noGrp="1"/>
          </p:cNvSpPr>
          <p:nvPr>
            <p:ph idx="1"/>
          </p:nvPr>
        </p:nvSpPr>
        <p:spPr>
          <a:xfrm>
            <a:off x="1752600" y="3124200"/>
            <a:ext cx="5736166" cy="2514600"/>
          </a:xfrm>
        </p:spPr>
        <p:txBody>
          <a:bodyPr>
            <a:normAutofit/>
          </a:bodyPr>
          <a:lstStyle/>
          <a:p>
            <a:pPr marL="0" lvl="1" indent="0">
              <a:spcBef>
                <a:spcPts val="1800"/>
              </a:spcBef>
              <a:buClr>
                <a:schemeClr val="accent2"/>
              </a:buClr>
              <a:buNone/>
              <a:defRPr/>
            </a:pPr>
            <a:r>
              <a:rPr lang="en-US" altLang="ko-KR" sz="2600" kern="1200" dirty="0" smtClean="0">
                <a:ea typeface="+mn-ea"/>
                <a:cs typeface="+mn-cs"/>
              </a:rPr>
              <a:t>Error </a:t>
            </a:r>
            <a:r>
              <a:rPr lang="en-US" altLang="ko-KR" sz="2600" kern="1200" dirty="0">
                <a:ea typeface="+mn-ea"/>
                <a:cs typeface="+mn-cs"/>
              </a:rPr>
              <a:t>handling</a:t>
            </a:r>
          </a:p>
          <a:p>
            <a:pPr marL="342900" lvl="1" indent="-342900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>
                <a:ea typeface="+mn-ea"/>
                <a:cs typeface="+mn-cs"/>
              </a:rPr>
              <a:t>Error in client-</a:t>
            </a:r>
            <a:r>
              <a:rPr lang="en-US" altLang="ko-KR" sz="2400" kern="1200" dirty="0" err="1">
                <a:ea typeface="+mn-ea"/>
                <a:cs typeface="+mn-cs"/>
              </a:rPr>
              <a:t>datanode</a:t>
            </a:r>
            <a:r>
              <a:rPr lang="en-US" altLang="ko-KR" sz="2400" kern="1200" dirty="0">
                <a:ea typeface="+mn-ea"/>
                <a:cs typeface="+mn-cs"/>
              </a:rPr>
              <a:t> communication </a:t>
            </a:r>
          </a:p>
          <a:p>
            <a:pPr lvl="1" eaLnBrk="1" hangingPunct="1">
              <a:lnSpc>
                <a:spcPct val="80000"/>
              </a:lnSpc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000" dirty="0"/>
              <a:t>Try next closest </a:t>
            </a:r>
            <a:r>
              <a:rPr lang="en-US" altLang="ko-KR" sz="2000" dirty="0" err="1"/>
              <a:t>datanode</a:t>
            </a:r>
            <a:r>
              <a:rPr lang="en-US" altLang="ko-KR" sz="2000" dirty="0"/>
              <a:t> for the block</a:t>
            </a:r>
          </a:p>
          <a:p>
            <a:pPr lvl="1" eaLnBrk="1" hangingPunct="1">
              <a:lnSpc>
                <a:spcPct val="80000"/>
              </a:lnSpc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000" dirty="0"/>
              <a:t>Remember failed </a:t>
            </a:r>
            <a:r>
              <a:rPr lang="en-US" altLang="ko-KR" sz="2000" dirty="0" err="1"/>
              <a:t>datanode</a:t>
            </a:r>
            <a:r>
              <a:rPr lang="en-US" altLang="ko-KR" sz="2000" dirty="0"/>
              <a:t> for later blocks</a:t>
            </a:r>
          </a:p>
          <a:p>
            <a:pPr marL="342900" lvl="1" indent="-342900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>
                <a:ea typeface="+mn-ea"/>
                <a:cs typeface="+mn-cs"/>
              </a:rPr>
              <a:t>Block checksum error</a:t>
            </a:r>
          </a:p>
          <a:p>
            <a:pPr lvl="1" eaLnBrk="1" hangingPunct="1">
              <a:lnSpc>
                <a:spcPct val="80000"/>
              </a:lnSpc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000" dirty="0"/>
              <a:t>Report to the </a:t>
            </a:r>
            <a:r>
              <a:rPr lang="en-US" altLang="ko-KR" sz="2000" dirty="0" err="1"/>
              <a:t>namenode</a:t>
            </a:r>
            <a:endParaRPr lang="en-US" altLang="ko-KR" sz="2000" dirty="0"/>
          </a:p>
        </p:txBody>
      </p:sp>
      <p:grpSp>
        <p:nvGrpSpPr>
          <p:cNvPr id="15" name="그룹 14"/>
          <p:cNvGrpSpPr/>
          <p:nvPr/>
        </p:nvGrpSpPr>
        <p:grpSpPr>
          <a:xfrm>
            <a:off x="838200" y="1878952"/>
            <a:ext cx="7509933" cy="936171"/>
            <a:chOff x="428596" y="1285860"/>
            <a:chExt cx="3571900" cy="945186"/>
          </a:xfrm>
        </p:grpSpPr>
        <p:sp>
          <p:nvSpPr>
            <p:cNvPr id="16" name="모서리가 둥근 직사각형 15"/>
            <p:cNvSpPr/>
            <p:nvPr/>
          </p:nvSpPr>
          <p:spPr>
            <a:xfrm>
              <a:off x="428596" y="1723418"/>
              <a:ext cx="3571900" cy="507628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Bef>
                  <a:spcPts val="2400"/>
                </a:spcBef>
                <a:buClr>
                  <a:srgbClr val="C00000"/>
                </a:buClr>
                <a:buSzPct val="80000"/>
              </a:pPr>
              <a:r>
                <a:rPr lang="en-US" altLang="ko-KR" sz="2200" dirty="0" smtClean="0">
                  <a:solidFill>
                    <a:schemeClr val="tx1"/>
                  </a:solidFill>
                  <a:latin typeface="Corbel" pitchFamily="34" charset="0"/>
                </a:rPr>
                <a:t>Client contacts </a:t>
              </a:r>
              <a:r>
                <a:rPr lang="en-US" altLang="ko-KR" sz="2200" dirty="0" err="1" smtClean="0">
                  <a:solidFill>
                    <a:schemeClr val="tx1"/>
                  </a:solidFill>
                  <a:latin typeface="Corbel" pitchFamily="34" charset="0"/>
                </a:rPr>
                <a:t>datanodes</a:t>
              </a:r>
              <a:r>
                <a:rPr lang="en-US" altLang="ko-KR" sz="2200" dirty="0" smtClean="0">
                  <a:solidFill>
                    <a:schemeClr val="tx1"/>
                  </a:solidFill>
                  <a:latin typeface="Corbel" pitchFamily="34" charset="0"/>
                </a:rPr>
                <a:t> directly to retrieve data. </a:t>
              </a:r>
            </a:p>
          </p:txBody>
        </p:sp>
        <p:sp>
          <p:nvSpPr>
            <p:cNvPr id="17" name="양쪽 모서리가 둥근 사각형 16"/>
            <p:cNvSpPr/>
            <p:nvPr/>
          </p:nvSpPr>
          <p:spPr>
            <a:xfrm>
              <a:off x="428596" y="1285860"/>
              <a:ext cx="3571900" cy="437558"/>
            </a:xfrm>
            <a:prstGeom prst="round2SameRect">
              <a:avLst/>
            </a:prstGeom>
            <a:solidFill>
              <a:schemeClr val="tx2">
                <a:lumMod val="50000"/>
              </a:schemeClr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2800" dirty="0" smtClean="0">
                  <a:latin typeface="Corbel" pitchFamily="34" charset="0"/>
                </a:rPr>
                <a:t> </a:t>
              </a:r>
              <a:r>
                <a:rPr lang="en-US" altLang="ko-KR" sz="2600" dirty="0" smtClean="0">
                  <a:latin typeface="Corbel" pitchFamily="34" charset="0"/>
                </a:rPr>
                <a:t>Key point</a:t>
              </a:r>
              <a:endParaRPr lang="ko-KR" altLang="en-US" sz="2600" dirty="0">
                <a:latin typeface="Corbe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7927920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그림 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91983" y="1600199"/>
            <a:ext cx="8610600" cy="4800601"/>
          </a:xfrm>
          <a:prstGeom prst="rect">
            <a:avLst/>
          </a:prstGeom>
        </p:spPr>
      </p:pic>
      <p:sp>
        <p:nvSpPr>
          <p:cNvPr id="14" name="직사각형 13"/>
          <p:cNvSpPr/>
          <p:nvPr/>
        </p:nvSpPr>
        <p:spPr>
          <a:xfrm>
            <a:off x="7177635" y="3183920"/>
            <a:ext cx="14029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>
                <a:latin typeface="Corbel" pitchFamily="34" charset="0"/>
              </a:rPr>
              <a:t>(file exist &amp; </a:t>
            </a:r>
            <a:br>
              <a:rPr lang="en-US" altLang="ko-KR" sz="1200" b="1" dirty="0">
                <a:latin typeface="Corbel" pitchFamily="34" charset="0"/>
              </a:rPr>
            </a:br>
            <a:r>
              <a:rPr lang="en-US" altLang="ko-KR" sz="1200" b="1" dirty="0">
                <a:latin typeface="Corbel" pitchFamily="34" charset="0"/>
              </a:rPr>
              <a:t> permission check)</a:t>
            </a:r>
            <a:endParaRPr lang="ko-KR" altLang="en-US" sz="1200" b="1" dirty="0">
              <a:latin typeface="Corbel" pitchFamily="34" charset="0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2530112" y="3642536"/>
            <a:ext cx="12332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 err="1">
                <a:latin typeface="Corbel" pitchFamily="34" charset="0"/>
              </a:rPr>
              <a:t>enqueue</a:t>
            </a:r>
            <a:r>
              <a:rPr lang="en-US" altLang="ko-KR" sz="1200" b="1" dirty="0">
                <a:latin typeface="Corbel" pitchFamily="34" charset="0"/>
              </a:rPr>
              <a:t> packet</a:t>
            </a:r>
          </a:p>
          <a:p>
            <a:r>
              <a:rPr lang="en-US" altLang="ko-KR" sz="1200" b="1" dirty="0">
                <a:latin typeface="Corbel" pitchFamily="34" charset="0"/>
              </a:rPr>
              <a:t>to data queue</a:t>
            </a:r>
            <a:endParaRPr lang="ko-KR" altLang="en-US" sz="1200" b="1" dirty="0">
              <a:latin typeface="Corbel" pitchFamily="34" charset="0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2503664" y="4400630"/>
            <a:ext cx="12861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 smtClean="0">
                <a:latin typeface="Corbel" pitchFamily="34" charset="0"/>
              </a:rPr>
              <a:t>move the packet</a:t>
            </a:r>
          </a:p>
          <a:p>
            <a:r>
              <a:rPr lang="en-US" altLang="ko-KR" sz="1200" b="1" dirty="0" smtClean="0">
                <a:latin typeface="Corbel" pitchFamily="34" charset="0"/>
              </a:rPr>
              <a:t>to </a:t>
            </a:r>
            <a:r>
              <a:rPr lang="en-US" altLang="ko-KR" sz="1200" b="1" dirty="0" err="1" smtClean="0">
                <a:latin typeface="Corbel" pitchFamily="34" charset="0"/>
              </a:rPr>
              <a:t>ack</a:t>
            </a:r>
            <a:r>
              <a:rPr lang="en-US" altLang="ko-KR" sz="1200" b="1" dirty="0" smtClean="0">
                <a:latin typeface="Corbel" pitchFamily="34" charset="0"/>
              </a:rPr>
              <a:t> queue</a:t>
            </a:r>
            <a:endParaRPr lang="ko-KR" altLang="en-US" sz="1200" b="1" dirty="0">
              <a:latin typeface="Corbel" pitchFamily="34" charset="0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191000" y="3769666"/>
            <a:ext cx="14897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 err="1">
                <a:latin typeface="Corbel" pitchFamily="34" charset="0"/>
              </a:rPr>
              <a:t>dequeue</a:t>
            </a:r>
            <a:r>
              <a:rPr lang="en-US" altLang="ko-KR" sz="1200" b="1" dirty="0">
                <a:latin typeface="Corbel" pitchFamily="34" charset="0"/>
              </a:rPr>
              <a:t> the packet</a:t>
            </a:r>
          </a:p>
          <a:p>
            <a:r>
              <a:rPr lang="en-US" altLang="ko-KR" sz="1200" b="1" dirty="0">
                <a:latin typeface="Corbel" pitchFamily="34" charset="0"/>
              </a:rPr>
              <a:t>from </a:t>
            </a:r>
            <a:r>
              <a:rPr lang="en-US" altLang="ko-KR" sz="1200" b="1" dirty="0" err="1">
                <a:latin typeface="Corbel" pitchFamily="34" charset="0"/>
              </a:rPr>
              <a:t>ack</a:t>
            </a:r>
            <a:r>
              <a:rPr lang="en-US" altLang="ko-KR" sz="1200" b="1" dirty="0">
                <a:latin typeface="Corbel" pitchFamily="34" charset="0"/>
              </a:rPr>
              <a:t> queue</a:t>
            </a:r>
            <a:endParaRPr lang="ko-KR" altLang="en-US" sz="1200" b="1" dirty="0">
              <a:latin typeface="Corbel" pitchFamily="34" charset="0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6096000" y="4116899"/>
            <a:ext cx="1946367" cy="5145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700"/>
              </a:lnSpc>
            </a:pPr>
            <a:r>
              <a:rPr lang="en-US" altLang="ko-KR" sz="1200" b="1" dirty="0">
                <a:latin typeface="Corbel" pitchFamily="34" charset="0"/>
              </a:rPr>
              <a:t>chose by </a:t>
            </a:r>
            <a:br>
              <a:rPr lang="en-US" altLang="ko-KR" sz="1200" b="1" dirty="0">
                <a:latin typeface="Corbel" pitchFamily="34" charset="0"/>
              </a:rPr>
            </a:br>
            <a:r>
              <a:rPr lang="en-US" altLang="ko-KR" sz="1200" b="1" dirty="0">
                <a:latin typeface="Corbel" pitchFamily="34" charset="0"/>
              </a:rPr>
              <a:t>replica placement strategy</a:t>
            </a:r>
            <a:endParaRPr lang="ko-KR" altLang="en-US" sz="1200" b="1" dirty="0">
              <a:latin typeface="Corbel" pitchFamily="34" charset="0"/>
            </a:endParaRPr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3429000" y="1066800"/>
            <a:ext cx="39624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A Client Writing Data To HDFS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536495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18" grpId="0"/>
      <p:bldP spid="1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내용 개체 틀 2"/>
          <p:cNvSpPr>
            <a:spLocks noGrp="1"/>
          </p:cNvSpPr>
          <p:nvPr>
            <p:ph idx="1"/>
          </p:nvPr>
        </p:nvSpPr>
        <p:spPr>
          <a:xfrm>
            <a:off x="1219200" y="1905000"/>
            <a:ext cx="6991352" cy="3581400"/>
          </a:xfrm>
        </p:spPr>
        <p:txBody>
          <a:bodyPr>
            <a:normAutofit/>
          </a:bodyPr>
          <a:lstStyle/>
          <a:p>
            <a:pPr marL="400050" lvl="1" indent="-400050">
              <a:spcBef>
                <a:spcPts val="600"/>
              </a:spcBef>
              <a:buClr>
                <a:schemeClr val="accent2"/>
              </a:buClr>
              <a:buNone/>
              <a:defRPr/>
            </a:pPr>
            <a:r>
              <a:rPr lang="en-US" altLang="ko-KR" sz="2600" kern="1200" dirty="0" err="1" smtClean="0">
                <a:ea typeface="+mn-ea"/>
                <a:cs typeface="+mn-cs"/>
              </a:rPr>
              <a:t>Datanode</a:t>
            </a:r>
            <a:r>
              <a:rPr lang="en-US" altLang="ko-KR" sz="2600" kern="1200" dirty="0" smtClean="0">
                <a:ea typeface="+mn-ea"/>
                <a:cs typeface="+mn-cs"/>
              </a:rPr>
              <a:t> </a:t>
            </a:r>
            <a:r>
              <a:rPr lang="en-US" altLang="ko-KR" sz="2600" kern="1200" dirty="0">
                <a:ea typeface="+mn-ea"/>
                <a:cs typeface="+mn-cs"/>
              </a:rPr>
              <a:t>error while data is being </a:t>
            </a:r>
            <a:r>
              <a:rPr lang="en-US" altLang="ko-KR" sz="2600" kern="1200" dirty="0" smtClean="0">
                <a:ea typeface="+mn-ea"/>
                <a:cs typeface="+mn-cs"/>
              </a:rPr>
              <a:t>written: </a:t>
            </a:r>
            <a:endParaRPr lang="en-US" altLang="ko-KR" sz="2600" kern="1200" dirty="0">
              <a:ea typeface="+mn-ea"/>
              <a:cs typeface="+mn-cs"/>
            </a:endParaRPr>
          </a:p>
          <a:p>
            <a:pPr marL="342900" lvl="1" indent="-342900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>
                <a:ea typeface="+mn-ea"/>
                <a:cs typeface="+mn-cs"/>
              </a:rPr>
              <a:t>Client</a:t>
            </a:r>
          </a:p>
          <a:p>
            <a:pPr lvl="1" eaLnBrk="1" hangingPunct="1">
              <a:lnSpc>
                <a:spcPct val="80000"/>
              </a:lnSpc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000" dirty="0"/>
              <a:t>Adds any packets in the </a:t>
            </a:r>
            <a:r>
              <a:rPr lang="en-US" altLang="ko-KR" sz="2000" i="1" dirty="0" err="1"/>
              <a:t>ack</a:t>
            </a:r>
            <a:r>
              <a:rPr lang="en-US" altLang="ko-KR" sz="2000" dirty="0"/>
              <a:t> queue to data </a:t>
            </a:r>
            <a:r>
              <a:rPr lang="en-US" altLang="ko-KR" sz="2000" dirty="0" smtClean="0"/>
              <a:t>queue.</a:t>
            </a:r>
            <a:endParaRPr lang="en-US" altLang="ko-KR" sz="2000" dirty="0"/>
          </a:p>
          <a:p>
            <a:pPr lvl="1" eaLnBrk="1" hangingPunct="1">
              <a:lnSpc>
                <a:spcPct val="80000"/>
              </a:lnSpc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000" dirty="0"/>
              <a:t>Removes the failed </a:t>
            </a:r>
            <a:r>
              <a:rPr lang="en-US" altLang="ko-KR" sz="2000" dirty="0" err="1"/>
              <a:t>datanode</a:t>
            </a:r>
            <a:r>
              <a:rPr lang="en-US" altLang="ko-KR" sz="2000" dirty="0"/>
              <a:t>  from the </a:t>
            </a:r>
            <a:r>
              <a:rPr lang="en-US" altLang="ko-KR" sz="2000" dirty="0" smtClean="0"/>
              <a:t>pipeline.</a:t>
            </a:r>
            <a:endParaRPr lang="en-US" altLang="ko-KR" sz="2000" dirty="0"/>
          </a:p>
          <a:p>
            <a:pPr lvl="1" eaLnBrk="1" hangingPunct="1">
              <a:lnSpc>
                <a:spcPct val="80000"/>
              </a:lnSpc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000" dirty="0"/>
              <a:t>Writes the remainder of the </a:t>
            </a:r>
            <a:r>
              <a:rPr lang="en-US" altLang="ko-KR" sz="2000" dirty="0" smtClean="0"/>
              <a:t>data.</a:t>
            </a:r>
            <a:endParaRPr lang="en-US" altLang="ko-KR" sz="2000" dirty="0"/>
          </a:p>
          <a:p>
            <a:pPr marL="342900" lvl="1" indent="-342900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 err="1">
                <a:ea typeface="+mn-ea"/>
                <a:cs typeface="+mn-cs"/>
              </a:rPr>
              <a:t>Namenode</a:t>
            </a:r>
            <a:endParaRPr lang="en-US" altLang="ko-KR" sz="2400" kern="1200" dirty="0">
              <a:ea typeface="+mn-ea"/>
              <a:cs typeface="+mn-cs"/>
            </a:endParaRPr>
          </a:p>
          <a:p>
            <a:pPr lvl="1" eaLnBrk="1" hangingPunct="1">
              <a:lnSpc>
                <a:spcPct val="80000"/>
              </a:lnSpc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000" dirty="0"/>
              <a:t>Arranges under-replicated blocks for further </a:t>
            </a:r>
            <a:r>
              <a:rPr lang="en-US" altLang="ko-KR" sz="2000" dirty="0" smtClean="0"/>
              <a:t>replicas. </a:t>
            </a:r>
            <a:endParaRPr lang="en-US" altLang="ko-KR" sz="2000" dirty="0"/>
          </a:p>
          <a:p>
            <a:pPr marL="342900" lvl="1" indent="-342900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>
                <a:ea typeface="+mn-ea"/>
                <a:cs typeface="+mn-cs"/>
              </a:rPr>
              <a:t>Failed </a:t>
            </a:r>
            <a:r>
              <a:rPr lang="en-US" altLang="ko-KR" sz="2400" kern="1200" dirty="0" err="1">
                <a:ea typeface="+mn-ea"/>
                <a:cs typeface="+mn-cs"/>
              </a:rPr>
              <a:t>datanode</a:t>
            </a:r>
            <a:endParaRPr lang="en-US" altLang="ko-KR" sz="2400" kern="1200" dirty="0">
              <a:ea typeface="+mn-ea"/>
              <a:cs typeface="+mn-cs"/>
            </a:endParaRPr>
          </a:p>
          <a:p>
            <a:pPr lvl="1" eaLnBrk="1" hangingPunct="1">
              <a:lnSpc>
                <a:spcPct val="80000"/>
              </a:lnSpc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000" dirty="0"/>
              <a:t>Deletes the partial block when the node recovers later </a:t>
            </a:r>
            <a:r>
              <a:rPr lang="en-US" altLang="ko-KR" sz="2000" dirty="0" smtClean="0"/>
              <a:t>on.</a:t>
            </a:r>
            <a:endParaRPr lang="en-US" altLang="ko-KR" sz="2000" dirty="0"/>
          </a:p>
        </p:txBody>
      </p:sp>
      <p:sp>
        <p:nvSpPr>
          <p:cNvPr id="5" name="제목 1"/>
          <p:cNvSpPr txBox="1">
            <a:spLocks/>
          </p:cNvSpPr>
          <p:nvPr/>
        </p:nvSpPr>
        <p:spPr>
          <a:xfrm>
            <a:off x="3810000" y="1066800"/>
            <a:ext cx="31242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Error Handling – 2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305016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0000" y="1066800"/>
            <a:ext cx="3200400" cy="350838"/>
          </a:xfrm>
        </p:spPr>
        <p:txBody>
          <a:bodyPr/>
          <a:lstStyle/>
          <a:p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Coherency Model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14" name="내용 개체 틀 2"/>
          <p:cNvSpPr>
            <a:spLocks noGrp="1"/>
          </p:cNvSpPr>
          <p:nvPr>
            <p:ph idx="1"/>
          </p:nvPr>
        </p:nvSpPr>
        <p:spPr>
          <a:xfrm>
            <a:off x="1056214" y="4343400"/>
            <a:ext cx="6781800" cy="1371600"/>
          </a:xfrm>
        </p:spPr>
        <p:txBody>
          <a:bodyPr>
            <a:normAutofit/>
          </a:bodyPr>
          <a:lstStyle/>
          <a:p>
            <a:pPr marL="342900" lvl="1" indent="-342900">
              <a:spcBef>
                <a:spcPts val="12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 smtClean="0">
                <a:ea typeface="+mn-ea"/>
                <a:cs typeface="+mn-cs"/>
              </a:rPr>
              <a:t>HDFS </a:t>
            </a:r>
            <a:r>
              <a:rPr lang="en-US" altLang="ko-KR" sz="2400" kern="1200" dirty="0">
                <a:ea typeface="+mn-ea"/>
                <a:cs typeface="+mn-cs"/>
              </a:rPr>
              <a:t>provides sync() method</a:t>
            </a:r>
          </a:p>
          <a:p>
            <a:pPr lvl="1" eaLnBrk="1" hangingPunct="1"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000" dirty="0"/>
              <a:t>Forcing all buffers to be synchronized to the </a:t>
            </a:r>
            <a:r>
              <a:rPr lang="en-US" altLang="ko-KR" sz="2000" dirty="0" err="1"/>
              <a:t>datanodes</a:t>
            </a:r>
            <a:r>
              <a:rPr lang="en-US" altLang="ko-KR" sz="2000" dirty="0"/>
              <a:t>.</a:t>
            </a:r>
          </a:p>
          <a:p>
            <a:pPr lvl="1" eaLnBrk="1" hangingPunct="1">
              <a:spcBef>
                <a:spcPts val="600"/>
              </a:spcBef>
              <a:buSzPct val="60000"/>
              <a:buBlip>
                <a:blip r:embed="rId2"/>
              </a:buBlip>
              <a:defRPr/>
            </a:pPr>
            <a:r>
              <a:rPr lang="en-US" altLang="ko-KR" sz="2000" dirty="0"/>
              <a:t>Applications should call sync() at suitable points.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990600" y="2895600"/>
            <a:ext cx="7162800" cy="1262059"/>
            <a:chOff x="428596" y="1456726"/>
            <a:chExt cx="3571900" cy="1141808"/>
          </a:xfrm>
        </p:grpSpPr>
        <p:sp>
          <p:nvSpPr>
            <p:cNvPr id="6" name="모서리가 둥근 직사각형 5"/>
            <p:cNvSpPr/>
            <p:nvPr/>
          </p:nvSpPr>
          <p:spPr>
            <a:xfrm>
              <a:off x="428596" y="1894283"/>
              <a:ext cx="3571900" cy="704251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Bef>
                  <a:spcPts val="2400"/>
                </a:spcBef>
                <a:buClr>
                  <a:srgbClr val="C00000"/>
                </a:buClr>
                <a:buSzPct val="80000"/>
              </a:pPr>
              <a:r>
                <a:rPr lang="en-US" altLang="ko-KR" sz="2200" dirty="0">
                  <a:solidFill>
                    <a:schemeClr val="tx1"/>
                  </a:solidFill>
                  <a:latin typeface="Corbel" pitchFamily="34" charset="0"/>
                </a:rPr>
                <a:t>The current block being written that is not guaranteed to be visible (even if the stream is flushed</a:t>
              </a:r>
              <a:r>
                <a:rPr lang="en-US" altLang="ko-KR" sz="2200" dirty="0" smtClean="0">
                  <a:solidFill>
                    <a:schemeClr val="tx1"/>
                  </a:solidFill>
                  <a:latin typeface="Corbel" pitchFamily="34" charset="0"/>
                </a:rPr>
                <a:t>).</a:t>
              </a:r>
              <a:endParaRPr lang="en-US" altLang="ko-KR" sz="2200" dirty="0">
                <a:solidFill>
                  <a:schemeClr val="tx1"/>
                </a:solidFill>
                <a:latin typeface="Corbel" pitchFamily="34" charset="0"/>
              </a:endParaRPr>
            </a:p>
          </p:txBody>
        </p:sp>
        <p:sp>
          <p:nvSpPr>
            <p:cNvPr id="7" name="양쪽 모서리가 둥근 사각형 6"/>
            <p:cNvSpPr/>
            <p:nvPr/>
          </p:nvSpPr>
          <p:spPr>
            <a:xfrm>
              <a:off x="428596" y="1456726"/>
              <a:ext cx="3571900" cy="437558"/>
            </a:xfrm>
            <a:prstGeom prst="round2SameRect">
              <a:avLst/>
            </a:prstGeom>
            <a:solidFill>
              <a:schemeClr val="tx2">
                <a:lumMod val="50000"/>
              </a:schemeClr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2800" dirty="0" smtClean="0">
                  <a:latin typeface="Corbel" pitchFamily="34" charset="0"/>
                </a:rPr>
                <a:t> </a:t>
              </a:r>
              <a:r>
                <a:rPr lang="en-US" altLang="ko-KR" sz="2600" dirty="0">
                  <a:latin typeface="Corbel" pitchFamily="34" charset="0"/>
                </a:rPr>
                <a:t>Key point</a:t>
              </a:r>
              <a:endParaRPr lang="ko-KR" altLang="en-US" sz="2600" dirty="0">
                <a:latin typeface="Corbel" pitchFamily="34" charset="0"/>
              </a:endParaRPr>
            </a:p>
          </p:txBody>
        </p:sp>
      </p:grpSp>
      <p:sp>
        <p:nvSpPr>
          <p:cNvPr id="8" name="내용 개체 틀 2"/>
          <p:cNvSpPr txBox="1">
            <a:spLocks/>
          </p:cNvSpPr>
          <p:nvPr/>
        </p:nvSpPr>
        <p:spPr>
          <a:xfrm>
            <a:off x="1024466" y="1828800"/>
            <a:ext cx="6443134" cy="91440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lvl="1" indent="-342900">
              <a:spcBef>
                <a:spcPts val="12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dirty="0" smtClean="0"/>
              <a:t>A coherency model for a filesystem describes the data visibility of reads and writes for a file.</a:t>
            </a:r>
            <a:endParaRPr lang="en-US" altLang="ko-KR" sz="2400" kern="1200" dirty="0" smtClean="0"/>
          </a:p>
        </p:txBody>
      </p:sp>
    </p:spTree>
    <p:extLst>
      <p:ext uri="{BB962C8B-B14F-4D97-AF65-F5344CB8AC3E}">
        <p14:creationId xmlns:p14="http://schemas.microsoft.com/office/powerpoint/2010/main" val="368045214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0000" y="1066800"/>
            <a:ext cx="3200400" cy="350838"/>
          </a:xfrm>
        </p:spPr>
        <p:txBody>
          <a:bodyPr/>
          <a:lstStyle/>
          <a:p>
            <a:r>
              <a:rPr lang="en-US" altLang="ko-KR" sz="1600" b="1" kern="1200" dirty="0" err="1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Distcp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 – Parallel Coping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948266" y="2209800"/>
            <a:ext cx="7128934" cy="91440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lvl="1" indent="-342900">
              <a:spcBef>
                <a:spcPts val="12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dirty="0" smtClean="0"/>
              <a:t>Hadoop comes with </a:t>
            </a:r>
            <a:r>
              <a:rPr lang="en-US" altLang="ko-KR" sz="2400" i="1" dirty="0" err="1" smtClean="0"/>
              <a:t>distcp</a:t>
            </a:r>
            <a:r>
              <a:rPr lang="en-US" altLang="ko-KR" sz="2400" dirty="0" smtClean="0"/>
              <a:t> for copying large amounts of data to and from Hadoop filesystems in parallel.</a:t>
            </a:r>
            <a:endParaRPr lang="en-US" altLang="ko-KR" sz="2400" kern="1200" dirty="0" smtClean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3276600"/>
            <a:ext cx="8109477" cy="183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53673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0" y="1066800"/>
            <a:ext cx="41148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Hadoop Archives – New Commands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677332" y="1828800"/>
            <a:ext cx="7704668" cy="167640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lvl="1" indent="-342900">
              <a:spcBef>
                <a:spcPts val="12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dirty="0" smtClean="0"/>
              <a:t>Hadoop </a:t>
            </a:r>
            <a:r>
              <a:rPr lang="en-US" altLang="ko-KR" sz="2400" dirty="0"/>
              <a:t>Archives, or HAR files, are a file archiving facility that packs files into </a:t>
            </a:r>
            <a:r>
              <a:rPr lang="en-US" altLang="ko-KR" sz="2400" dirty="0" smtClean="0"/>
              <a:t>HDFS blocks </a:t>
            </a:r>
            <a:r>
              <a:rPr lang="en-US" altLang="ko-KR" sz="2400" dirty="0"/>
              <a:t>more </a:t>
            </a:r>
            <a:r>
              <a:rPr lang="en-US" altLang="ko-KR" sz="2400" dirty="0" smtClean="0"/>
              <a:t>efficiently.</a:t>
            </a:r>
          </a:p>
          <a:p>
            <a:pPr marL="342900" lvl="1" indent="-342900"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dirty="0" smtClean="0"/>
              <a:t>It reduces </a:t>
            </a:r>
            <a:r>
              <a:rPr lang="en-US" altLang="ko-KR" sz="2400" dirty="0" err="1"/>
              <a:t>namenode</a:t>
            </a:r>
            <a:r>
              <a:rPr lang="en-US" altLang="ko-KR" sz="2400" dirty="0"/>
              <a:t> memory usage while still </a:t>
            </a:r>
            <a:r>
              <a:rPr lang="en-US" altLang="ko-KR" sz="2400" dirty="0" smtClean="0"/>
              <a:t>allowing transparent </a:t>
            </a:r>
            <a:r>
              <a:rPr lang="en-US" altLang="ko-KR" sz="2400" dirty="0"/>
              <a:t>access to files</a:t>
            </a:r>
            <a:r>
              <a:rPr lang="en-US" altLang="ko-KR" sz="2400" dirty="0" smtClean="0"/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799" y="3657600"/>
            <a:ext cx="8053365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57322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0" y="1066800"/>
            <a:ext cx="40386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Hadoop Archives – Old Commands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33600"/>
            <a:ext cx="7493651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90273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00"/>
      </a:hlink>
      <a:folHlink>
        <a:srgbClr val="000000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5920</TotalTime>
  <Words>960</Words>
  <Application>Microsoft Office PowerPoint</Application>
  <PresentationFormat>On-screen Show (4:3)</PresentationFormat>
  <Paragraphs>189</Paragraphs>
  <Slides>35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  <vt:variant>
        <vt:lpstr>Custom Shows</vt:lpstr>
      </vt:variant>
      <vt:variant>
        <vt:i4>1</vt:i4>
      </vt:variant>
    </vt:vector>
  </HeadingPairs>
  <TitlesOfParts>
    <vt:vector size="37" baseType="lpstr">
      <vt:lpstr>Default Design</vt:lpstr>
      <vt:lpstr>The Hadoop Distributed Filesystem</vt:lpstr>
      <vt:lpstr>PowerPoint Presentation</vt:lpstr>
      <vt:lpstr>Design Criteria of HDFS</vt:lpstr>
      <vt:lpstr>HDFS Blocks</vt:lpstr>
      <vt:lpstr>Namenode – The Master</vt:lpstr>
      <vt:lpstr>Filesystem Tree Example</vt:lpstr>
      <vt:lpstr>Datanodes - Workers</vt:lpstr>
      <vt:lpstr>HDFS High Availability</vt:lpstr>
      <vt:lpstr>HDFS Configuration</vt:lpstr>
      <vt:lpstr>Basic Filesystem Operations – 1</vt:lpstr>
      <vt:lpstr>Basic Filesystem Operations – 2</vt:lpstr>
      <vt:lpstr>Hadoop Filesystems – 1</vt:lpstr>
      <vt:lpstr>PowerPoint Presentation</vt:lpstr>
      <vt:lpstr>Open a Data Stream</vt:lpstr>
      <vt:lpstr>Read Data</vt:lpstr>
      <vt:lpstr>A Sample Run</vt:lpstr>
      <vt:lpstr>Reading Data Using the FileSystem</vt:lpstr>
      <vt:lpstr>FSDataInputStream</vt:lpstr>
      <vt:lpstr>Seek – p.58</vt:lpstr>
      <vt:lpstr>Writing Data</vt:lpstr>
      <vt:lpstr>FSDataOutputStream</vt:lpstr>
      <vt:lpstr>Show File Status Test – p.62</vt:lpstr>
      <vt:lpstr>Directories</vt:lpstr>
      <vt:lpstr>File Metadata: FileStatus</vt:lpstr>
      <vt:lpstr>Listing Files </vt:lpstr>
      <vt:lpstr>File Patterns</vt:lpstr>
      <vt:lpstr>PathFilter</vt:lpstr>
      <vt:lpstr>A Client Reading Data From HDFS</vt:lpstr>
      <vt:lpstr>Error Handling – 1</vt:lpstr>
      <vt:lpstr>PowerPoint Presentation</vt:lpstr>
      <vt:lpstr>PowerPoint Presentation</vt:lpstr>
      <vt:lpstr>Coherency Model</vt:lpstr>
      <vt:lpstr>Distcp – Parallel Coping</vt:lpstr>
      <vt:lpstr>Hadoop Archives – New Commands</vt:lpstr>
      <vt:lpstr>Hadoop Archives – Old Commands</vt:lpstr>
      <vt:lpstr>Custom Show 1</vt:lpstr>
    </vt:vector>
  </TitlesOfParts>
  <Company>Azimuth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KL</dc:creator>
  <cp:lastModifiedBy>Jiming</cp:lastModifiedBy>
  <cp:revision>425</cp:revision>
  <dcterms:created xsi:type="dcterms:W3CDTF">2005-03-05T09:57:46Z</dcterms:created>
  <dcterms:modified xsi:type="dcterms:W3CDTF">2017-01-12T08:24:39Z</dcterms:modified>
</cp:coreProperties>
</file>