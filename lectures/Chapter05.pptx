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71" r:id="rId2"/>
    <p:sldId id="472" r:id="rId3"/>
    <p:sldId id="511" r:id="rId4"/>
    <p:sldId id="512" r:id="rId5"/>
    <p:sldId id="513" r:id="rId6"/>
    <p:sldId id="514" r:id="rId7"/>
    <p:sldId id="475" r:id="rId8"/>
    <p:sldId id="477" r:id="rId9"/>
    <p:sldId id="515" r:id="rId10"/>
    <p:sldId id="517" r:id="rId11"/>
    <p:sldId id="518" r:id="rId12"/>
    <p:sldId id="519" r:id="rId13"/>
    <p:sldId id="520" r:id="rId14"/>
    <p:sldId id="521" r:id="rId15"/>
    <p:sldId id="522" r:id="rId16"/>
    <p:sldId id="487" r:id="rId17"/>
    <p:sldId id="523" r:id="rId18"/>
    <p:sldId id="525" r:id="rId19"/>
    <p:sldId id="526" r:id="rId20"/>
    <p:sldId id="494" r:id="rId21"/>
    <p:sldId id="496" r:id="rId22"/>
    <p:sldId id="498" r:id="rId23"/>
    <p:sldId id="527" r:id="rId24"/>
    <p:sldId id="499" r:id="rId25"/>
    <p:sldId id="500" r:id="rId26"/>
    <p:sldId id="528" r:id="rId27"/>
    <p:sldId id="529" r:id="rId28"/>
    <p:sldId id="504" r:id="rId29"/>
    <p:sldId id="505" r:id="rId30"/>
    <p:sldId id="530" r:id="rId31"/>
    <p:sldId id="531" r:id="rId32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267200" y="6521450"/>
            <a:ext cx="6953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r>
              <a:rPr lang="en-US" sz="1600" b="1" dirty="0" smtClean="0">
                <a:solidFill>
                  <a:srgbClr val="FFFFFF"/>
                </a:solidFill>
              </a:rPr>
              <a:t>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5: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Developing a MapReduce Application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43200"/>
            <a:ext cx="7772400" cy="1908175"/>
          </a:xfrm>
        </p:spPr>
        <p:txBody>
          <a:bodyPr>
            <a:normAutofit/>
          </a:bodyPr>
          <a:lstStyle/>
          <a:p>
            <a:r>
              <a:rPr lang="en-US" altLang="ko-KR" sz="4800" b="1" dirty="0" smtClean="0"/>
              <a:t>Developing </a:t>
            </a:r>
            <a:r>
              <a:rPr lang="en-US" altLang="ko-KR" sz="4800" b="1" dirty="0"/>
              <a:t>a MapReduce Application</a:t>
            </a:r>
            <a:endParaRPr lang="ko-KR" altLang="en-US" sz="4800" b="1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5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4023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33600" y="2286000"/>
            <a:ext cx="5181600" cy="22860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The Configuration </a:t>
            </a:r>
            <a:r>
              <a:rPr lang="en-US" altLang="ko-KR" sz="2600" dirty="0" smtClean="0"/>
              <a:t>File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Development Environment Setup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Write </a:t>
            </a:r>
            <a:r>
              <a:rPr lang="en-US" altLang="ko-KR" sz="2600" dirty="0"/>
              <a:t>a Unit Test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Run a Job</a:t>
            </a:r>
            <a:endParaRPr lang="en-US" altLang="ko-KR" sz="2600" dirty="0"/>
          </a:p>
        </p:txBody>
      </p:sp>
      <p:sp>
        <p:nvSpPr>
          <p:cNvPr id="6" name="Rectangle 5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0349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Configuration File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24000"/>
            <a:ext cx="61722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5118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Configuration File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09800"/>
            <a:ext cx="888552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599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Configuration File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540933"/>
            <a:ext cx="5943600" cy="48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80440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Configuration File –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09800"/>
            <a:ext cx="8831373" cy="311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8286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5052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Variable Expansion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990600" y="1981200"/>
            <a:ext cx="7162800" cy="9144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Properties can be defined in terms of other </a:t>
            </a:r>
            <a:r>
              <a:rPr lang="en-US" altLang="ko-KR" sz="2400" kern="1200" dirty="0" smtClean="0">
                <a:ea typeface="+mn-ea"/>
                <a:cs typeface="+mn-cs"/>
              </a:rPr>
              <a:t>properties, or system properties.</a:t>
            </a:r>
            <a:endParaRPr lang="en-US" altLang="ko-KR" sz="2400" kern="1200" dirty="0"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0"/>
            <a:ext cx="8534400" cy="183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455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Configuring the Development Environment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09600" y="1752600"/>
            <a:ext cx="7924799" cy="838200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Assume the </a:t>
            </a:r>
            <a:r>
              <a:rPr lang="en-US" altLang="ko-KR" sz="2200" i="1" kern="1200" dirty="0" err="1" smtClean="0">
                <a:ea typeface="+mn-ea"/>
                <a:cs typeface="+mn-cs"/>
              </a:rPr>
              <a:t>conf</a:t>
            </a:r>
            <a:r>
              <a:rPr lang="en-US" altLang="ko-KR" sz="2200" kern="1200" dirty="0" smtClean="0">
                <a:ea typeface="+mn-ea"/>
                <a:cs typeface="+mn-cs"/>
              </a:rPr>
              <a:t> directory contains three configuration files: hadoop-local.xml, hadoop-localhost.xml, and hadoop-cluster.xml.</a:t>
            </a:r>
            <a:endParaRPr lang="en-US" altLang="ko-KR" sz="2200" kern="1200" dirty="0">
              <a:ea typeface="+mn-ea"/>
              <a:cs typeface="+mn-cs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787257"/>
              </p:ext>
            </p:extLst>
          </p:nvPr>
        </p:nvGraphicFramePr>
        <p:xfrm>
          <a:off x="457200" y="2895600"/>
          <a:ext cx="8229600" cy="1401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2253"/>
                <a:gridCol w="1588168"/>
                <a:gridCol w="2310063"/>
                <a:gridCol w="1949116"/>
              </a:tblGrid>
              <a:tr h="500066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smtClean="0">
                          <a:latin typeface="Corbel" pitchFamily="34" charset="0"/>
                        </a:rPr>
                        <a:t>Local</a:t>
                      </a:r>
                      <a:endParaRPr lang="ko-KR" altLang="en-US" sz="2000" b="0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smtClean="0">
                          <a:latin typeface="Corbel" pitchFamily="34" charset="0"/>
                        </a:rPr>
                        <a:t>Pseudo-distributed</a:t>
                      </a:r>
                      <a:endParaRPr lang="ko-KR" altLang="en-US" sz="2000" b="0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smtClean="0">
                          <a:latin typeface="Corbel" pitchFamily="34" charset="0"/>
                        </a:rPr>
                        <a:t>Distributed</a:t>
                      </a:r>
                      <a:endParaRPr lang="ko-KR" altLang="en-US" sz="2000" b="0" dirty="0"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22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Corbel" pitchFamily="34" charset="0"/>
                        </a:rPr>
                        <a:t>fs.default.name</a:t>
                      </a:r>
                      <a:endParaRPr lang="ko-KR" altLang="en-US" sz="2000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Corbel" pitchFamily="34" charset="0"/>
                        </a:rPr>
                        <a:t>file:///</a:t>
                      </a:r>
                      <a:endParaRPr lang="ko-KR" altLang="en-US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Corbel" pitchFamily="34" charset="0"/>
                        </a:rPr>
                        <a:t>hdfs://localhost/</a:t>
                      </a:r>
                      <a:endParaRPr lang="ko-KR" altLang="en-US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Corbel" pitchFamily="34" charset="0"/>
                        </a:rPr>
                        <a:t>hdfs://namenode/</a:t>
                      </a:r>
                      <a:endParaRPr lang="ko-KR" altLang="en-US" dirty="0"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783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 smtClean="0">
                          <a:latin typeface="Corbel" pitchFamily="34" charset="0"/>
                        </a:rPr>
                        <a:t>mapred.job.tracker</a:t>
                      </a:r>
                      <a:endParaRPr lang="ko-KR" altLang="en-US" sz="2000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Corbel" pitchFamily="34" charset="0"/>
                        </a:rPr>
                        <a:t>local</a:t>
                      </a:r>
                      <a:endParaRPr lang="ko-KR" altLang="en-US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Corbel" pitchFamily="34" charset="0"/>
                        </a:rPr>
                        <a:t>localhost:8021</a:t>
                      </a:r>
                      <a:endParaRPr lang="ko-KR" altLang="en-US" dirty="0"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Corbel" pitchFamily="34" charset="0"/>
                        </a:rPr>
                        <a:t>jobtracker:8021</a:t>
                      </a:r>
                      <a:endParaRPr lang="ko-KR" altLang="en-US" dirty="0">
                        <a:latin typeface="Corb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" name="그림 9" descr="그림 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00200" y="5181600"/>
            <a:ext cx="6125737" cy="371257"/>
          </a:xfrm>
          <a:prstGeom prst="rect">
            <a:avLst/>
          </a:prstGeom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1431874" y="4648200"/>
            <a:ext cx="6686552" cy="457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To specify which configuration file you are using </a:t>
            </a:r>
            <a:endParaRPr lang="en-US" altLang="ko-KR" sz="22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404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Tool Implementation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696200" cy="48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0047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Show the Properties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57400"/>
            <a:ext cx="85344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708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Test For Mapper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24000"/>
            <a:ext cx="8408724" cy="492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6750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The First Version of a Mapper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76400"/>
            <a:ext cx="8728788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838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Test Missing Value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81200"/>
            <a:ext cx="8549198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4447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10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Fix to Handling Missing Value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00200"/>
            <a:ext cx="8702491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3688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3810000" y="1066800"/>
            <a:ext cx="3124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Test For Reducer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3600"/>
            <a:ext cx="8382000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967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3810000" y="1066800"/>
            <a:ext cx="3124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Reducer Passes the Test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76400"/>
            <a:ext cx="7315200" cy="46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920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3581400" y="1066800"/>
            <a:ext cx="36576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Driver to Run MapReduce – p.157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49400"/>
            <a:ext cx="72390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308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3581400" y="1066800"/>
            <a:ext cx="36576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Fixing the Mapper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32467"/>
            <a:ext cx="7620000" cy="494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652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3581400" y="1066800"/>
            <a:ext cx="36576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Fixing the Mapper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00200"/>
            <a:ext cx="7239000" cy="476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142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7338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Testing the Driver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77384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22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33432" y="1066800"/>
            <a:ext cx="3553167" cy="381000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Packaging and Launching a Job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753022" y="1905000"/>
            <a:ext cx="6305552" cy="381000"/>
          </a:xfrm>
        </p:spPr>
        <p:txBody>
          <a:bodyPr>
            <a:noAutofit/>
          </a:bodyPr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kern="1200" dirty="0">
                <a:ea typeface="+mn-ea"/>
                <a:cs typeface="+mn-cs"/>
              </a:rPr>
              <a:t>Packaging – package a job’s classes into a </a:t>
            </a:r>
            <a:r>
              <a:rPr lang="en-US" altLang="ko-KR" sz="2000" i="1" kern="1200" dirty="0">
                <a:ea typeface="+mn-ea"/>
                <a:cs typeface="+mn-cs"/>
              </a:rPr>
              <a:t>JAR</a:t>
            </a:r>
            <a:r>
              <a:rPr lang="en-US" altLang="ko-KR" sz="2000" kern="1200" dirty="0">
                <a:ea typeface="+mn-ea"/>
                <a:cs typeface="+mn-cs"/>
              </a:rPr>
              <a:t> file</a:t>
            </a:r>
            <a:r>
              <a:rPr lang="en-US" altLang="ko-KR" sz="2000" kern="1200" dirty="0" smtClean="0">
                <a:ea typeface="+mn-ea"/>
                <a:cs typeface="+mn-cs"/>
              </a:rPr>
              <a:t>.</a:t>
            </a:r>
            <a:endParaRPr lang="en-US" altLang="ko-KR" sz="2000" kern="1200" dirty="0">
              <a:ea typeface="+mn-ea"/>
              <a:cs typeface="+mn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69956" y="3594603"/>
            <a:ext cx="7534308" cy="12296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smtClean="0"/>
              <a:t>This class will also use </a:t>
            </a:r>
            <a:r>
              <a:rPr lang="en-US" altLang="ko-KR" sz="2000" i="1" dirty="0" smtClean="0"/>
              <a:t>Eclipse</a:t>
            </a:r>
            <a:r>
              <a:rPr lang="en-US" altLang="ko-KR" sz="2000" dirty="0" smtClean="0"/>
              <a:t> to create a </a:t>
            </a:r>
            <a:r>
              <a:rPr lang="en-US" altLang="ko-KR" sz="2000" i="1" dirty="0" smtClean="0"/>
              <a:t>JAR</a:t>
            </a:r>
            <a:r>
              <a:rPr lang="en-US" altLang="ko-KR" sz="2000" dirty="0" smtClean="0"/>
              <a:t> file</a:t>
            </a:r>
          </a:p>
          <a:p>
            <a:pPr marL="342900" lvl="1" indent="-342900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smtClean="0"/>
              <a:t>Launching </a:t>
            </a:r>
            <a:r>
              <a:rPr lang="en-US" altLang="ko-KR" sz="2000" dirty="0"/>
              <a:t>– run the driver, specifying the driver class, input and output folders.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22" y="2438400"/>
            <a:ext cx="7772399" cy="11562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824261"/>
            <a:ext cx="6078555" cy="8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611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685800" y="2514600"/>
            <a:ext cx="7772400" cy="21336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Hadoop comes with a web UI for viewing job information.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It is useful </a:t>
            </a:r>
            <a:r>
              <a:rPr lang="en-US" altLang="ko-KR" sz="2400" kern="1200" dirty="0">
                <a:ea typeface="+mn-ea"/>
                <a:cs typeface="+mn-cs"/>
              </a:rPr>
              <a:t>for finding job’s progress, statistics, and </a:t>
            </a:r>
            <a:r>
              <a:rPr lang="en-US" altLang="ko-KR" sz="2400" kern="1200" dirty="0" smtClean="0">
                <a:ea typeface="+mn-ea"/>
                <a:cs typeface="+mn-cs"/>
              </a:rPr>
              <a:t>logs.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The </a:t>
            </a:r>
            <a:r>
              <a:rPr lang="en-US" altLang="ko-KR" sz="2400" kern="1200" dirty="0" smtClean="0">
                <a:ea typeface="+mn-ea"/>
                <a:cs typeface="+mn-cs"/>
              </a:rPr>
              <a:t>UI is at  </a:t>
            </a:r>
            <a:r>
              <a:rPr lang="en-US" altLang="ko-KR" sz="2400" i="1" kern="1200" dirty="0" smtClean="0">
                <a:ea typeface="+mn-ea"/>
                <a:cs typeface="+mn-cs"/>
              </a:rPr>
              <a:t>http</a:t>
            </a:r>
            <a:r>
              <a:rPr lang="en-US" altLang="ko-KR" sz="2400" i="1" kern="1200" dirty="0">
                <a:ea typeface="+mn-ea"/>
                <a:cs typeface="+mn-cs"/>
              </a:rPr>
              <a:t>://</a:t>
            </a:r>
            <a:r>
              <a:rPr lang="en-US" altLang="ko-KR" sz="2400" i="1" kern="1200" dirty="0" smtClean="0">
                <a:ea typeface="+mn-ea"/>
                <a:cs typeface="+mn-cs"/>
              </a:rPr>
              <a:t>jobtracker-host:50030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It has a </a:t>
            </a:r>
            <a:r>
              <a:rPr lang="en-US" altLang="ko-KR" sz="24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400" kern="1200" dirty="0" smtClean="0">
                <a:ea typeface="+mn-ea"/>
                <a:cs typeface="+mn-cs"/>
              </a:rPr>
              <a:t>/home page and a job page.</a:t>
            </a:r>
            <a:endParaRPr lang="en-US" altLang="ko-KR" sz="2400" kern="1200" dirty="0">
              <a:ea typeface="+mn-ea"/>
              <a:cs typeface="+mn-cs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533432" y="1066800"/>
            <a:ext cx="3553167" cy="381000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View Job Information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4996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505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The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JobTracker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/Home Page 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4000"/>
            <a:ext cx="7391400" cy="529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The Job Page 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70866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878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그림 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3600" y="1523999"/>
            <a:ext cx="7353328" cy="4938641"/>
          </a:xfrm>
          <a:prstGeom prst="rect">
            <a:avLst/>
          </a:prstGeom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Completion Graph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550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33432" y="1066800"/>
            <a:ext cx="3553167" cy="381000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Retrieve Results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632788" y="1816154"/>
            <a:ext cx="5876378" cy="609600"/>
          </a:xfrm>
        </p:spPr>
        <p:txBody>
          <a:bodyPr>
            <a:noAutofit/>
          </a:bodyPr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kern="1200" dirty="0" smtClean="0">
                <a:ea typeface="+mn-ea"/>
                <a:cs typeface="+mn-cs"/>
              </a:rPr>
              <a:t>The </a:t>
            </a:r>
            <a:r>
              <a:rPr lang="en-US" altLang="ko-KR" sz="1800" b="1" kern="1200" dirty="0" smtClean="0">
                <a:ea typeface="+mn-ea"/>
                <a:cs typeface="+mn-cs"/>
              </a:rPr>
              <a:t>–</a:t>
            </a:r>
            <a:r>
              <a:rPr lang="en-US" altLang="ko-KR" sz="1800" b="1" kern="1200" dirty="0" err="1" smtClean="0">
                <a:ea typeface="+mn-ea"/>
                <a:cs typeface="+mn-cs"/>
              </a:rPr>
              <a:t>getmerge</a:t>
            </a:r>
            <a:r>
              <a:rPr lang="en-US" altLang="ko-KR" sz="1800" b="1" kern="1200" dirty="0" smtClean="0">
                <a:ea typeface="+mn-ea"/>
                <a:cs typeface="+mn-cs"/>
              </a:rPr>
              <a:t> </a:t>
            </a:r>
            <a:r>
              <a:rPr lang="en-US" altLang="ko-KR" sz="1800" kern="1200" dirty="0" smtClean="0">
                <a:ea typeface="+mn-ea"/>
                <a:cs typeface="+mn-cs"/>
              </a:rPr>
              <a:t>option gets all the files in the directory and merges them into a single file on the local filesystem.</a:t>
            </a:r>
            <a:endParaRPr lang="en-US" altLang="ko-KR" sz="1800" kern="1200" dirty="0">
              <a:ea typeface="+mn-ea"/>
              <a:cs typeface="+mn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600200" y="5132215"/>
            <a:ext cx="5520777" cy="3876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/>
              <a:t>The –cat option prints the output files to the console.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577" y="2552753"/>
            <a:ext cx="4876800" cy="2471485"/>
          </a:xfrm>
          <a:prstGeom prst="rect">
            <a:avLst/>
          </a:prstGeom>
        </p:spPr>
      </p:pic>
      <p:pic>
        <p:nvPicPr>
          <p:cNvPr id="8" name="그림 10" descr="그림 1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2577" y="5552311"/>
            <a:ext cx="3092379" cy="29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40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Debugging a Job – p.171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7162800" cy="53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199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그림 1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4282" y="1752600"/>
            <a:ext cx="8749207" cy="413968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3810896" y="4453467"/>
            <a:ext cx="1785950" cy="428628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Debugging a Job – 2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469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09800"/>
            <a:ext cx="8686800" cy="2717800"/>
          </a:xfrm>
          <a:prstGeom prst="rect">
            <a:avLst/>
          </a:prstGeom>
        </p:spPr>
      </p:pic>
      <p:sp>
        <p:nvSpPr>
          <p:cNvPr id="10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Debugging a Job – 3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(p.174)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9324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Debugging a Job – 4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86000"/>
            <a:ext cx="8357977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34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Logs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7696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270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6942</TotalTime>
  <Words>311</Words>
  <Application>Microsoft Office PowerPoint</Application>
  <PresentationFormat>On-screen Show (4:3)</PresentationFormat>
  <Paragraphs>59</Paragraphs>
  <Slides>31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  <vt:variant>
        <vt:lpstr>Custom Shows</vt:lpstr>
      </vt:variant>
      <vt:variant>
        <vt:i4>1</vt:i4>
      </vt:variant>
    </vt:vector>
  </HeadingPairs>
  <TitlesOfParts>
    <vt:vector size="33" baseType="lpstr">
      <vt:lpstr>Default Design</vt:lpstr>
      <vt:lpstr>Developing a MapReduce Application</vt:lpstr>
      <vt:lpstr>PowerPoint Presentation</vt:lpstr>
      <vt:lpstr>Hadoop Configuration File – 1</vt:lpstr>
      <vt:lpstr>Hadoop Configuration File – 2</vt:lpstr>
      <vt:lpstr>Hadoop Configuration File – 3</vt:lpstr>
      <vt:lpstr>Hadoop Configuration File – 4</vt:lpstr>
      <vt:lpstr>Variable Expansion</vt:lpstr>
      <vt:lpstr>Configuring the Development Environment</vt:lpstr>
      <vt:lpstr>A Tool Implementation</vt:lpstr>
      <vt:lpstr>Show the Properties</vt:lpstr>
      <vt:lpstr>Test For Mapper</vt:lpstr>
      <vt:lpstr>The First Version of a Mapper</vt:lpstr>
      <vt:lpstr>Test Missing Value</vt:lpstr>
      <vt:lpstr>A Fix to Handling Missing 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the Driver</vt:lpstr>
      <vt:lpstr>Packaging and Launching a Job</vt:lpstr>
      <vt:lpstr>View Job Information</vt:lpstr>
      <vt:lpstr>The JobTracker/Home Page </vt:lpstr>
      <vt:lpstr>PowerPoint Presentation</vt:lpstr>
      <vt:lpstr>PowerPoint Presentation</vt:lpstr>
      <vt:lpstr>Retrieve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502</cp:revision>
  <dcterms:created xsi:type="dcterms:W3CDTF">2005-03-05T09:57:46Z</dcterms:created>
  <dcterms:modified xsi:type="dcterms:W3CDTF">2017-04-29T05:21:18Z</dcterms:modified>
</cp:coreProperties>
</file>