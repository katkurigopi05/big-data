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670" r:id="rId2"/>
    <p:sldId id="671" r:id="rId3"/>
    <p:sldId id="642" r:id="rId4"/>
    <p:sldId id="643" r:id="rId5"/>
    <p:sldId id="708" r:id="rId6"/>
    <p:sldId id="709" r:id="rId7"/>
    <p:sldId id="644" r:id="rId8"/>
    <p:sldId id="710" r:id="rId9"/>
    <p:sldId id="724" r:id="rId10"/>
    <p:sldId id="725" r:id="rId11"/>
    <p:sldId id="645" r:id="rId12"/>
    <p:sldId id="711" r:id="rId13"/>
    <p:sldId id="712" r:id="rId14"/>
    <p:sldId id="713" r:id="rId15"/>
    <p:sldId id="715" r:id="rId16"/>
    <p:sldId id="714" r:id="rId17"/>
    <p:sldId id="716" r:id="rId18"/>
    <p:sldId id="717" r:id="rId19"/>
    <p:sldId id="718" r:id="rId20"/>
    <p:sldId id="719" r:id="rId21"/>
    <p:sldId id="720" r:id="rId22"/>
    <p:sldId id="721" r:id="rId23"/>
    <p:sldId id="722" r:id="rId24"/>
    <p:sldId id="723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0F10"/>
    <a:srgbClr val="FFB060"/>
    <a:srgbClr val="FF0000"/>
    <a:srgbClr val="A50021"/>
    <a:srgbClr val="FF6600"/>
    <a:srgbClr val="F9E9B5"/>
    <a:srgbClr val="E8CE9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1" autoAdjust="0"/>
    <p:restoredTop sz="99734" autoAdjust="0"/>
  </p:normalViewPr>
  <p:slideViewPr>
    <p:cSldViewPr>
      <p:cViewPr>
        <p:scale>
          <a:sx n="75" d="100"/>
          <a:sy n="75" d="100"/>
        </p:scale>
        <p:origin x="-620" y="3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D0812615-5710-4348-85EC-BB3F7D419A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4527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5" descr="main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solidFill>
            <a:srgbClr val="9F0F1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60" name="Text Box 36"/>
          <p:cNvSpPr txBox="1">
            <a:spLocks noChangeArrowheads="1"/>
          </p:cNvSpPr>
          <p:nvPr userDrawn="1"/>
        </p:nvSpPr>
        <p:spPr bwMode="auto">
          <a:xfrm>
            <a:off x="3886200" y="6498223"/>
            <a:ext cx="1371600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600" b="1" dirty="0" smtClean="0">
                <a:solidFill>
                  <a:srgbClr val="FFFFFF"/>
                </a:solidFill>
              </a:rPr>
              <a:t>13/14/15.</a:t>
            </a:r>
            <a:fld id="{EC98DED3-7B70-48B6-8413-854EF57C18FA}" type="slidenum">
              <a:rPr lang="en-US" sz="1600" b="1" smtClean="0">
                <a:solidFill>
                  <a:srgbClr val="FFFFFF"/>
                </a:solidFill>
              </a:rPr>
              <a:pPr eaLnBrk="0" hangingPunct="0">
                <a:spcBef>
                  <a:spcPct val="50000"/>
                </a:spcBef>
                <a:defRPr/>
              </a:pPr>
              <a:t>‹#›</a:t>
            </a:fld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1063" name="Text Box 39"/>
          <p:cNvSpPr txBox="1">
            <a:spLocks noChangeArrowheads="1"/>
          </p:cNvSpPr>
          <p:nvPr userDrawn="1"/>
        </p:nvSpPr>
        <p:spPr bwMode="auto">
          <a:xfrm>
            <a:off x="1752600" y="990600"/>
            <a:ext cx="6019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1752600" y="200025"/>
            <a:ext cx="7315200" cy="6381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ctr"/>
          <a:lstStyle/>
          <a:p>
            <a:pPr algn="ctr" eaLnBrk="0" hangingPunct="0">
              <a:defRPr/>
            </a:pPr>
            <a:r>
              <a:rPr lang="en-US" sz="20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Hadoop – The Definitive Guide</a:t>
            </a:r>
            <a:endParaRPr 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 eaLnBrk="0" hangingPunct="0">
              <a:spcBef>
                <a:spcPts val="600"/>
              </a:spcBef>
              <a:defRPr/>
            </a:pPr>
            <a:r>
              <a:rPr lang="en-US" sz="1600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Chapters 13, 14 &amp; 15: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en-US" sz="1600" b="1" baseline="0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HBase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</a:t>
            </a:r>
            <a:r>
              <a:rPr lang="en-US" sz="1600" b="1" baseline="0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ZooKeeper</a:t>
            </a:r>
            <a:r>
              <a:rPr lang="en-US" sz="1600" b="1" baseline="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, and </a:t>
            </a:r>
            <a:r>
              <a:rPr lang="en-US" sz="1600" b="1" baseline="0" dirty="0" err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Sqoop</a:t>
            </a:r>
            <a:endParaRPr lang="en-US" sz="16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2743200"/>
            <a:ext cx="5486400" cy="1981200"/>
          </a:xfrm>
        </p:spPr>
        <p:txBody>
          <a:bodyPr/>
          <a:lstStyle/>
          <a:p>
            <a:r>
              <a:rPr lang="en-US" altLang="ko-KR" sz="4800" b="1" dirty="0" err="1" smtClean="0"/>
              <a:t>HBase</a:t>
            </a:r>
            <a:r>
              <a:rPr lang="en-US" altLang="ko-KR" sz="4800" b="1" dirty="0" smtClean="0"/>
              <a:t>, </a:t>
            </a:r>
            <a:r>
              <a:rPr lang="en-US" altLang="ko-KR" sz="4800" b="1" dirty="0" err="1" smtClean="0"/>
              <a:t>ZooKeeper</a:t>
            </a:r>
            <a:r>
              <a:rPr lang="en-US" altLang="ko-KR" sz="4800" b="1" dirty="0" smtClean="0"/>
              <a:t>, and </a:t>
            </a:r>
            <a:r>
              <a:rPr lang="en-US" altLang="ko-KR" sz="4800" b="1" dirty="0" err="1" smtClean="0"/>
              <a:t>Sqoop</a:t>
            </a:r>
            <a:endParaRPr lang="ko-KR" altLang="en-US" sz="4800" b="1" dirty="0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3810000" y="1066800"/>
            <a:ext cx="32004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Chapters 13, 14 &amp; 15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36297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362200" y="2438400"/>
            <a:ext cx="4419600" cy="2286000"/>
          </a:xfrm>
        </p:spPr>
        <p:txBody>
          <a:bodyPr/>
          <a:lstStyle/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dirty="0" smtClean="0"/>
              <a:t>Introduce </a:t>
            </a:r>
            <a:r>
              <a:rPr lang="en-US" altLang="ko-KR" sz="3400" dirty="0" err="1" smtClean="0"/>
              <a:t>HBase</a:t>
            </a:r>
            <a:endParaRPr lang="en-US" altLang="ko-KR" sz="34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dirty="0" smtClean="0"/>
              <a:t>Introduce </a:t>
            </a:r>
            <a:r>
              <a:rPr lang="en-US" altLang="ko-KR" sz="3400" dirty="0" err="1" smtClean="0"/>
              <a:t>ZooKeeper</a:t>
            </a:r>
            <a:endParaRPr lang="en-US" altLang="ko-KR" sz="3400" dirty="0"/>
          </a:p>
          <a:p>
            <a:pPr marL="342900" lvl="1" indent="-342900" eaLnBrk="1" hangingPunct="1">
              <a:lnSpc>
                <a:spcPct val="120000"/>
              </a:lnSpc>
              <a:spcBef>
                <a:spcPts val="6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3400" dirty="0" smtClean="0"/>
              <a:t>Introduce </a:t>
            </a:r>
            <a:r>
              <a:rPr lang="en-US" altLang="ko-KR" sz="3400" dirty="0" err="1" smtClean="0"/>
              <a:t>Sqoop</a:t>
            </a:r>
            <a:endParaRPr lang="en-US" altLang="ko-KR" sz="3400" dirty="0"/>
          </a:p>
        </p:txBody>
      </p:sp>
      <p:sp>
        <p:nvSpPr>
          <p:cNvPr id="7" name="Rectangle 6"/>
          <p:cNvSpPr/>
          <p:nvPr/>
        </p:nvSpPr>
        <p:spPr>
          <a:xfrm>
            <a:off x="3886200" y="1066800"/>
            <a:ext cx="304845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en-US" sz="1600" b="1" dirty="0" smtClean="0">
                <a:cs typeface="Times New Roman" pitchFamily="18" charset="0"/>
              </a:rPr>
              <a:t>Learning Objectives</a:t>
            </a:r>
            <a:endParaRPr lang="en-US" sz="1600" b="1" dirty="0"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3471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6800" y="2209800"/>
            <a:ext cx="7010400" cy="29718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err="1">
                <a:ea typeface="+mn-ea"/>
                <a:cs typeface="+mn-cs"/>
              </a:rPr>
              <a:t>HBase</a:t>
            </a:r>
            <a:r>
              <a:rPr lang="en-US" altLang="ko-KR" sz="2500" kern="1200" dirty="0">
                <a:ea typeface="+mn-ea"/>
                <a:cs typeface="+mn-cs"/>
              </a:rPr>
              <a:t> is a distributed column-oriented database built on top of HDFS. </a:t>
            </a:r>
            <a:endParaRPr lang="en-US" altLang="ko-KR" sz="25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err="1" smtClean="0">
                <a:ea typeface="+mn-ea"/>
                <a:cs typeface="+mn-cs"/>
              </a:rPr>
              <a:t>HBase</a:t>
            </a:r>
            <a:r>
              <a:rPr lang="en-US" altLang="ko-KR" sz="2500" kern="1200" dirty="0" smtClean="0">
                <a:ea typeface="+mn-ea"/>
                <a:cs typeface="+mn-cs"/>
              </a:rPr>
              <a:t> </a:t>
            </a:r>
            <a:r>
              <a:rPr lang="en-US" altLang="ko-KR" sz="2500" kern="1200" dirty="0">
                <a:ea typeface="+mn-ea"/>
                <a:cs typeface="+mn-cs"/>
              </a:rPr>
              <a:t>is </a:t>
            </a:r>
            <a:r>
              <a:rPr lang="en-US" altLang="ko-KR" sz="2500" kern="1200" dirty="0" smtClean="0">
                <a:ea typeface="+mn-ea"/>
                <a:cs typeface="+mn-cs"/>
              </a:rPr>
              <a:t>used for real-time </a:t>
            </a:r>
            <a:r>
              <a:rPr lang="en-US" altLang="ko-KR" sz="2500" kern="1200" dirty="0">
                <a:ea typeface="+mn-ea"/>
                <a:cs typeface="+mn-cs"/>
              </a:rPr>
              <a:t>read/write random access </a:t>
            </a:r>
            <a:r>
              <a:rPr lang="en-US" altLang="ko-KR" sz="2500" kern="1200" dirty="0" smtClean="0">
                <a:ea typeface="+mn-ea"/>
                <a:cs typeface="+mn-cs"/>
              </a:rPr>
              <a:t>to very </a:t>
            </a:r>
            <a:r>
              <a:rPr lang="en-US" altLang="ko-KR" sz="2500" kern="1200" dirty="0">
                <a:ea typeface="+mn-ea"/>
                <a:cs typeface="+mn-cs"/>
              </a:rPr>
              <a:t>large datasets</a:t>
            </a:r>
            <a:r>
              <a:rPr lang="en-US" altLang="ko-KR" sz="2500" kern="1200" dirty="0" smtClean="0">
                <a:ea typeface="+mn-ea"/>
                <a:cs typeface="+mn-cs"/>
              </a:rPr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err="1">
                <a:ea typeface="+mn-ea"/>
                <a:cs typeface="+mn-cs"/>
              </a:rPr>
              <a:t>HBase</a:t>
            </a:r>
            <a:r>
              <a:rPr lang="en-US" altLang="ko-KR" sz="2500" kern="1200" dirty="0">
                <a:ea typeface="+mn-ea"/>
                <a:cs typeface="+mn-cs"/>
              </a:rPr>
              <a:t> is not relational and does </a:t>
            </a:r>
            <a:r>
              <a:rPr lang="en-US" altLang="ko-KR" sz="2500" kern="1200" dirty="0" smtClean="0">
                <a:ea typeface="+mn-ea"/>
                <a:cs typeface="+mn-cs"/>
              </a:rPr>
              <a:t>not support SQL. 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err="1" smtClean="0">
                <a:ea typeface="+mn-ea"/>
                <a:cs typeface="+mn-cs"/>
              </a:rPr>
              <a:t>Hbase</a:t>
            </a:r>
            <a:r>
              <a:rPr lang="en-US" altLang="ko-KR" sz="2500" kern="1200" dirty="0" smtClean="0">
                <a:ea typeface="+mn-ea"/>
                <a:cs typeface="+mn-cs"/>
              </a:rPr>
              <a:t> can </a:t>
            </a:r>
            <a:r>
              <a:rPr lang="en-US" altLang="ko-KR" sz="2500" kern="1200" dirty="0">
                <a:ea typeface="+mn-ea"/>
                <a:cs typeface="+mn-cs"/>
              </a:rPr>
              <a:t>do what an </a:t>
            </a:r>
            <a:r>
              <a:rPr lang="en-US" altLang="ko-KR" sz="2500" kern="1200" dirty="0" smtClean="0">
                <a:ea typeface="+mn-ea"/>
                <a:cs typeface="+mn-cs"/>
              </a:rPr>
              <a:t>RDBMS cannot</a:t>
            </a:r>
            <a:r>
              <a:rPr lang="en-US" altLang="ko-KR" sz="2500" kern="1200" dirty="0">
                <a:ea typeface="+mn-ea"/>
                <a:cs typeface="+mn-cs"/>
              </a:rPr>
              <a:t>: host very large, sparsely populated tables on clusters</a:t>
            </a:r>
            <a:r>
              <a:rPr lang="en-US" altLang="ko-KR" sz="2500" kern="1200" dirty="0" smtClean="0">
                <a:ea typeface="+mn-ea"/>
                <a:cs typeface="+mn-cs"/>
              </a:rPr>
              <a:t>.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What Is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HBase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4458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62000" y="2133600"/>
            <a:ext cx="7543800" cy="32004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Row columns are grouped into column </a:t>
            </a:r>
            <a:r>
              <a:rPr lang="en-US" altLang="ko-KR" sz="2400" kern="1200" dirty="0" smtClean="0">
                <a:ea typeface="+mn-ea"/>
                <a:cs typeface="+mn-cs"/>
              </a:rPr>
              <a:t>families and all </a:t>
            </a:r>
            <a:r>
              <a:rPr lang="en-US" altLang="ko-KR" sz="2400" kern="1200" dirty="0">
                <a:ea typeface="+mn-ea"/>
                <a:cs typeface="+mn-cs"/>
              </a:rPr>
              <a:t>column family members have </a:t>
            </a:r>
            <a:r>
              <a:rPr lang="en-US" altLang="ko-KR" sz="2400" kern="1200" dirty="0" smtClean="0">
                <a:ea typeface="+mn-ea"/>
                <a:cs typeface="+mn-cs"/>
              </a:rPr>
              <a:t>a common prefix</a:t>
            </a:r>
            <a:r>
              <a:rPr lang="en-US" altLang="ko-KR" sz="2400" kern="1200" dirty="0">
                <a:ea typeface="+mn-ea"/>
                <a:cs typeface="+mn-cs"/>
              </a:rPr>
              <a:t>.</a:t>
            </a:r>
            <a:endParaRPr lang="en-US" altLang="ko-KR" sz="24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>
                <a:ea typeface="+mn-ea"/>
                <a:cs typeface="+mn-cs"/>
              </a:rPr>
              <a:t>T</a:t>
            </a:r>
            <a:r>
              <a:rPr lang="en-US" altLang="ko-KR" sz="2400" kern="1200" dirty="0" smtClean="0">
                <a:ea typeface="+mn-ea"/>
                <a:cs typeface="+mn-cs"/>
              </a:rPr>
              <a:t>he </a:t>
            </a:r>
            <a:r>
              <a:rPr lang="en-US" altLang="ko-KR" sz="2400" kern="1200" dirty="0">
                <a:ea typeface="+mn-ea"/>
                <a:cs typeface="+mn-cs"/>
              </a:rPr>
              <a:t>columns </a:t>
            </a:r>
            <a:r>
              <a:rPr lang="en-US" altLang="ko-KR" sz="2400" kern="1200" dirty="0" err="1">
                <a:ea typeface="+mn-ea"/>
                <a:cs typeface="+mn-cs"/>
              </a:rPr>
              <a:t>temperature:air</a:t>
            </a:r>
            <a:r>
              <a:rPr lang="en-US" altLang="ko-KR" sz="2400" kern="1200" dirty="0">
                <a:ea typeface="+mn-ea"/>
                <a:cs typeface="+mn-cs"/>
              </a:rPr>
              <a:t> and </a:t>
            </a:r>
            <a:r>
              <a:rPr lang="en-US" altLang="ko-KR" sz="2400" kern="1200" dirty="0" err="1" smtClean="0">
                <a:ea typeface="+mn-ea"/>
                <a:cs typeface="+mn-cs"/>
              </a:rPr>
              <a:t>temperature:dew_point</a:t>
            </a:r>
            <a:r>
              <a:rPr lang="en-US" altLang="ko-KR" sz="2400" kern="1200" dirty="0" smtClean="0">
                <a:ea typeface="+mn-ea"/>
                <a:cs typeface="+mn-cs"/>
              </a:rPr>
              <a:t> </a:t>
            </a:r>
            <a:r>
              <a:rPr lang="en-US" altLang="ko-KR" sz="2400" kern="1200" dirty="0">
                <a:ea typeface="+mn-ea"/>
                <a:cs typeface="+mn-cs"/>
              </a:rPr>
              <a:t>are both members of the temperature column </a:t>
            </a:r>
            <a:r>
              <a:rPr lang="en-US" altLang="ko-KR" sz="2400" kern="1200" dirty="0" smtClean="0">
                <a:ea typeface="+mn-ea"/>
                <a:cs typeface="+mn-cs"/>
              </a:rPr>
              <a:t>family.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Whereas </a:t>
            </a:r>
            <a:r>
              <a:rPr lang="en-US" altLang="ko-KR" sz="2400" kern="1200" dirty="0" err="1" smtClean="0">
                <a:ea typeface="+mn-ea"/>
                <a:cs typeface="+mn-cs"/>
              </a:rPr>
              <a:t>station:identifier</a:t>
            </a:r>
            <a:r>
              <a:rPr lang="en-US" altLang="ko-KR" sz="2400" kern="1200" dirty="0" smtClean="0">
                <a:ea typeface="+mn-ea"/>
                <a:cs typeface="+mn-cs"/>
              </a:rPr>
              <a:t> </a:t>
            </a:r>
            <a:r>
              <a:rPr lang="en-US" altLang="ko-KR" sz="2400" kern="1200" dirty="0">
                <a:ea typeface="+mn-ea"/>
                <a:cs typeface="+mn-cs"/>
              </a:rPr>
              <a:t>belongs to the station family</a:t>
            </a:r>
            <a:r>
              <a:rPr lang="en-US" altLang="ko-KR" sz="2400" kern="1200" dirty="0" smtClean="0">
                <a:ea typeface="+mn-ea"/>
                <a:cs typeface="+mn-cs"/>
              </a:rPr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The </a:t>
            </a:r>
            <a:r>
              <a:rPr lang="en-US" altLang="ko-KR" sz="2400" kern="1200" dirty="0">
                <a:ea typeface="+mn-ea"/>
                <a:cs typeface="+mn-cs"/>
              </a:rPr>
              <a:t>column family prefix must be </a:t>
            </a:r>
            <a:r>
              <a:rPr lang="en-US" altLang="ko-KR" sz="2400" kern="1200" dirty="0" smtClean="0">
                <a:ea typeface="+mn-ea"/>
                <a:cs typeface="+mn-cs"/>
              </a:rPr>
              <a:t>composed of </a:t>
            </a:r>
            <a:r>
              <a:rPr lang="en-US" altLang="ko-KR" sz="2400" kern="1200" dirty="0">
                <a:ea typeface="+mn-ea"/>
                <a:cs typeface="+mn-cs"/>
              </a:rPr>
              <a:t>printable characters. The qualifying </a:t>
            </a:r>
            <a:r>
              <a:rPr lang="en-US" altLang="ko-KR" sz="2400" kern="1200" dirty="0" smtClean="0">
                <a:ea typeface="+mn-ea"/>
                <a:cs typeface="+mn-cs"/>
              </a:rPr>
              <a:t>tail and </a:t>
            </a:r>
            <a:r>
              <a:rPr lang="en-US" altLang="ko-KR" sz="2400" kern="1200" dirty="0">
                <a:ea typeface="+mn-ea"/>
                <a:cs typeface="+mn-cs"/>
              </a:rPr>
              <a:t>the column family </a:t>
            </a:r>
            <a:r>
              <a:rPr lang="en-US" altLang="ko-KR" sz="2400" kern="1200" dirty="0" smtClean="0">
                <a:ea typeface="+mn-ea"/>
                <a:cs typeface="+mn-cs"/>
              </a:rPr>
              <a:t>qualifier </a:t>
            </a:r>
            <a:r>
              <a:rPr lang="en-US" altLang="ko-KR" sz="2400" kern="1200" dirty="0">
                <a:ea typeface="+mn-ea"/>
                <a:cs typeface="+mn-cs"/>
              </a:rPr>
              <a:t>can </a:t>
            </a:r>
            <a:r>
              <a:rPr lang="en-US" altLang="ko-KR" sz="2400" kern="1200" dirty="0" smtClean="0">
                <a:ea typeface="+mn-ea"/>
                <a:cs typeface="+mn-cs"/>
              </a:rPr>
              <a:t>be made </a:t>
            </a:r>
            <a:r>
              <a:rPr lang="en-US" altLang="ko-KR" sz="2400" kern="1200" dirty="0">
                <a:ea typeface="+mn-ea"/>
                <a:cs typeface="+mn-cs"/>
              </a:rPr>
              <a:t>of any arbitrary </a:t>
            </a:r>
            <a:r>
              <a:rPr lang="en-US" altLang="ko-KR" sz="2400" kern="1200" dirty="0" smtClean="0">
                <a:ea typeface="+mn-ea"/>
                <a:cs typeface="+mn-cs"/>
              </a:rPr>
              <a:t>bytes. 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Column Family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7015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1828800"/>
            <a:ext cx="7391400" cy="41148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>
                <a:ea typeface="+mn-ea"/>
                <a:cs typeface="+mn-cs"/>
              </a:rPr>
              <a:t>Tables are automatically partitioned horizontally by </a:t>
            </a:r>
            <a:r>
              <a:rPr lang="en-US" altLang="ko-KR" sz="2300" kern="1200" dirty="0" err="1">
                <a:ea typeface="+mn-ea"/>
                <a:cs typeface="+mn-cs"/>
              </a:rPr>
              <a:t>HBase</a:t>
            </a:r>
            <a:r>
              <a:rPr lang="en-US" altLang="ko-KR" sz="2300" kern="1200" dirty="0">
                <a:ea typeface="+mn-ea"/>
                <a:cs typeface="+mn-cs"/>
              </a:rPr>
              <a:t> into regions. </a:t>
            </a:r>
            <a:endParaRPr lang="en-US" altLang="ko-KR" sz="23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Each region comprises </a:t>
            </a:r>
            <a:r>
              <a:rPr lang="en-US" altLang="ko-KR" sz="2300" kern="1200" dirty="0">
                <a:ea typeface="+mn-ea"/>
                <a:cs typeface="+mn-cs"/>
              </a:rPr>
              <a:t>a subset of a table’s rows. </a:t>
            </a:r>
            <a:endParaRPr lang="en-US" altLang="ko-KR" sz="23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A </a:t>
            </a:r>
            <a:r>
              <a:rPr lang="en-US" altLang="ko-KR" sz="2300" kern="1200" dirty="0">
                <a:ea typeface="+mn-ea"/>
                <a:cs typeface="+mn-cs"/>
              </a:rPr>
              <a:t>region is denoted by the table it belongs to, </a:t>
            </a:r>
            <a:r>
              <a:rPr lang="en-US" altLang="ko-KR" sz="2300" kern="1200" dirty="0" smtClean="0">
                <a:ea typeface="+mn-ea"/>
                <a:cs typeface="+mn-cs"/>
              </a:rPr>
              <a:t>its first </a:t>
            </a:r>
            <a:r>
              <a:rPr lang="en-US" altLang="ko-KR" sz="2300" kern="1200" dirty="0">
                <a:ea typeface="+mn-ea"/>
                <a:cs typeface="+mn-cs"/>
              </a:rPr>
              <a:t>row, inclusive, and last row, exclusive. </a:t>
            </a:r>
            <a:endParaRPr lang="en-US" altLang="ko-KR" sz="23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Initially</a:t>
            </a:r>
            <a:r>
              <a:rPr lang="en-US" altLang="ko-KR" sz="2300" kern="1200" dirty="0">
                <a:ea typeface="+mn-ea"/>
                <a:cs typeface="+mn-cs"/>
              </a:rPr>
              <a:t>, a table comprises a single </a:t>
            </a:r>
            <a:r>
              <a:rPr lang="en-US" altLang="ko-KR" sz="2300" kern="1200" dirty="0" smtClean="0">
                <a:ea typeface="+mn-ea"/>
                <a:cs typeface="+mn-cs"/>
              </a:rPr>
              <a:t>region, but </a:t>
            </a:r>
            <a:r>
              <a:rPr lang="en-US" altLang="ko-KR" sz="2300" kern="1200" dirty="0">
                <a:ea typeface="+mn-ea"/>
                <a:cs typeface="+mn-cs"/>
              </a:rPr>
              <a:t>as the size of the region grows, after it crosses a configurable size threshold, it </a:t>
            </a:r>
            <a:r>
              <a:rPr lang="en-US" altLang="ko-KR" sz="2300" kern="1200" dirty="0" smtClean="0">
                <a:ea typeface="+mn-ea"/>
                <a:cs typeface="+mn-cs"/>
              </a:rPr>
              <a:t>splits at </a:t>
            </a:r>
            <a:r>
              <a:rPr lang="en-US" altLang="ko-KR" sz="2300" kern="1200" dirty="0">
                <a:ea typeface="+mn-ea"/>
                <a:cs typeface="+mn-cs"/>
              </a:rPr>
              <a:t>a row boundary into two new regions of approximately equal size. </a:t>
            </a:r>
            <a:endParaRPr lang="en-US" altLang="ko-KR" sz="23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Until </a:t>
            </a:r>
            <a:r>
              <a:rPr lang="en-US" altLang="ko-KR" sz="2300" kern="1200" dirty="0">
                <a:ea typeface="+mn-ea"/>
                <a:cs typeface="+mn-cs"/>
              </a:rPr>
              <a:t>this </a:t>
            </a:r>
            <a:r>
              <a:rPr lang="en-US" altLang="ko-KR" sz="2300" kern="1200" dirty="0" smtClean="0">
                <a:ea typeface="+mn-ea"/>
                <a:cs typeface="+mn-cs"/>
              </a:rPr>
              <a:t>first split </a:t>
            </a:r>
            <a:r>
              <a:rPr lang="en-US" altLang="ko-KR" sz="2300" kern="1200" dirty="0">
                <a:ea typeface="+mn-ea"/>
                <a:cs typeface="+mn-cs"/>
              </a:rPr>
              <a:t>happens, all loading will be against the single server hosting the original region</a:t>
            </a:r>
            <a:r>
              <a:rPr lang="en-US" altLang="ko-KR" sz="2300" kern="1200" dirty="0" smtClean="0">
                <a:ea typeface="+mn-ea"/>
                <a:cs typeface="+mn-cs"/>
              </a:rPr>
              <a:t>.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Regions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21549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6800" y="2133600"/>
            <a:ext cx="7010400" cy="34290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err="1">
                <a:ea typeface="+mn-ea"/>
                <a:cs typeface="+mn-cs"/>
              </a:rPr>
              <a:t>HBase</a:t>
            </a:r>
            <a:r>
              <a:rPr lang="en-US" altLang="ko-KR" sz="2300" kern="1200" dirty="0">
                <a:ea typeface="+mn-ea"/>
                <a:cs typeface="+mn-cs"/>
              </a:rPr>
              <a:t> </a:t>
            </a:r>
            <a:r>
              <a:rPr lang="en-US" altLang="ko-KR" sz="2300" kern="1200" dirty="0" smtClean="0">
                <a:ea typeface="+mn-ea"/>
                <a:cs typeface="+mn-cs"/>
              </a:rPr>
              <a:t>includes </a:t>
            </a:r>
            <a:r>
              <a:rPr lang="en-US" altLang="ko-KR" sz="2300" kern="1200" dirty="0">
                <a:ea typeface="+mn-ea"/>
                <a:cs typeface="+mn-cs"/>
              </a:rPr>
              <a:t>an </a:t>
            </a:r>
            <a:r>
              <a:rPr lang="en-US" altLang="ko-KR" sz="2300" kern="1200" dirty="0" err="1">
                <a:ea typeface="+mn-ea"/>
                <a:cs typeface="+mn-cs"/>
              </a:rPr>
              <a:t>HBase</a:t>
            </a:r>
            <a:r>
              <a:rPr lang="en-US" altLang="ko-KR" sz="2300" kern="1200" dirty="0">
                <a:ea typeface="+mn-ea"/>
                <a:cs typeface="+mn-cs"/>
              </a:rPr>
              <a:t> </a:t>
            </a:r>
            <a:r>
              <a:rPr lang="en-US" altLang="ko-KR" sz="2300" i="1" kern="1200" dirty="0">
                <a:solidFill>
                  <a:srgbClr val="FF0000"/>
                </a:solidFill>
                <a:ea typeface="+mn-ea"/>
                <a:cs typeface="+mn-cs"/>
              </a:rPr>
              <a:t>master</a:t>
            </a:r>
            <a:r>
              <a:rPr lang="en-US" altLang="ko-KR" sz="2300" kern="1200" dirty="0">
                <a:ea typeface="+mn-ea"/>
                <a:cs typeface="+mn-cs"/>
              </a:rPr>
              <a:t> node </a:t>
            </a:r>
            <a:r>
              <a:rPr lang="en-US" altLang="ko-KR" sz="2300" kern="1200" dirty="0" smtClean="0">
                <a:ea typeface="+mn-ea"/>
                <a:cs typeface="+mn-cs"/>
              </a:rPr>
              <a:t>and </a:t>
            </a:r>
            <a:r>
              <a:rPr lang="en-US" altLang="ko-KR" sz="2300" kern="1200" dirty="0">
                <a:ea typeface="+mn-ea"/>
                <a:cs typeface="+mn-cs"/>
              </a:rPr>
              <a:t>a cluster of one or </a:t>
            </a:r>
            <a:r>
              <a:rPr lang="en-US" altLang="ko-KR" sz="2300" kern="1200" dirty="0" smtClean="0">
                <a:ea typeface="+mn-ea"/>
                <a:cs typeface="+mn-cs"/>
              </a:rPr>
              <a:t>more </a:t>
            </a:r>
            <a:r>
              <a:rPr lang="en-US" altLang="ko-KR" sz="2300" i="1" kern="1200" dirty="0" err="1" smtClean="0">
                <a:solidFill>
                  <a:srgbClr val="FF0000"/>
                </a:solidFill>
                <a:ea typeface="+mn-ea"/>
                <a:cs typeface="+mn-cs"/>
              </a:rPr>
              <a:t>regionserver</a:t>
            </a:r>
            <a:r>
              <a:rPr lang="en-US" altLang="ko-KR" sz="2300" kern="1200" dirty="0" smtClean="0">
                <a:ea typeface="+mn-ea"/>
                <a:cs typeface="+mn-cs"/>
              </a:rPr>
              <a:t> </a:t>
            </a:r>
            <a:r>
              <a:rPr lang="en-US" altLang="ko-KR" sz="2300" kern="1200" dirty="0">
                <a:ea typeface="+mn-ea"/>
                <a:cs typeface="+mn-cs"/>
              </a:rPr>
              <a:t>slaves. </a:t>
            </a:r>
            <a:endParaRPr lang="en-US" altLang="ko-KR" sz="23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>
                <a:ea typeface="+mn-ea"/>
                <a:cs typeface="+mn-cs"/>
              </a:rPr>
              <a:t>The </a:t>
            </a:r>
            <a:r>
              <a:rPr lang="en-US" altLang="ko-KR" sz="2300" kern="1200" dirty="0" err="1">
                <a:ea typeface="+mn-ea"/>
                <a:cs typeface="+mn-cs"/>
              </a:rPr>
              <a:t>HBase</a:t>
            </a:r>
            <a:r>
              <a:rPr lang="en-US" altLang="ko-KR" sz="2300" kern="1200" dirty="0">
                <a:ea typeface="+mn-ea"/>
                <a:cs typeface="+mn-cs"/>
              </a:rPr>
              <a:t> master is responsible for </a:t>
            </a:r>
            <a:r>
              <a:rPr lang="en-US" altLang="ko-KR" sz="2300" kern="1200" dirty="0" smtClean="0">
                <a:ea typeface="+mn-ea"/>
                <a:cs typeface="+mn-cs"/>
              </a:rPr>
              <a:t>bootstrapping a </a:t>
            </a:r>
            <a:r>
              <a:rPr lang="en-US" altLang="ko-KR" sz="2300" kern="1200" dirty="0">
                <a:ea typeface="+mn-ea"/>
                <a:cs typeface="+mn-cs"/>
              </a:rPr>
              <a:t>virgin install, for assigning regions to </a:t>
            </a:r>
            <a:r>
              <a:rPr lang="en-US" altLang="ko-KR" sz="2300" kern="1200" dirty="0" smtClean="0">
                <a:ea typeface="+mn-ea"/>
                <a:cs typeface="+mn-cs"/>
              </a:rPr>
              <a:t>registered </a:t>
            </a:r>
            <a:r>
              <a:rPr lang="en-US" altLang="ko-KR" sz="2300" kern="1200" dirty="0" err="1" smtClean="0">
                <a:ea typeface="+mn-ea"/>
                <a:cs typeface="+mn-cs"/>
              </a:rPr>
              <a:t>regionservers</a:t>
            </a:r>
            <a:r>
              <a:rPr lang="en-US" altLang="ko-KR" sz="2300" kern="1200" dirty="0">
                <a:ea typeface="+mn-ea"/>
                <a:cs typeface="+mn-cs"/>
              </a:rPr>
              <a:t>, and for </a:t>
            </a:r>
            <a:r>
              <a:rPr lang="en-US" altLang="ko-KR" sz="2300" kern="1200" dirty="0" smtClean="0">
                <a:ea typeface="+mn-ea"/>
                <a:cs typeface="+mn-cs"/>
              </a:rPr>
              <a:t>recovering </a:t>
            </a:r>
            <a:r>
              <a:rPr lang="en-US" altLang="ko-KR" sz="2300" kern="1200" dirty="0" err="1" smtClean="0">
                <a:ea typeface="+mn-ea"/>
                <a:cs typeface="+mn-cs"/>
              </a:rPr>
              <a:t>regionserver</a:t>
            </a:r>
            <a:r>
              <a:rPr lang="en-US" altLang="ko-KR" sz="2300" kern="1200" dirty="0" smtClean="0">
                <a:ea typeface="+mn-ea"/>
                <a:cs typeface="+mn-cs"/>
              </a:rPr>
              <a:t> </a:t>
            </a:r>
            <a:r>
              <a:rPr lang="en-US" altLang="ko-KR" sz="2300" kern="1200" dirty="0">
                <a:ea typeface="+mn-ea"/>
                <a:cs typeface="+mn-cs"/>
              </a:rPr>
              <a:t>failures</a:t>
            </a:r>
            <a:r>
              <a:rPr lang="en-US" altLang="ko-KR" sz="2300" kern="1200" dirty="0" smtClean="0">
                <a:ea typeface="+mn-ea"/>
                <a:cs typeface="+mn-cs"/>
              </a:rPr>
              <a:t>. 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>
                <a:ea typeface="+mn-ea"/>
                <a:cs typeface="+mn-cs"/>
              </a:rPr>
              <a:t>The </a:t>
            </a:r>
            <a:r>
              <a:rPr lang="en-US" altLang="ko-KR" sz="2300" kern="1200" dirty="0" err="1">
                <a:ea typeface="+mn-ea"/>
                <a:cs typeface="+mn-cs"/>
              </a:rPr>
              <a:t>regionservers</a:t>
            </a:r>
            <a:r>
              <a:rPr lang="en-US" altLang="ko-KR" sz="2300" kern="1200" dirty="0">
                <a:ea typeface="+mn-ea"/>
                <a:cs typeface="+mn-cs"/>
              </a:rPr>
              <a:t> carry </a:t>
            </a:r>
            <a:r>
              <a:rPr lang="en-US" altLang="ko-KR" sz="2300" kern="1200" dirty="0" smtClean="0">
                <a:ea typeface="+mn-ea"/>
                <a:cs typeface="+mn-cs"/>
              </a:rPr>
              <a:t>zero or </a:t>
            </a:r>
            <a:r>
              <a:rPr lang="en-US" altLang="ko-KR" sz="2300" kern="1200" dirty="0">
                <a:ea typeface="+mn-ea"/>
                <a:cs typeface="+mn-cs"/>
              </a:rPr>
              <a:t>more regions and field client read/write requests. </a:t>
            </a:r>
            <a:endParaRPr lang="en-US" altLang="ko-KR" sz="23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>
                <a:ea typeface="+mn-ea"/>
                <a:cs typeface="+mn-cs"/>
              </a:rPr>
              <a:t>The </a:t>
            </a:r>
            <a:r>
              <a:rPr lang="en-US" altLang="ko-KR" sz="2300" kern="1200" dirty="0" err="1">
                <a:ea typeface="+mn-ea"/>
                <a:cs typeface="+mn-cs"/>
              </a:rPr>
              <a:t>regionservers</a:t>
            </a:r>
            <a:r>
              <a:rPr lang="en-US" altLang="ko-KR" sz="2300" kern="1200" dirty="0">
                <a:ea typeface="+mn-ea"/>
                <a:cs typeface="+mn-cs"/>
              </a:rPr>
              <a:t> </a:t>
            </a:r>
            <a:r>
              <a:rPr lang="en-US" altLang="ko-KR" sz="2300" kern="1200" dirty="0" smtClean="0">
                <a:ea typeface="+mn-ea"/>
                <a:cs typeface="+mn-cs"/>
              </a:rPr>
              <a:t>also </a:t>
            </a:r>
            <a:r>
              <a:rPr lang="en-US" altLang="ko-KR" sz="2300" kern="1200" dirty="0">
                <a:ea typeface="+mn-ea"/>
                <a:cs typeface="+mn-cs"/>
              </a:rPr>
              <a:t>manage region </a:t>
            </a:r>
            <a:r>
              <a:rPr lang="en-US" altLang="ko-KR" sz="2300" kern="1200" dirty="0" smtClean="0">
                <a:ea typeface="+mn-ea"/>
                <a:cs typeface="+mn-cs"/>
              </a:rPr>
              <a:t>splits, informing </a:t>
            </a:r>
            <a:r>
              <a:rPr lang="en-US" altLang="ko-KR" sz="2300" kern="1200" dirty="0">
                <a:ea typeface="+mn-ea"/>
                <a:cs typeface="+mn-cs"/>
              </a:rPr>
              <a:t>the </a:t>
            </a:r>
            <a:r>
              <a:rPr lang="en-US" altLang="ko-KR" sz="2300" kern="1200" dirty="0" err="1">
                <a:ea typeface="+mn-ea"/>
                <a:cs typeface="+mn-cs"/>
              </a:rPr>
              <a:t>HBase</a:t>
            </a:r>
            <a:r>
              <a:rPr lang="en-US" altLang="ko-KR" sz="2300" kern="1200" dirty="0">
                <a:ea typeface="+mn-ea"/>
                <a:cs typeface="+mn-cs"/>
              </a:rPr>
              <a:t> master about the new daughter </a:t>
            </a:r>
            <a:r>
              <a:rPr lang="en-US" altLang="ko-KR" sz="2300" kern="1200" dirty="0" smtClean="0">
                <a:ea typeface="+mn-ea"/>
                <a:cs typeface="+mn-cs"/>
              </a:rPr>
              <a:t>regions.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Hbase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Configuration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909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Hbase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Cluster Members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529347"/>
            <a:ext cx="6858000" cy="5006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74868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43000" y="1905000"/>
            <a:ext cx="6934200" cy="41910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err="1">
                <a:ea typeface="+mn-ea"/>
                <a:cs typeface="+mn-cs"/>
              </a:rPr>
              <a:t>HBase</a:t>
            </a:r>
            <a:r>
              <a:rPr lang="en-US" altLang="ko-KR" sz="2300" kern="1200" dirty="0">
                <a:ea typeface="+mn-ea"/>
                <a:cs typeface="+mn-cs"/>
              </a:rPr>
              <a:t> depends on </a:t>
            </a:r>
            <a:r>
              <a:rPr lang="en-US" altLang="ko-KR" sz="2300" kern="1200" dirty="0" err="1">
                <a:ea typeface="+mn-ea"/>
                <a:cs typeface="+mn-cs"/>
              </a:rPr>
              <a:t>ZooKeeper</a:t>
            </a:r>
            <a:r>
              <a:rPr lang="en-US" altLang="ko-KR" sz="2300" kern="1200" dirty="0">
                <a:ea typeface="+mn-ea"/>
                <a:cs typeface="+mn-cs"/>
              </a:rPr>
              <a:t> (Chapter 14), and by default it manages a </a:t>
            </a:r>
            <a:r>
              <a:rPr lang="en-US" altLang="ko-KR" sz="2300" kern="1200" dirty="0" err="1" smtClean="0">
                <a:ea typeface="+mn-ea"/>
                <a:cs typeface="+mn-cs"/>
              </a:rPr>
              <a:t>ZooKeeper</a:t>
            </a:r>
            <a:r>
              <a:rPr lang="en-US" altLang="ko-KR" sz="2300" kern="1200" dirty="0" smtClean="0">
                <a:ea typeface="+mn-ea"/>
                <a:cs typeface="+mn-cs"/>
              </a:rPr>
              <a:t> instance </a:t>
            </a:r>
            <a:r>
              <a:rPr lang="en-US" altLang="ko-KR" sz="2300" kern="1200" dirty="0">
                <a:ea typeface="+mn-ea"/>
                <a:cs typeface="+mn-cs"/>
              </a:rPr>
              <a:t>as the authority on cluster state. </a:t>
            </a:r>
            <a:endParaRPr lang="en-US" altLang="ko-KR" sz="23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err="1" smtClean="0">
                <a:ea typeface="+mn-ea"/>
                <a:cs typeface="+mn-cs"/>
              </a:rPr>
              <a:t>HBase</a:t>
            </a:r>
            <a:r>
              <a:rPr lang="en-US" altLang="ko-KR" sz="2300" kern="1200" dirty="0" smtClean="0">
                <a:ea typeface="+mn-ea"/>
                <a:cs typeface="+mn-cs"/>
              </a:rPr>
              <a:t> </a:t>
            </a:r>
            <a:r>
              <a:rPr lang="en-US" altLang="ko-KR" sz="2300" kern="1200" dirty="0">
                <a:ea typeface="+mn-ea"/>
                <a:cs typeface="+mn-cs"/>
              </a:rPr>
              <a:t>hosts vitals such as the location of </a:t>
            </a:r>
            <a:r>
              <a:rPr lang="en-US" altLang="ko-KR" sz="2300" kern="1200" dirty="0" smtClean="0">
                <a:ea typeface="+mn-ea"/>
                <a:cs typeface="+mn-cs"/>
              </a:rPr>
              <a:t>the root </a:t>
            </a:r>
            <a:r>
              <a:rPr lang="en-US" altLang="ko-KR" sz="2300" kern="1200" dirty="0">
                <a:ea typeface="+mn-ea"/>
                <a:cs typeface="+mn-cs"/>
              </a:rPr>
              <a:t>catalog table and the address of the current cluster master. </a:t>
            </a:r>
            <a:endParaRPr lang="en-US" altLang="ko-KR" sz="23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Assignment </a:t>
            </a:r>
            <a:r>
              <a:rPr lang="en-US" altLang="ko-KR" sz="2300" kern="1200" dirty="0">
                <a:ea typeface="+mn-ea"/>
                <a:cs typeface="+mn-cs"/>
              </a:rPr>
              <a:t>of </a:t>
            </a:r>
            <a:r>
              <a:rPr lang="en-US" altLang="ko-KR" sz="2300" kern="1200" dirty="0" smtClean="0">
                <a:ea typeface="+mn-ea"/>
                <a:cs typeface="+mn-cs"/>
              </a:rPr>
              <a:t>regions is </a:t>
            </a:r>
            <a:r>
              <a:rPr lang="en-US" altLang="ko-KR" sz="2300" kern="1200" dirty="0">
                <a:ea typeface="+mn-ea"/>
                <a:cs typeface="+mn-cs"/>
              </a:rPr>
              <a:t>mediated via </a:t>
            </a:r>
            <a:r>
              <a:rPr lang="en-US" altLang="ko-KR" sz="2300" kern="1200" dirty="0" err="1">
                <a:ea typeface="+mn-ea"/>
                <a:cs typeface="+mn-cs"/>
              </a:rPr>
              <a:t>ZooKeeper</a:t>
            </a:r>
            <a:r>
              <a:rPr lang="en-US" altLang="ko-KR" sz="2300" kern="1200" dirty="0">
                <a:ea typeface="+mn-ea"/>
                <a:cs typeface="+mn-cs"/>
              </a:rPr>
              <a:t> in case participating servers crash mid-assignment. </a:t>
            </a:r>
            <a:endParaRPr lang="en-US" altLang="ko-KR" sz="23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300" kern="1200" dirty="0" smtClean="0">
                <a:ea typeface="+mn-ea"/>
                <a:cs typeface="+mn-cs"/>
              </a:rPr>
              <a:t>Hosting the </a:t>
            </a:r>
            <a:r>
              <a:rPr lang="en-US" altLang="ko-KR" sz="2300" kern="1200" dirty="0">
                <a:ea typeface="+mn-ea"/>
                <a:cs typeface="+mn-cs"/>
              </a:rPr>
              <a:t>assignment transaction state in </a:t>
            </a:r>
            <a:r>
              <a:rPr lang="en-US" altLang="ko-KR" sz="2300" kern="1200" dirty="0" err="1">
                <a:ea typeface="+mn-ea"/>
                <a:cs typeface="+mn-cs"/>
              </a:rPr>
              <a:t>ZooKeeper</a:t>
            </a:r>
            <a:r>
              <a:rPr lang="en-US" altLang="ko-KR" sz="2300" kern="1200" dirty="0">
                <a:ea typeface="+mn-ea"/>
                <a:cs typeface="+mn-cs"/>
              </a:rPr>
              <a:t> makes it so recovery can pick up on </a:t>
            </a:r>
            <a:r>
              <a:rPr lang="en-US" altLang="ko-KR" sz="2300" kern="1200" dirty="0" smtClean="0">
                <a:ea typeface="+mn-ea"/>
                <a:cs typeface="+mn-cs"/>
              </a:rPr>
              <a:t>the assignment </a:t>
            </a:r>
            <a:r>
              <a:rPr lang="en-US" altLang="ko-KR" sz="2300" kern="1200" dirty="0">
                <a:ea typeface="+mn-ea"/>
                <a:cs typeface="+mn-cs"/>
              </a:rPr>
              <a:t>where the crashed server left off</a:t>
            </a:r>
            <a:r>
              <a:rPr lang="en-US" altLang="ko-KR" sz="2300" kern="1200" dirty="0" smtClean="0">
                <a:ea typeface="+mn-ea"/>
                <a:cs typeface="+mn-cs"/>
              </a:rPr>
              <a:t>.</a:t>
            </a: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Hbase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Needs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ZooKeeper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0518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Hbase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Example –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1752600"/>
            <a:ext cx="7696200" cy="447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766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Hbase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Example – </a:t>
            </a:r>
            <a:r>
              <a:rPr lang="en-US" altLang="ko-KR" sz="1600" b="1" kern="1200" dirty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99" y="2133600"/>
            <a:ext cx="8645823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5503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Launch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Hbase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133600"/>
            <a:ext cx="8637829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9368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Insert and List Data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1600200"/>
            <a:ext cx="8657804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7713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More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Hbase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Commands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936794"/>
            <a:ext cx="8084448" cy="3752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353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4400" y="2209800"/>
            <a:ext cx="7315200" cy="32004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>
                <a:ea typeface="+mn-ea"/>
                <a:cs typeface="+mn-cs"/>
              </a:rPr>
              <a:t>ZooKeeper</a:t>
            </a:r>
            <a:r>
              <a:rPr lang="en-US" altLang="ko-KR" sz="2200" kern="1200" dirty="0">
                <a:ea typeface="+mn-ea"/>
                <a:cs typeface="+mn-cs"/>
              </a:rPr>
              <a:t> is a centralized service for maintaining configuration information, naming, providing distributed synchronization, and providing group services. </a:t>
            </a:r>
            <a:endParaRPr lang="en-US" altLang="ko-KR" sz="22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>
                <a:ea typeface="+mn-ea"/>
                <a:cs typeface="+mn-cs"/>
              </a:rPr>
              <a:t>ZooKeeper</a:t>
            </a:r>
            <a:r>
              <a:rPr lang="en-US" altLang="ko-KR" sz="2200" kern="1200" dirty="0">
                <a:ea typeface="+mn-ea"/>
                <a:cs typeface="+mn-cs"/>
              </a:rPr>
              <a:t> </a:t>
            </a:r>
            <a:r>
              <a:rPr lang="en-US" altLang="ko-KR" sz="2200" kern="1200" dirty="0" smtClean="0">
                <a:ea typeface="+mn-ea"/>
                <a:cs typeface="+mn-cs"/>
              </a:rPr>
              <a:t>provides users </a:t>
            </a:r>
            <a:r>
              <a:rPr lang="en-US" altLang="ko-KR" sz="2200" kern="1200" dirty="0">
                <a:ea typeface="+mn-ea"/>
                <a:cs typeface="+mn-cs"/>
              </a:rPr>
              <a:t>a set of tools to build distributed applications that can safely </a:t>
            </a:r>
            <a:r>
              <a:rPr lang="en-US" altLang="ko-KR" sz="2200" kern="1200" dirty="0" smtClean="0">
                <a:ea typeface="+mn-ea"/>
                <a:cs typeface="+mn-cs"/>
              </a:rPr>
              <a:t>handle partial failures.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200" kern="1200" dirty="0" err="1" smtClean="0">
                <a:ea typeface="+mn-ea"/>
                <a:cs typeface="+mn-cs"/>
              </a:rPr>
              <a:t>ZooKeeper</a:t>
            </a:r>
            <a:r>
              <a:rPr lang="en-US" altLang="ko-KR" sz="2200" kern="1200" dirty="0" smtClean="0">
                <a:ea typeface="+mn-ea"/>
                <a:cs typeface="+mn-cs"/>
              </a:rPr>
              <a:t> has </a:t>
            </a:r>
            <a:r>
              <a:rPr lang="en-US" altLang="ko-KR" sz="2200" kern="1200" dirty="0">
                <a:ea typeface="+mn-ea"/>
                <a:cs typeface="+mn-cs"/>
              </a:rPr>
              <a:t>a rich set of building blocks that can be used to </a:t>
            </a:r>
            <a:r>
              <a:rPr lang="en-US" altLang="ko-KR" sz="2200" kern="1200" dirty="0" smtClean="0">
                <a:ea typeface="+mn-ea"/>
                <a:cs typeface="+mn-cs"/>
              </a:rPr>
              <a:t>build a </a:t>
            </a:r>
            <a:r>
              <a:rPr lang="en-US" altLang="ko-KR" sz="2200" kern="1200" dirty="0">
                <a:ea typeface="+mn-ea"/>
                <a:cs typeface="+mn-cs"/>
              </a:rPr>
              <a:t>large class of coordination data structures and protocols. Examples include: </a:t>
            </a:r>
            <a:r>
              <a:rPr lang="en-US" altLang="ko-KR" sz="2200" kern="1200" dirty="0" smtClean="0">
                <a:ea typeface="+mn-ea"/>
                <a:cs typeface="+mn-cs"/>
              </a:rPr>
              <a:t>distributed queues</a:t>
            </a:r>
            <a:r>
              <a:rPr lang="en-US" altLang="ko-KR" sz="2200" kern="1200" dirty="0">
                <a:ea typeface="+mn-ea"/>
                <a:cs typeface="+mn-cs"/>
              </a:rPr>
              <a:t>, distributed locks, and leader election among a group of peers.</a:t>
            </a:r>
            <a:endParaRPr lang="en-US" altLang="ko-KR" sz="2200" kern="1200" dirty="0" smtClean="0">
              <a:ea typeface="+mn-ea"/>
              <a:cs typeface="+mn-cs"/>
            </a:endParaRP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What Is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ZooKeeper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960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Start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ZooKeeper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1" y="2286000"/>
            <a:ext cx="87630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422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66800" y="2438400"/>
            <a:ext cx="7010400" cy="25146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>
                <a:ea typeface="+mn-ea"/>
                <a:cs typeface="+mn-cs"/>
              </a:rPr>
              <a:t>One way of understanding </a:t>
            </a:r>
            <a:r>
              <a:rPr lang="en-US" altLang="ko-KR" sz="2500" kern="1200" dirty="0" err="1">
                <a:ea typeface="+mn-ea"/>
                <a:cs typeface="+mn-cs"/>
              </a:rPr>
              <a:t>ZooKeeper</a:t>
            </a:r>
            <a:r>
              <a:rPr lang="en-US" altLang="ko-KR" sz="2500" kern="1200" dirty="0">
                <a:ea typeface="+mn-ea"/>
                <a:cs typeface="+mn-cs"/>
              </a:rPr>
              <a:t> is to think of it as providing a </a:t>
            </a:r>
            <a:r>
              <a:rPr lang="en-US" altLang="ko-KR" sz="2500" kern="1200" dirty="0" smtClean="0">
                <a:ea typeface="+mn-ea"/>
                <a:cs typeface="+mn-cs"/>
              </a:rPr>
              <a:t>high-availability filesystem</a:t>
            </a:r>
            <a:r>
              <a:rPr lang="en-US" altLang="ko-KR" sz="2500" kern="1200" dirty="0">
                <a:ea typeface="+mn-ea"/>
                <a:cs typeface="+mn-cs"/>
              </a:rPr>
              <a:t>. </a:t>
            </a:r>
            <a:endParaRPr lang="en-US" altLang="ko-KR" sz="25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It </a:t>
            </a:r>
            <a:r>
              <a:rPr lang="en-US" altLang="ko-KR" sz="2500" kern="1200" dirty="0">
                <a:ea typeface="+mn-ea"/>
                <a:cs typeface="+mn-cs"/>
              </a:rPr>
              <a:t>doesn’t have files and directories, but a unified concept of a node, </a:t>
            </a:r>
            <a:r>
              <a:rPr lang="en-US" altLang="ko-KR" sz="2500" kern="1200" dirty="0" smtClean="0">
                <a:ea typeface="+mn-ea"/>
                <a:cs typeface="+mn-cs"/>
              </a:rPr>
              <a:t>called a </a:t>
            </a:r>
            <a:r>
              <a:rPr lang="en-US" altLang="ko-KR" sz="2500" kern="1200" dirty="0" err="1" smtClean="0">
                <a:ea typeface="+mn-ea"/>
                <a:cs typeface="+mn-cs"/>
              </a:rPr>
              <a:t>znode</a:t>
            </a:r>
            <a:r>
              <a:rPr lang="en-US" altLang="ko-KR" sz="2500" kern="1200" dirty="0" smtClean="0">
                <a:ea typeface="+mn-ea"/>
                <a:cs typeface="+mn-cs"/>
              </a:rPr>
              <a:t>. 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err="1" smtClean="0">
                <a:ea typeface="+mn-ea"/>
                <a:cs typeface="+mn-cs"/>
              </a:rPr>
              <a:t>Znode</a:t>
            </a:r>
            <a:r>
              <a:rPr lang="en-US" altLang="ko-KR" sz="2500" kern="1200" dirty="0" smtClean="0">
                <a:ea typeface="+mn-ea"/>
                <a:cs typeface="+mn-cs"/>
              </a:rPr>
              <a:t> </a:t>
            </a:r>
            <a:r>
              <a:rPr lang="en-US" altLang="ko-KR" sz="2500" kern="1200" dirty="0">
                <a:ea typeface="+mn-ea"/>
                <a:cs typeface="+mn-cs"/>
              </a:rPr>
              <a:t>acts both as a container of data (like a file) and a </a:t>
            </a:r>
            <a:r>
              <a:rPr lang="en-US" altLang="ko-KR" sz="2500" kern="1200" dirty="0" smtClean="0">
                <a:ea typeface="+mn-ea"/>
                <a:cs typeface="+mn-cs"/>
              </a:rPr>
              <a:t>container </a:t>
            </a:r>
            <a:r>
              <a:rPr lang="en-US" altLang="ko-KR" sz="2500" kern="1200" dirty="0">
                <a:ea typeface="+mn-ea"/>
                <a:cs typeface="+mn-cs"/>
              </a:rPr>
              <a:t>of </a:t>
            </a:r>
            <a:r>
              <a:rPr lang="en-US" altLang="ko-KR" sz="2500" kern="1200" dirty="0" smtClean="0">
                <a:ea typeface="+mn-ea"/>
                <a:cs typeface="+mn-cs"/>
              </a:rPr>
              <a:t>other </a:t>
            </a:r>
            <a:r>
              <a:rPr lang="en-US" altLang="ko-KR" sz="2500" kern="1200" dirty="0" err="1" smtClean="0">
                <a:ea typeface="+mn-ea"/>
                <a:cs typeface="+mn-cs"/>
              </a:rPr>
              <a:t>znodes</a:t>
            </a:r>
            <a:r>
              <a:rPr lang="en-US" altLang="ko-KR" sz="2500" kern="1200" dirty="0" smtClean="0">
                <a:ea typeface="+mn-ea"/>
                <a:cs typeface="+mn-cs"/>
              </a:rPr>
              <a:t> </a:t>
            </a:r>
            <a:r>
              <a:rPr lang="en-US" altLang="ko-KR" sz="2500" kern="1200" dirty="0">
                <a:ea typeface="+mn-ea"/>
                <a:cs typeface="+mn-cs"/>
              </a:rPr>
              <a:t>(like a directory</a:t>
            </a:r>
            <a:r>
              <a:rPr lang="en-US" altLang="ko-KR" sz="2500" kern="1200" dirty="0" smtClean="0">
                <a:ea typeface="+mn-ea"/>
                <a:cs typeface="+mn-cs"/>
              </a:rPr>
              <a:t>).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3733800" y="1043781"/>
            <a:ext cx="3429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Znodes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960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Znodes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748062"/>
            <a:ext cx="4495800" cy="4570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27247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200" y="2514600"/>
            <a:ext cx="5410200" cy="25146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Create a </a:t>
            </a:r>
            <a:r>
              <a:rPr lang="en-US" altLang="ko-KR" sz="2500" kern="1200" dirty="0" err="1" smtClean="0">
                <a:ea typeface="+mn-ea"/>
                <a:cs typeface="+mn-cs"/>
              </a:rPr>
              <a:t>ZooKeeper</a:t>
            </a:r>
            <a:r>
              <a:rPr lang="en-US" altLang="ko-KR" sz="2500" kern="1200" dirty="0" smtClean="0">
                <a:ea typeface="+mn-ea"/>
                <a:cs typeface="+mn-cs"/>
              </a:rPr>
              <a:t> group – p. 493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>
                <a:ea typeface="+mn-ea"/>
                <a:cs typeface="+mn-cs"/>
              </a:rPr>
              <a:t>Join a </a:t>
            </a:r>
            <a:r>
              <a:rPr lang="en-US" altLang="ko-KR" sz="2500" kern="1200" dirty="0" err="1">
                <a:ea typeface="+mn-ea"/>
                <a:cs typeface="+mn-cs"/>
              </a:rPr>
              <a:t>ZooKeeper</a:t>
            </a:r>
            <a:r>
              <a:rPr lang="en-US" altLang="ko-KR" sz="2500" kern="1200" dirty="0">
                <a:ea typeface="+mn-ea"/>
                <a:cs typeface="+mn-cs"/>
              </a:rPr>
              <a:t> group – p. </a:t>
            </a:r>
            <a:r>
              <a:rPr lang="en-US" altLang="ko-KR" sz="2500" kern="1200" dirty="0" smtClean="0">
                <a:ea typeface="+mn-ea"/>
                <a:cs typeface="+mn-cs"/>
              </a:rPr>
              <a:t>495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List members in a group – </a:t>
            </a:r>
            <a:r>
              <a:rPr lang="en-US" altLang="ko-KR" sz="2500" kern="1200" dirty="0">
                <a:ea typeface="+mn-ea"/>
                <a:cs typeface="+mn-cs"/>
              </a:rPr>
              <a:t>p. </a:t>
            </a:r>
            <a:r>
              <a:rPr lang="en-US" altLang="ko-KR" sz="2500" kern="1200" dirty="0" smtClean="0">
                <a:ea typeface="+mn-ea"/>
                <a:cs typeface="+mn-cs"/>
              </a:rPr>
              <a:t>496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500" kern="1200" dirty="0" smtClean="0">
                <a:ea typeface="+mn-ea"/>
                <a:cs typeface="+mn-cs"/>
              </a:rPr>
              <a:t>Delete a </a:t>
            </a:r>
            <a:r>
              <a:rPr lang="en-US" altLang="ko-KR" sz="2500" kern="1200" dirty="0" err="1">
                <a:ea typeface="+mn-ea"/>
                <a:cs typeface="+mn-cs"/>
              </a:rPr>
              <a:t>ZooKeeper</a:t>
            </a:r>
            <a:r>
              <a:rPr lang="en-US" altLang="ko-KR" sz="2500" kern="1200" dirty="0">
                <a:ea typeface="+mn-ea"/>
                <a:cs typeface="+mn-cs"/>
              </a:rPr>
              <a:t> group – p. </a:t>
            </a:r>
            <a:r>
              <a:rPr lang="en-US" altLang="ko-KR" sz="2500" kern="1200" dirty="0" smtClean="0">
                <a:ea typeface="+mn-ea"/>
                <a:cs typeface="+mn-cs"/>
              </a:rPr>
              <a:t>498</a:t>
            </a: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3733800" y="1043781"/>
            <a:ext cx="3429000" cy="35083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imes New Roman" charset="0"/>
              </a:defRPr>
            </a:lvl9pPr>
          </a:lstStyle>
          <a:p>
            <a:r>
              <a:rPr lang="en-US" altLang="ko-KR" sz="1600" b="1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ZooKeeper</a:t>
            </a:r>
            <a:r>
              <a:rPr lang="en-US" altLang="ko-KR" sz="1600" b="1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Application Examples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45401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0600" y="2209800"/>
            <a:ext cx="7010400" cy="3200400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err="1" smtClean="0">
                <a:ea typeface="+mn-ea"/>
                <a:cs typeface="+mn-cs"/>
              </a:rPr>
              <a:t>Sqoop</a:t>
            </a:r>
            <a:r>
              <a:rPr lang="en-US" altLang="ko-KR" sz="2400" kern="1200" dirty="0" smtClean="0">
                <a:ea typeface="+mn-ea"/>
                <a:cs typeface="+mn-cs"/>
              </a:rPr>
              <a:t> </a:t>
            </a:r>
            <a:r>
              <a:rPr lang="en-US" altLang="ko-KR" sz="2400" kern="1200" dirty="0">
                <a:ea typeface="+mn-ea"/>
                <a:cs typeface="+mn-cs"/>
              </a:rPr>
              <a:t>is an open source tool that allows users to extract data from a structured </a:t>
            </a:r>
            <a:r>
              <a:rPr lang="en-US" altLang="ko-KR" sz="2400" kern="1200" dirty="0" smtClean="0">
                <a:ea typeface="+mn-ea"/>
                <a:cs typeface="+mn-cs"/>
              </a:rPr>
              <a:t>data store </a:t>
            </a:r>
            <a:r>
              <a:rPr lang="en-US" altLang="ko-KR" sz="2400" kern="1200" dirty="0">
                <a:ea typeface="+mn-ea"/>
                <a:cs typeface="+mn-cs"/>
              </a:rPr>
              <a:t>into Hadoop for further processing. </a:t>
            </a:r>
            <a:endParaRPr lang="en-US" altLang="ko-KR" sz="2400" kern="1200" dirty="0" smtClean="0">
              <a:ea typeface="+mn-ea"/>
              <a:cs typeface="+mn-cs"/>
            </a:endParaRP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It’s </a:t>
            </a:r>
            <a:r>
              <a:rPr lang="en-US" altLang="ko-KR" sz="2400" kern="1200" dirty="0">
                <a:ea typeface="+mn-ea"/>
                <a:cs typeface="+mn-cs"/>
              </a:rPr>
              <a:t>even possible to use </a:t>
            </a:r>
            <a:r>
              <a:rPr lang="en-US" altLang="ko-KR" sz="2400" kern="1200" dirty="0" err="1">
                <a:ea typeface="+mn-ea"/>
                <a:cs typeface="+mn-cs"/>
              </a:rPr>
              <a:t>Sqoop</a:t>
            </a:r>
            <a:r>
              <a:rPr lang="en-US" altLang="ko-KR" sz="2400" kern="1200" dirty="0">
                <a:ea typeface="+mn-ea"/>
                <a:cs typeface="+mn-cs"/>
              </a:rPr>
              <a:t> </a:t>
            </a:r>
            <a:r>
              <a:rPr lang="en-US" altLang="ko-KR" sz="2400" kern="1200" dirty="0" smtClean="0">
                <a:ea typeface="+mn-ea"/>
                <a:cs typeface="+mn-cs"/>
              </a:rPr>
              <a:t>to move </a:t>
            </a:r>
            <a:r>
              <a:rPr lang="en-US" altLang="ko-KR" sz="2400" kern="1200" dirty="0">
                <a:ea typeface="+mn-ea"/>
                <a:cs typeface="+mn-cs"/>
              </a:rPr>
              <a:t>data from a database into </a:t>
            </a:r>
            <a:r>
              <a:rPr lang="en-US" altLang="ko-KR" sz="2400" kern="1200" dirty="0" err="1" smtClean="0">
                <a:ea typeface="+mn-ea"/>
                <a:cs typeface="+mn-cs"/>
              </a:rPr>
              <a:t>HBase</a:t>
            </a:r>
            <a:r>
              <a:rPr lang="en-US" altLang="ko-KR" sz="2400" kern="1200" dirty="0" smtClean="0">
                <a:ea typeface="+mn-ea"/>
                <a:cs typeface="+mn-cs"/>
              </a:rPr>
              <a:t>.</a:t>
            </a:r>
          </a:p>
          <a:p>
            <a:pPr marL="342900" lvl="1" indent="-342900">
              <a:lnSpc>
                <a:spcPct val="90000"/>
              </a:lnSpc>
              <a:spcBef>
                <a:spcPts val="9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altLang="ko-KR" sz="2400" kern="1200" dirty="0" smtClean="0">
                <a:ea typeface="+mn-ea"/>
                <a:cs typeface="+mn-cs"/>
              </a:rPr>
              <a:t>When </a:t>
            </a:r>
            <a:r>
              <a:rPr lang="en-US" altLang="ko-KR" sz="2400" kern="1200" dirty="0">
                <a:ea typeface="+mn-ea"/>
                <a:cs typeface="+mn-cs"/>
              </a:rPr>
              <a:t>the final results of an analytic </a:t>
            </a:r>
            <a:r>
              <a:rPr lang="en-US" altLang="ko-KR" sz="2400" kern="1200" dirty="0" smtClean="0">
                <a:ea typeface="+mn-ea"/>
                <a:cs typeface="+mn-cs"/>
              </a:rPr>
              <a:t>pipeline are </a:t>
            </a:r>
            <a:r>
              <a:rPr lang="en-US" altLang="ko-KR" sz="2400" kern="1200" dirty="0">
                <a:ea typeface="+mn-ea"/>
                <a:cs typeface="+mn-cs"/>
              </a:rPr>
              <a:t>available, </a:t>
            </a:r>
            <a:r>
              <a:rPr lang="en-US" altLang="ko-KR" sz="2400" kern="1200" dirty="0" err="1">
                <a:ea typeface="+mn-ea"/>
                <a:cs typeface="+mn-cs"/>
              </a:rPr>
              <a:t>Sqoop</a:t>
            </a:r>
            <a:r>
              <a:rPr lang="en-US" altLang="ko-KR" sz="2400" kern="1200" dirty="0">
                <a:ea typeface="+mn-ea"/>
                <a:cs typeface="+mn-cs"/>
              </a:rPr>
              <a:t> can export these results back to the data store for consumption </a:t>
            </a:r>
            <a:r>
              <a:rPr lang="en-US" altLang="ko-KR" sz="2400" kern="1200" dirty="0" smtClean="0">
                <a:ea typeface="+mn-ea"/>
                <a:cs typeface="+mn-cs"/>
              </a:rPr>
              <a:t>by other </a:t>
            </a:r>
            <a:r>
              <a:rPr lang="en-US" altLang="ko-KR" sz="2400" kern="1200" dirty="0">
                <a:ea typeface="+mn-ea"/>
                <a:cs typeface="+mn-cs"/>
              </a:rPr>
              <a:t>clients.</a:t>
            </a:r>
            <a:endParaRPr lang="en-US" altLang="ko-KR" sz="2400" kern="1200" dirty="0" smtClean="0">
              <a:ea typeface="+mn-ea"/>
              <a:cs typeface="+mn-cs"/>
            </a:endParaRPr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What Is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Sqoop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89354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Sqoop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Commands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67931"/>
            <a:ext cx="7848600" cy="463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3571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Sqoop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Example – 1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45733"/>
            <a:ext cx="8230852" cy="3990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4721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Sqoop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Example – 2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81200"/>
            <a:ext cx="80772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49957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Sqoop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Example – 3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209800"/>
            <a:ext cx="8266997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51443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3733800" y="1066800"/>
            <a:ext cx="3429000" cy="350838"/>
          </a:xfrm>
        </p:spPr>
        <p:txBody>
          <a:bodyPr/>
          <a:lstStyle/>
          <a:p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A </a:t>
            </a:r>
            <a:r>
              <a:rPr lang="en-US" altLang="ko-KR" sz="1600" b="1" kern="1200" dirty="0" err="1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Sqoop</a:t>
            </a:r>
            <a:r>
              <a:rPr lang="en-US" altLang="ko-KR" sz="1600" b="1" kern="1200" dirty="0" smtClean="0">
                <a:solidFill>
                  <a:schemeClr val="tx1"/>
                </a:solidFill>
                <a:latin typeface="Arial" charset="0"/>
                <a:cs typeface="Times New Roman" pitchFamily="18" charset="0"/>
              </a:rPr>
              <a:t> Example – 4</a:t>
            </a:r>
            <a:endParaRPr lang="ko-KR" altLang="en-US" sz="1600" b="1" kern="1200" dirty="0">
              <a:solidFill>
                <a:schemeClr val="tx1"/>
              </a:solidFill>
              <a:latin typeface="Arial" charset="0"/>
              <a:cs typeface="Times New Roman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14600"/>
            <a:ext cx="72644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38969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000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12093</TotalTime>
  <Words>702</Words>
  <Application>Microsoft Office PowerPoint</Application>
  <PresentationFormat>On-screen Show (4:3)</PresentationFormat>
  <Paragraphs>62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Default Design</vt:lpstr>
      <vt:lpstr>HBase, ZooKeeper, and Sqoop</vt:lpstr>
      <vt:lpstr>PowerPoint Presentation</vt:lpstr>
      <vt:lpstr>What Is HBase</vt:lpstr>
      <vt:lpstr>Column Family</vt:lpstr>
      <vt:lpstr>Regions</vt:lpstr>
      <vt:lpstr>Hbase Configuration</vt:lpstr>
      <vt:lpstr>Hbase Cluster Members</vt:lpstr>
      <vt:lpstr>Hbase Needs ZooKeeper</vt:lpstr>
      <vt:lpstr>Hbase Example – 1</vt:lpstr>
      <vt:lpstr>Hbase Example – 2</vt:lpstr>
      <vt:lpstr>Launch Hbase</vt:lpstr>
      <vt:lpstr>Insert and List Data</vt:lpstr>
      <vt:lpstr>More Hbase Commands</vt:lpstr>
      <vt:lpstr>What Is ZooKeeper</vt:lpstr>
      <vt:lpstr>Start ZooKeeper</vt:lpstr>
      <vt:lpstr>PowerPoint Presentation</vt:lpstr>
      <vt:lpstr>Znodes – 2</vt:lpstr>
      <vt:lpstr>PowerPoint Presentation</vt:lpstr>
      <vt:lpstr>What Is Sqoop</vt:lpstr>
      <vt:lpstr>Sqoop Commands</vt:lpstr>
      <vt:lpstr>A Sqoop Example – 1</vt:lpstr>
      <vt:lpstr>A Sqoop Example – 2</vt:lpstr>
      <vt:lpstr>A Sqoop Example – 3</vt:lpstr>
      <vt:lpstr>A Sqoop Example – 4</vt:lpstr>
    </vt:vector>
  </TitlesOfParts>
  <Company>Azimuth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KL</dc:creator>
  <cp:lastModifiedBy>Jiming</cp:lastModifiedBy>
  <cp:revision>698</cp:revision>
  <dcterms:created xsi:type="dcterms:W3CDTF">2005-03-05T09:57:46Z</dcterms:created>
  <dcterms:modified xsi:type="dcterms:W3CDTF">2016-06-04T04:49:47Z</dcterms:modified>
</cp:coreProperties>
</file>