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429" r:id="rId2"/>
    <p:sldId id="430" r:id="rId3"/>
    <p:sldId id="431" r:id="rId4"/>
    <p:sldId id="432" r:id="rId5"/>
    <p:sldId id="455" r:id="rId6"/>
    <p:sldId id="433" r:id="rId7"/>
    <p:sldId id="456" r:id="rId8"/>
    <p:sldId id="434" r:id="rId9"/>
    <p:sldId id="435" r:id="rId10"/>
    <p:sldId id="436" r:id="rId11"/>
    <p:sldId id="457" r:id="rId12"/>
    <p:sldId id="439" r:id="rId13"/>
    <p:sldId id="437" r:id="rId14"/>
    <p:sldId id="438" r:id="rId15"/>
    <p:sldId id="440" r:id="rId16"/>
    <p:sldId id="458" r:id="rId17"/>
    <p:sldId id="441" r:id="rId18"/>
    <p:sldId id="442" r:id="rId19"/>
    <p:sldId id="459" r:id="rId20"/>
    <p:sldId id="444" r:id="rId21"/>
    <p:sldId id="445" r:id="rId22"/>
    <p:sldId id="461" r:id="rId23"/>
    <p:sldId id="462" r:id="rId24"/>
    <p:sldId id="463" r:id="rId25"/>
    <p:sldId id="464" r:id="rId26"/>
    <p:sldId id="465" r:id="rId27"/>
    <p:sldId id="448" r:id="rId28"/>
    <p:sldId id="449" r:id="rId29"/>
    <p:sldId id="466" r:id="rId30"/>
    <p:sldId id="450" r:id="rId31"/>
    <p:sldId id="451" r:id="rId32"/>
    <p:sldId id="468" r:id="rId33"/>
    <p:sldId id="469" r:id="rId34"/>
    <p:sldId id="452" r:id="rId35"/>
    <p:sldId id="470" r:id="rId36"/>
    <p:sldId id="453" r:id="rId37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1" autoAdjust="0"/>
    <p:restoredTop sz="99734" autoAdjust="0"/>
  </p:normalViewPr>
  <p:slideViewPr>
    <p:cSldViewPr>
      <p:cViewPr varScale="1">
        <p:scale>
          <a:sx n="79" d="100"/>
          <a:sy n="79" d="100"/>
        </p:scale>
        <p:origin x="922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r>
              <a:rPr lang="en-US" sz="1600" b="1" dirty="0" smtClean="0">
                <a:solidFill>
                  <a:srgbClr val="FFFFFF"/>
                </a:solidFill>
              </a:rPr>
              <a:t>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4: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I/O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048000"/>
            <a:ext cx="6705600" cy="100965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ko-KR" sz="4800" b="1" dirty="0"/>
              <a:t>Hadoop I/O</a:t>
            </a:r>
            <a:endParaRPr lang="ko-KR" altLang="en-US" sz="4800" b="1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0638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90800" y="2514600"/>
            <a:ext cx="4419600" cy="23622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Data Integrity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Compression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Serialization</a:t>
            </a:r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File-based Data Structures</a:t>
            </a:r>
            <a:endParaRPr lang="ko-KR" altLang="en-US" sz="2600" dirty="0"/>
          </a:p>
        </p:txBody>
      </p:sp>
      <p:sp>
        <p:nvSpPr>
          <p:cNvPr id="5" name="Rectangle 4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120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Integrity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286000"/>
            <a:ext cx="7086600" cy="31242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The </a:t>
            </a:r>
            <a:r>
              <a:rPr lang="en-US" altLang="ko-KR" sz="2600" kern="1200" dirty="0">
                <a:ea typeface="+mn-ea"/>
                <a:cs typeface="+mn-cs"/>
              </a:rPr>
              <a:t>chance of data corruption is </a:t>
            </a:r>
            <a:r>
              <a:rPr lang="en-US" altLang="ko-KR" sz="2600" kern="1200" dirty="0" smtClean="0">
                <a:ea typeface="+mn-ea"/>
                <a:cs typeface="+mn-cs"/>
              </a:rPr>
              <a:t>high because of the large volumes </a:t>
            </a:r>
            <a:r>
              <a:rPr lang="en-US" altLang="ko-KR" sz="2600" kern="1200" dirty="0">
                <a:ea typeface="+mn-ea"/>
                <a:cs typeface="+mn-cs"/>
              </a:rPr>
              <a:t>of data </a:t>
            </a:r>
            <a:r>
              <a:rPr lang="en-US" altLang="ko-KR" sz="2600" kern="1200" dirty="0" smtClean="0">
                <a:ea typeface="+mn-ea"/>
                <a:cs typeface="+mn-cs"/>
              </a:rPr>
              <a:t>handled by Hadoop. </a:t>
            </a:r>
            <a:endParaRPr lang="en-US" altLang="ko-KR" sz="2600" dirty="0" smtClean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Checksum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Usual way of detecting corrupted </a:t>
            </a:r>
            <a:r>
              <a:rPr lang="en-US" altLang="ko-KR" sz="2200" dirty="0" smtClean="0"/>
              <a:t>data.</a:t>
            </a:r>
            <a:endParaRPr lang="en-US" altLang="ko-KR" sz="22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Technique for only error detection (cannot fix the corrupted data</a:t>
            </a:r>
            <a:r>
              <a:rPr lang="en-US" altLang="ko-KR" sz="2200" dirty="0" smtClean="0"/>
              <a:t>).</a:t>
            </a:r>
            <a:endParaRPr lang="en-US" altLang="ko-KR" sz="22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CRC-32 (cyclic redundancy </a:t>
            </a:r>
            <a:r>
              <a:rPr lang="en-US" altLang="ko-KR" sz="2200" dirty="0" smtClean="0"/>
              <a:t>check) - compute </a:t>
            </a:r>
            <a:r>
              <a:rPr lang="en-US" altLang="ko-KR" sz="2200" dirty="0"/>
              <a:t>a 32-bit integer checksum for input of any </a:t>
            </a:r>
            <a:r>
              <a:rPr lang="en-US" altLang="ko-KR" sz="2200" dirty="0" smtClean="0"/>
              <a:t>size.</a:t>
            </a:r>
            <a:endParaRPr lang="en-US" altLang="ko-KR" sz="2200" dirty="0"/>
          </a:p>
          <a:p>
            <a:pPr lvl="2"/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639462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133600"/>
            <a:ext cx="7239000" cy="3428999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>
                <a:ea typeface="+mn-ea"/>
                <a:cs typeface="+mn-cs"/>
              </a:rPr>
              <a:t>HDFS transparently checksums all data written to it and by default verifies checksums when reading </a:t>
            </a:r>
            <a:r>
              <a:rPr lang="en-US" altLang="ko-KR" kern="1200" dirty="0" smtClean="0">
                <a:ea typeface="+mn-ea"/>
                <a:cs typeface="+mn-cs"/>
              </a:rPr>
              <a:t>data.</a:t>
            </a:r>
            <a:endParaRPr lang="en-US" altLang="ko-KR" kern="1200" dirty="0">
              <a:ea typeface="+mn-ea"/>
              <a:cs typeface="+mn-cs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C</a:t>
            </a:r>
            <a:r>
              <a:rPr lang="en-US" altLang="ko-KR" sz="2400" dirty="0" smtClean="0"/>
              <a:t>ompute </a:t>
            </a:r>
            <a:r>
              <a:rPr lang="en-US" altLang="ko-KR" sz="2400" dirty="0"/>
              <a:t>checksums for every 512 bytes by </a:t>
            </a:r>
            <a:r>
              <a:rPr lang="en-US" altLang="ko-KR" sz="2400" dirty="0" smtClean="0"/>
              <a:t>default.</a:t>
            </a:r>
            <a:endParaRPr lang="en-US" altLang="ko-KR" sz="2400" dirty="0"/>
          </a:p>
          <a:p>
            <a:pPr marL="342900" lvl="1" indent="-342900"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err="1">
                <a:ea typeface="+mn-ea"/>
                <a:cs typeface="+mn-cs"/>
              </a:rPr>
              <a:t>Datanodes</a:t>
            </a:r>
            <a:r>
              <a:rPr lang="en-US" altLang="ko-KR" kern="1200" dirty="0">
                <a:ea typeface="+mn-ea"/>
                <a:cs typeface="+mn-cs"/>
              </a:rPr>
              <a:t> are responsible for verifying the data they receive before storing the data and its checksum.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 smtClean="0"/>
              <a:t>Client receives a </a:t>
            </a:r>
            <a:r>
              <a:rPr lang="en-US" altLang="ko-KR" sz="2400" dirty="0" err="1" smtClean="0"/>
              <a:t>ChecksumException</a:t>
            </a:r>
            <a:r>
              <a:rPr lang="en-US" altLang="ko-KR" sz="2400" dirty="0" smtClean="0"/>
              <a:t>, if it detects an error. </a:t>
            </a:r>
          </a:p>
          <a:p>
            <a:pPr marL="342900" lvl="1" indent="-342900">
              <a:lnSpc>
                <a:spcPct val="110000"/>
              </a:lnSpc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>
                <a:ea typeface="+mn-ea"/>
                <a:cs typeface="+mn-cs"/>
              </a:rPr>
              <a:t>When clients read data from </a:t>
            </a:r>
            <a:r>
              <a:rPr lang="en-US" altLang="ko-KR" kern="1200" dirty="0" err="1">
                <a:ea typeface="+mn-ea"/>
                <a:cs typeface="+mn-cs"/>
              </a:rPr>
              <a:t>datanodes</a:t>
            </a:r>
            <a:r>
              <a:rPr lang="en-US" altLang="ko-KR" kern="1200" dirty="0">
                <a:ea typeface="+mn-ea"/>
                <a:cs typeface="+mn-cs"/>
              </a:rPr>
              <a:t>, they verify checksums as well, comparing them with the ones stored at the </a:t>
            </a:r>
            <a:r>
              <a:rPr lang="en-US" altLang="ko-KR" kern="1200" dirty="0" err="1">
                <a:ea typeface="+mn-ea"/>
                <a:cs typeface="+mn-cs"/>
              </a:rPr>
              <a:t>datanode</a:t>
            </a:r>
            <a:r>
              <a:rPr lang="en-US" altLang="ko-KR" kern="1200" dirty="0">
                <a:ea typeface="+mn-ea"/>
                <a:cs typeface="+mn-cs"/>
              </a:rPr>
              <a:t>.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7338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Integrity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4059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9200" y="2057400"/>
            <a:ext cx="6858000" cy="38100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Checksum </a:t>
            </a:r>
            <a:r>
              <a:rPr lang="en-US" altLang="ko-KR" kern="1200" dirty="0">
                <a:ea typeface="+mn-ea"/>
                <a:cs typeface="+mn-cs"/>
              </a:rPr>
              <a:t>verification log 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Each </a:t>
            </a:r>
            <a:r>
              <a:rPr lang="en-US" altLang="ko-KR" sz="2400" dirty="0" err="1"/>
              <a:t>datanode</a:t>
            </a:r>
            <a:r>
              <a:rPr lang="en-US" altLang="ko-KR" sz="2400" dirty="0"/>
              <a:t> keeps a persistent log to know the last time each of its blocks was </a:t>
            </a:r>
            <a:r>
              <a:rPr lang="en-US" altLang="ko-KR" sz="2400" dirty="0" smtClean="0"/>
              <a:t>verified.</a:t>
            </a:r>
            <a:endParaRPr lang="en-US" altLang="ko-KR" sz="24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When a client successfully verifies a block, it tells the </a:t>
            </a:r>
            <a:r>
              <a:rPr lang="en-US" altLang="ko-KR" sz="2400" dirty="0" err="1"/>
              <a:t>datanode</a:t>
            </a:r>
            <a:r>
              <a:rPr lang="en-US" altLang="ko-KR" sz="2400" dirty="0"/>
              <a:t> who sends the </a:t>
            </a:r>
            <a:r>
              <a:rPr lang="en-US" altLang="ko-KR" sz="2400" dirty="0" smtClean="0"/>
              <a:t>block.</a:t>
            </a:r>
            <a:endParaRPr lang="en-US" altLang="ko-KR" sz="24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Then, the </a:t>
            </a:r>
            <a:r>
              <a:rPr lang="en-US" altLang="ko-KR" sz="2400" dirty="0" err="1"/>
              <a:t>datanode</a:t>
            </a:r>
            <a:r>
              <a:rPr lang="en-US" altLang="ko-KR" sz="2400" dirty="0"/>
              <a:t> updates its </a:t>
            </a:r>
            <a:r>
              <a:rPr lang="en-US" altLang="ko-KR" sz="2400" dirty="0" smtClean="0"/>
              <a:t>log.</a:t>
            </a:r>
            <a:endParaRPr lang="en-US" altLang="ko-KR" sz="2400" dirty="0"/>
          </a:p>
          <a:p>
            <a:pPr marL="342900" lvl="1" indent="-342900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err="1">
                <a:ea typeface="+mn-ea"/>
                <a:cs typeface="+mn-cs"/>
              </a:rPr>
              <a:t>DataBlockScanner</a:t>
            </a:r>
            <a:endParaRPr lang="en-US" altLang="ko-KR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Background thread that periodically verifies all the blocks stored on the </a:t>
            </a:r>
            <a:r>
              <a:rPr lang="en-US" altLang="ko-KR" sz="2400" dirty="0" err="1" smtClean="0"/>
              <a:t>datanode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Guard against corruption due to “bit rot” in the physical storage </a:t>
            </a:r>
            <a:r>
              <a:rPr lang="en-US" altLang="ko-KR" sz="2400" dirty="0" smtClean="0"/>
              <a:t>media.</a:t>
            </a:r>
            <a:endParaRPr lang="en-US" altLang="ko-KR" sz="2400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7338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Integrity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8175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133600"/>
            <a:ext cx="7315200" cy="29718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Healing corrupted blocks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If a client detects an error when reading a block, it reports the bad block and the </a:t>
            </a:r>
            <a:r>
              <a:rPr lang="en-US" altLang="ko-KR" sz="2200" dirty="0" err="1"/>
              <a:t>datanode</a:t>
            </a:r>
            <a:r>
              <a:rPr lang="en-US" altLang="ko-KR" sz="2200" dirty="0"/>
              <a:t> to the </a:t>
            </a:r>
            <a:r>
              <a:rPr lang="en-US" altLang="ko-KR" sz="2200" dirty="0" err="1" smtClean="0"/>
              <a:t>namenode</a:t>
            </a:r>
            <a:r>
              <a:rPr lang="en-US" altLang="ko-KR" sz="2200" dirty="0" smtClean="0"/>
              <a:t>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err="1"/>
              <a:t>Namenode</a:t>
            </a:r>
            <a:r>
              <a:rPr lang="en-US" altLang="ko-KR" sz="2200" dirty="0"/>
              <a:t> marks the block replica as </a:t>
            </a:r>
            <a:r>
              <a:rPr lang="en-US" altLang="ko-KR" sz="2200" dirty="0" smtClean="0"/>
              <a:t>corrupt.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err="1"/>
              <a:t>Namenode</a:t>
            </a:r>
            <a:r>
              <a:rPr lang="en-US" altLang="ko-KR" sz="2200" dirty="0"/>
              <a:t> schedules a copy of the block to be replicated on another </a:t>
            </a:r>
            <a:r>
              <a:rPr lang="en-US" altLang="ko-KR" sz="2200" dirty="0" err="1" smtClean="0"/>
              <a:t>datanode</a:t>
            </a:r>
            <a:r>
              <a:rPr lang="en-US" altLang="ko-KR" sz="2200" dirty="0" smtClean="0"/>
              <a:t>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The corrupt replica is </a:t>
            </a:r>
            <a:r>
              <a:rPr lang="en-US" altLang="ko-KR" sz="2200" dirty="0" smtClean="0"/>
              <a:t>deleted.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7338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Integrity – </a:t>
            </a:r>
            <a:r>
              <a:rPr lang="en-US" altLang="ko-KR" sz="1600" b="1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3877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9200" y="2209800"/>
            <a:ext cx="6477000" cy="2895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Disabling </a:t>
            </a:r>
            <a:r>
              <a:rPr lang="en-US" altLang="ko-KR" sz="2600" kern="1200" dirty="0">
                <a:ea typeface="+mn-ea"/>
                <a:cs typeface="+mn-cs"/>
              </a:rPr>
              <a:t>verification of checksum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Pass false to the </a:t>
            </a:r>
            <a:r>
              <a:rPr lang="en-US" altLang="ko-KR" sz="2200" b="1" dirty="0" err="1"/>
              <a:t>setVerifyCheckSum</a:t>
            </a:r>
            <a:r>
              <a:rPr lang="en-US" altLang="ko-KR" sz="2200" b="1" dirty="0"/>
              <a:t>()</a:t>
            </a:r>
            <a:r>
              <a:rPr lang="en-US" altLang="ko-KR" sz="2200" dirty="0"/>
              <a:t> method on </a:t>
            </a:r>
            <a:r>
              <a:rPr lang="en-US" altLang="ko-KR" sz="2200" dirty="0" err="1" smtClean="0"/>
              <a:t>FileSystem</a:t>
            </a:r>
            <a:r>
              <a:rPr lang="en-US" altLang="ko-KR" sz="2200" dirty="0" smtClean="0"/>
              <a:t>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b="1" dirty="0"/>
              <a:t>-</a:t>
            </a:r>
            <a:r>
              <a:rPr lang="en-US" altLang="ko-KR" sz="2200" b="1" dirty="0" err="1"/>
              <a:t>ignoreCrc</a:t>
            </a:r>
            <a:r>
              <a:rPr lang="en-US" altLang="ko-KR" sz="2200" dirty="0"/>
              <a:t> option with the </a:t>
            </a:r>
            <a:r>
              <a:rPr lang="en-US" altLang="ko-KR" sz="2200" b="1" dirty="0" smtClean="0"/>
              <a:t>-get </a:t>
            </a:r>
            <a:r>
              <a:rPr lang="en-US" altLang="ko-KR" sz="2200" dirty="0"/>
              <a:t>or the equivalent </a:t>
            </a:r>
            <a:r>
              <a:rPr lang="en-US" altLang="ko-KR" sz="2200" b="1" dirty="0" smtClean="0"/>
              <a:t>-</a:t>
            </a:r>
            <a:r>
              <a:rPr lang="en-US" altLang="ko-KR" sz="2200" b="1" dirty="0" err="1" smtClean="0"/>
              <a:t>copyToLocal</a:t>
            </a:r>
            <a:r>
              <a:rPr lang="en-US" altLang="ko-KR" sz="2200" b="1" dirty="0" smtClean="0"/>
              <a:t> </a:t>
            </a:r>
            <a:r>
              <a:rPr lang="en-US" altLang="ko-KR" sz="2200" dirty="0"/>
              <a:t>command.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This feature is useful if you have a corrupt file that you want to inspect and decide what to do.</a:t>
            </a:r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7338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Integrity – </a:t>
            </a:r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5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51832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2057400"/>
            <a:ext cx="7924800" cy="4221163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LocalFileSystem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Performs </a:t>
            </a:r>
            <a:r>
              <a:rPr lang="en-US" altLang="ko-KR" sz="2200" dirty="0"/>
              <a:t>client-side </a:t>
            </a:r>
            <a:r>
              <a:rPr lang="en-US" altLang="ko-KR" sz="2200" dirty="0" err="1" smtClean="0"/>
              <a:t>checksumming</a:t>
            </a:r>
            <a:r>
              <a:rPr lang="en-US" altLang="ko-KR" sz="2200" dirty="0" smtClean="0"/>
              <a:t>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When you write a file called </a:t>
            </a:r>
            <a:r>
              <a:rPr lang="en-US" altLang="ko-KR" sz="2200" i="1" dirty="0"/>
              <a:t>filename</a:t>
            </a:r>
            <a:r>
              <a:rPr lang="en-US" altLang="ko-KR" sz="2200" dirty="0"/>
              <a:t>, the FS client transparently creates a hidden file, </a:t>
            </a:r>
            <a:r>
              <a:rPr lang="en-US" altLang="ko-KR" sz="2200" i="1" dirty="0"/>
              <a:t>.</a:t>
            </a:r>
            <a:r>
              <a:rPr lang="en-US" altLang="ko-KR" sz="2200" i="1" dirty="0" err="1"/>
              <a:t>filename.crc</a:t>
            </a:r>
            <a:r>
              <a:rPr lang="en-US" altLang="ko-KR" sz="2200" dirty="0"/>
              <a:t>, in the same directory containing the checksums for each chunk of the </a:t>
            </a:r>
            <a:r>
              <a:rPr lang="en-US" altLang="ko-KR" sz="2200" dirty="0" smtClean="0"/>
              <a:t>file.</a:t>
            </a:r>
            <a:endParaRPr lang="en-US" altLang="ko-KR" sz="2200" dirty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ChecksumFileSystem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err="1"/>
              <a:t>LocalFileSystem</a:t>
            </a:r>
            <a:r>
              <a:rPr lang="en-US" altLang="ko-KR" sz="2200" dirty="0"/>
              <a:t> uses </a:t>
            </a:r>
            <a:r>
              <a:rPr lang="en-US" altLang="ko-KR" sz="2200" dirty="0" err="1"/>
              <a:t>ChecksumFileSystem</a:t>
            </a:r>
            <a:r>
              <a:rPr lang="en-US" altLang="ko-KR" sz="2200" dirty="0"/>
              <a:t> to do its work.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Make it easy to add </a:t>
            </a:r>
            <a:r>
              <a:rPr lang="en-US" altLang="ko-KR" sz="2200" dirty="0" err="1"/>
              <a:t>checksumming</a:t>
            </a:r>
            <a:r>
              <a:rPr lang="en-US" altLang="ko-KR" sz="2200" dirty="0"/>
              <a:t> to other (</a:t>
            </a:r>
            <a:r>
              <a:rPr lang="en-US" altLang="ko-KR" sz="2200" dirty="0" err="1"/>
              <a:t>nonchecksummed</a:t>
            </a:r>
            <a:r>
              <a:rPr lang="en-US" altLang="ko-KR" sz="2200" dirty="0"/>
              <a:t>) filesystems.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7338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 Integrity – </a:t>
            </a:r>
            <a:r>
              <a:rPr lang="en-US" altLang="ko-KR" sz="1600" b="1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6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2307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Compression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9200" y="2133600"/>
            <a:ext cx="6934200" cy="31242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Two major benefits of file compression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Reduce the space needed to store </a:t>
            </a:r>
            <a:r>
              <a:rPr lang="en-US" altLang="ko-KR" sz="2200" dirty="0" smtClean="0"/>
              <a:t>files;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Speed up data transfer across the </a:t>
            </a:r>
            <a:r>
              <a:rPr lang="en-US" altLang="ko-KR" sz="2200" dirty="0" smtClean="0"/>
              <a:t>network.</a:t>
            </a:r>
            <a:endParaRPr lang="en-US" altLang="ko-KR" dirty="0" smtClean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When dealing with large volumes of data, both of these savings can be </a:t>
            </a:r>
            <a:r>
              <a:rPr lang="en-US" altLang="ko-KR" sz="2600" kern="1200" dirty="0" smtClean="0">
                <a:ea typeface="+mn-ea"/>
                <a:cs typeface="+mn-cs"/>
              </a:rPr>
              <a:t>significant.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So </a:t>
            </a:r>
            <a:r>
              <a:rPr lang="en-US" altLang="ko-KR" sz="2600" kern="1200" dirty="0">
                <a:ea typeface="+mn-ea"/>
                <a:cs typeface="+mn-cs"/>
              </a:rPr>
              <a:t>it pays to carefully consider how to use compression in </a:t>
            </a:r>
            <a:r>
              <a:rPr lang="en-US" altLang="ko-KR" sz="2600" kern="1200" dirty="0" smtClean="0">
                <a:ea typeface="+mn-ea"/>
                <a:cs typeface="+mn-cs"/>
              </a:rPr>
              <a:t>Hadoop.</a:t>
            </a:r>
            <a:endParaRPr lang="en-US" altLang="ko-KR" sz="26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8565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Compression Codecs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00"/>
            <a:ext cx="8038398" cy="362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1151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95400" y="2209800"/>
            <a:ext cx="6400800" cy="30480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“</a:t>
            </a:r>
            <a:r>
              <a:rPr lang="en-US" altLang="ko-KR" sz="2600" kern="1200" dirty="0" err="1">
                <a:ea typeface="+mn-ea"/>
                <a:cs typeface="+mn-cs"/>
              </a:rPr>
              <a:t>Splittable</a:t>
            </a:r>
            <a:r>
              <a:rPr lang="en-US" altLang="ko-KR" sz="2600" kern="1200" dirty="0">
                <a:ea typeface="+mn-ea"/>
                <a:cs typeface="+mn-cs"/>
              </a:rPr>
              <a:t>” column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Indicates whether the compression format supports </a:t>
            </a:r>
            <a:r>
              <a:rPr lang="en-US" altLang="ko-KR" sz="2200" dirty="0" smtClean="0"/>
              <a:t>splitting;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Whether you can seek to any point in the stream and start reading from some point further </a:t>
            </a:r>
            <a:r>
              <a:rPr lang="en-US" altLang="ko-KR" sz="2200" dirty="0" smtClean="0"/>
              <a:t>on.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err="1"/>
              <a:t>Splittable</a:t>
            </a:r>
            <a:r>
              <a:rPr lang="en-US" altLang="ko-KR" sz="2200" dirty="0"/>
              <a:t> compression formats are especially suitable for </a:t>
            </a:r>
            <a:r>
              <a:rPr lang="en-US" altLang="ko-KR" sz="2200" dirty="0" smtClean="0"/>
              <a:t>MapReduce.</a:t>
            </a:r>
            <a:endParaRPr lang="en-US" altLang="ko-KR" sz="2200" dirty="0"/>
          </a:p>
          <a:p>
            <a:endParaRPr lang="ko-KR" altLang="en-US" dirty="0"/>
          </a:p>
        </p:txBody>
      </p:sp>
      <p:sp>
        <p:nvSpPr>
          <p:cNvPr id="8" name="제목 1"/>
          <p:cNvSpPr txBox="1">
            <a:spLocks noGrp="1"/>
          </p:cNvSpPr>
          <p:nvPr>
            <p:ph type="title"/>
          </p:nvPr>
        </p:nvSpPr>
        <p:spPr>
          <a:xfrm>
            <a:off x="3733800" y="1066800"/>
            <a:ext cx="3124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“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Splittable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” Column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2266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048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Input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Splits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1905000"/>
            <a:ext cx="7162800" cy="3657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I</a:t>
            </a:r>
            <a:r>
              <a:rPr lang="en-US" altLang="ko-KR" sz="2600" kern="1200" dirty="0" smtClean="0">
                <a:ea typeface="+mn-ea"/>
                <a:cs typeface="+mn-cs"/>
              </a:rPr>
              <a:t>t </a:t>
            </a:r>
            <a:r>
              <a:rPr lang="en-US" altLang="ko-KR" sz="2600" kern="1200" dirty="0">
                <a:ea typeface="+mn-ea"/>
                <a:cs typeface="+mn-cs"/>
              </a:rPr>
              <a:t>is important </a:t>
            </a:r>
            <a:r>
              <a:rPr lang="en-US" altLang="ko-KR" sz="2600" kern="1200" dirty="0" smtClean="0">
                <a:ea typeface="+mn-ea"/>
                <a:cs typeface="+mn-cs"/>
              </a:rPr>
              <a:t>whether </a:t>
            </a:r>
            <a:r>
              <a:rPr lang="en-US" altLang="ko-KR" sz="2600" kern="1200" dirty="0">
                <a:ea typeface="+mn-ea"/>
                <a:cs typeface="+mn-cs"/>
              </a:rPr>
              <a:t>the compression format supports </a:t>
            </a:r>
            <a:r>
              <a:rPr lang="en-US" altLang="ko-KR" sz="2600" kern="1200" dirty="0" smtClean="0">
                <a:ea typeface="+mn-ea"/>
                <a:cs typeface="+mn-cs"/>
              </a:rPr>
              <a:t>splitting.</a:t>
            </a:r>
            <a:endParaRPr lang="en-US" altLang="ko-KR" dirty="0" smtClean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Example of not-</a:t>
            </a:r>
            <a:r>
              <a:rPr lang="en-US" altLang="ko-KR" sz="2600" kern="1200" dirty="0" err="1">
                <a:ea typeface="+mn-ea"/>
                <a:cs typeface="+mn-cs"/>
              </a:rPr>
              <a:t>splitable</a:t>
            </a:r>
            <a:r>
              <a:rPr lang="en-US" altLang="ko-KR" sz="2600" kern="1200" dirty="0">
                <a:ea typeface="+mn-ea"/>
                <a:cs typeface="+mn-cs"/>
              </a:rPr>
              <a:t> compression </a:t>
            </a:r>
            <a:r>
              <a:rPr lang="en-US" altLang="ko-KR" sz="2600" kern="1200" dirty="0" smtClean="0">
                <a:ea typeface="+mn-ea"/>
                <a:cs typeface="+mn-cs"/>
              </a:rPr>
              <a:t>problem: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 </a:t>
            </a:r>
            <a:r>
              <a:rPr lang="en-US" altLang="ko-KR" sz="2200" dirty="0" err="1" smtClean="0"/>
              <a:t>gzip</a:t>
            </a:r>
            <a:r>
              <a:rPr lang="en-US" altLang="ko-KR" sz="2200" dirty="0" smtClean="0"/>
              <a:t>-compressed </a:t>
            </a:r>
            <a:r>
              <a:rPr lang="en-US" altLang="ko-KR" sz="2200" dirty="0"/>
              <a:t>file </a:t>
            </a:r>
            <a:r>
              <a:rPr lang="en-US" altLang="ko-KR" sz="2200" dirty="0" smtClean="0"/>
              <a:t>is </a:t>
            </a:r>
            <a:r>
              <a:rPr lang="en-US" altLang="ko-KR" sz="2200" dirty="0"/>
              <a:t>1 </a:t>
            </a:r>
            <a:r>
              <a:rPr lang="en-US" altLang="ko-KR" sz="2200" dirty="0" smtClean="0"/>
              <a:t>GB;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Creating a split for each block won’t work since it is impossible to start reading at an arbitrary point in the </a:t>
            </a:r>
            <a:r>
              <a:rPr lang="en-US" altLang="ko-KR" sz="2200" dirty="0" err="1"/>
              <a:t>gzip</a:t>
            </a:r>
            <a:r>
              <a:rPr lang="en-US" altLang="ko-KR" sz="2200" dirty="0"/>
              <a:t> </a:t>
            </a:r>
            <a:r>
              <a:rPr lang="en-US" altLang="ko-KR" sz="2200" dirty="0" smtClean="0"/>
              <a:t>stream</a:t>
            </a:r>
            <a:r>
              <a:rPr lang="en-US" altLang="ko-KR" sz="2200" dirty="0"/>
              <a:t>;</a:t>
            </a:r>
            <a:endParaRPr lang="en-US" altLang="ko-KR" sz="2200" dirty="0" smtClean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</a:t>
            </a:r>
            <a:r>
              <a:rPr lang="en-US" altLang="ko-KR" sz="2200" dirty="0" smtClean="0"/>
              <a:t>herefore </a:t>
            </a:r>
            <a:r>
              <a:rPr lang="en-US" altLang="ko-KR" sz="2200" dirty="0"/>
              <a:t>impossible for a map task to read its split independently of the </a:t>
            </a:r>
            <a:r>
              <a:rPr lang="en-US" altLang="ko-KR" sz="2200" dirty="0" smtClean="0"/>
              <a:t>others.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9787906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CompressionCodec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057400"/>
            <a:ext cx="7086600" cy="3276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CompressionCodec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b="1" dirty="0" err="1"/>
              <a:t>createOutputStream</a:t>
            </a:r>
            <a:r>
              <a:rPr lang="en-US" altLang="ko-KR" sz="2200" b="1" dirty="0"/>
              <a:t>(</a:t>
            </a:r>
            <a:r>
              <a:rPr lang="en-US" altLang="ko-KR" sz="2200" b="1" dirty="0" err="1"/>
              <a:t>OutputStream</a:t>
            </a:r>
            <a:r>
              <a:rPr lang="en-US" altLang="ko-KR" sz="2200" b="1" dirty="0"/>
              <a:t> out)</a:t>
            </a:r>
            <a:r>
              <a:rPr lang="en-US" altLang="ko-KR" sz="2200" dirty="0"/>
              <a:t>: create a </a:t>
            </a:r>
            <a:r>
              <a:rPr lang="en-US" altLang="ko-KR" sz="2200" dirty="0" err="1"/>
              <a:t>CompressionOutputStream</a:t>
            </a:r>
            <a:r>
              <a:rPr lang="en-US" altLang="ko-KR" sz="2200" dirty="0"/>
              <a:t> to which you write your uncompressed data to have it written in compressed form to the underlying </a:t>
            </a:r>
            <a:r>
              <a:rPr lang="en-US" altLang="ko-KR" sz="2200" dirty="0" smtClean="0"/>
              <a:t>stream.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b="1" dirty="0" err="1"/>
              <a:t>createInputStream</a:t>
            </a:r>
            <a:r>
              <a:rPr lang="en-US" altLang="ko-KR" sz="2200" b="1" dirty="0"/>
              <a:t>(</a:t>
            </a:r>
            <a:r>
              <a:rPr lang="en-US" altLang="ko-KR" sz="2200" b="1" dirty="0" err="1"/>
              <a:t>InputStream</a:t>
            </a:r>
            <a:r>
              <a:rPr lang="en-US" altLang="ko-KR" sz="2200" b="1" dirty="0"/>
              <a:t> in)</a:t>
            </a:r>
            <a:r>
              <a:rPr lang="en-US" altLang="ko-KR" sz="2200" dirty="0"/>
              <a:t>: obtain a </a:t>
            </a:r>
            <a:r>
              <a:rPr lang="en-US" altLang="ko-KR" sz="2200" dirty="0" err="1"/>
              <a:t>CompressionInputStream</a:t>
            </a:r>
            <a:r>
              <a:rPr lang="en-US" altLang="ko-KR" sz="2200" dirty="0"/>
              <a:t>, which allows you to read uncompressed data from the underlying </a:t>
            </a:r>
            <a:r>
              <a:rPr lang="en-US" altLang="ko-KR" sz="2200" dirty="0" smtClean="0"/>
              <a:t>stream.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30540981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200400" cy="395270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Example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3400" y="5486400"/>
            <a:ext cx="800100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% </a:t>
            </a:r>
            <a:r>
              <a:rPr lang="en-US" altLang="ko-KR" sz="1400" b="1" dirty="0" smtClean="0"/>
              <a:t>echo "Text" | </a:t>
            </a:r>
            <a:r>
              <a:rPr lang="en-US" altLang="ko-KR" sz="1400" b="1" dirty="0" err="1" smtClean="0"/>
              <a:t>hadoop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StreamCompressor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org.apache.hadoop.io.compress.GzipCodec</a:t>
            </a:r>
            <a:r>
              <a:rPr lang="en-US" altLang="ko-KR" sz="1400" b="1" dirty="0" smtClean="0"/>
              <a:t> \</a:t>
            </a:r>
          </a:p>
          <a:p>
            <a:r>
              <a:rPr lang="en-US" altLang="ko-KR" sz="1400" b="1" dirty="0" smtClean="0"/>
              <a:t>| </a:t>
            </a:r>
            <a:r>
              <a:rPr lang="en-US" altLang="ko-KR" sz="1400" b="1" dirty="0" err="1" smtClean="0"/>
              <a:t>gunzip</a:t>
            </a:r>
            <a:r>
              <a:rPr lang="en-US" altLang="ko-KR" sz="1400" b="1" dirty="0" smtClean="0"/>
              <a:t> -</a:t>
            </a:r>
          </a:p>
          <a:p>
            <a:r>
              <a:rPr lang="en-US" altLang="ko-KR" sz="1400" dirty="0" smtClean="0"/>
              <a:t>Text</a:t>
            </a:r>
            <a:endParaRPr lang="ko-KR" altLang="en-US" sz="1400" dirty="0">
              <a:latin typeface="Lucida Sans Typewriter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76400"/>
            <a:ext cx="8382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7588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3048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Serialization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2133600"/>
            <a:ext cx="7620000" cy="32004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Process of turning structured objects into a byte stream for transmission over a network or for writing to persistent </a:t>
            </a:r>
            <a:r>
              <a:rPr lang="en-US" altLang="ko-KR" sz="2600" kern="1200" dirty="0" smtClean="0">
                <a:ea typeface="+mn-ea"/>
                <a:cs typeface="+mn-cs"/>
              </a:rPr>
              <a:t>storage.</a:t>
            </a:r>
            <a:endParaRPr lang="en-US" altLang="ko-KR" sz="26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Deserialization is the reverse process of </a:t>
            </a:r>
            <a:r>
              <a:rPr lang="en-US" altLang="ko-KR" sz="2600" kern="1200" dirty="0" smtClean="0">
                <a:ea typeface="+mn-ea"/>
                <a:cs typeface="+mn-cs"/>
              </a:rPr>
              <a:t>serialization.</a:t>
            </a:r>
            <a:endParaRPr lang="en-US" altLang="ko-KR" sz="26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Serialization appears in two quite distinct areas of distributed data processes: for </a:t>
            </a:r>
            <a:r>
              <a:rPr lang="en-US" altLang="ko-KR" sz="2600" kern="1200" dirty="0" err="1">
                <a:ea typeface="+mn-ea"/>
                <a:cs typeface="+mn-cs"/>
              </a:rPr>
              <a:t>interprocess</a:t>
            </a:r>
            <a:r>
              <a:rPr lang="en-US" altLang="ko-KR" sz="2600" kern="1200" dirty="0">
                <a:ea typeface="+mn-ea"/>
                <a:cs typeface="+mn-cs"/>
              </a:rPr>
              <a:t> communication and for persistent storage.</a:t>
            </a:r>
          </a:p>
        </p:txBody>
      </p:sp>
    </p:spTree>
    <p:extLst>
      <p:ext uri="{BB962C8B-B14F-4D97-AF65-F5344CB8AC3E}">
        <p14:creationId xmlns:p14="http://schemas.microsoft.com/office/powerpoint/2010/main" val="412133421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1905000"/>
            <a:ext cx="6705600" cy="4038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In </a:t>
            </a:r>
            <a:r>
              <a:rPr lang="en-US" altLang="ko-KR" sz="2400" kern="1200" dirty="0">
                <a:ea typeface="+mn-ea"/>
                <a:cs typeface="+mn-cs"/>
              </a:rPr>
              <a:t>H</a:t>
            </a:r>
            <a:r>
              <a:rPr lang="en-US" altLang="ko-KR" sz="2400" kern="1200" dirty="0" smtClean="0">
                <a:ea typeface="+mn-ea"/>
                <a:cs typeface="+mn-cs"/>
              </a:rPr>
              <a:t>adoop, </a:t>
            </a:r>
            <a:r>
              <a:rPr lang="en-US" altLang="ko-KR" sz="2400" kern="1200" dirty="0" err="1" smtClean="0">
                <a:ea typeface="+mn-ea"/>
                <a:cs typeface="+mn-cs"/>
              </a:rPr>
              <a:t>interprocess</a:t>
            </a:r>
            <a:r>
              <a:rPr lang="en-US" altLang="ko-KR" sz="2400" kern="1200" dirty="0" smtClean="0">
                <a:ea typeface="+mn-ea"/>
                <a:cs typeface="+mn-cs"/>
              </a:rPr>
              <a:t> communication between nodes is implemented using RPCs. Requirements for RPCs: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Compact – to make efficient use of storage </a:t>
            </a:r>
            <a:r>
              <a:rPr lang="en-US" altLang="ko-KR" sz="2100" dirty="0" smtClean="0"/>
              <a:t>space;</a:t>
            </a:r>
            <a:endParaRPr lang="en-US" altLang="ko-KR" sz="21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Fast – the overhead in reading and writing of data is </a:t>
            </a:r>
            <a:r>
              <a:rPr lang="en-US" altLang="ko-KR" sz="2100" dirty="0" smtClean="0"/>
              <a:t>minimal;</a:t>
            </a:r>
            <a:endParaRPr lang="en-US" altLang="ko-KR" sz="21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Extensible – we can transparently read data written in an older </a:t>
            </a:r>
            <a:r>
              <a:rPr lang="en-US" altLang="ko-KR" sz="2100" dirty="0" smtClean="0"/>
              <a:t>format;</a:t>
            </a:r>
            <a:endParaRPr lang="en-US" altLang="ko-KR" sz="21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Interoperable – we can read or write persistent data using different </a:t>
            </a:r>
            <a:r>
              <a:rPr lang="en-US" altLang="ko-KR" sz="2100" dirty="0" smtClean="0"/>
              <a:t>language.</a:t>
            </a:r>
            <a:endParaRPr lang="en-US" altLang="ko-KR" sz="2100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124200" y="1066800"/>
            <a:ext cx="4648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Remote Procedure Calls (RPCs)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Serialization 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1825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3048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Writable Interface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7224" y="4191000"/>
            <a:ext cx="7786742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public static byte[] </a:t>
            </a:r>
            <a:r>
              <a:rPr lang="en-US" altLang="ko-KR" sz="1400" b="1" dirty="0" smtClean="0">
                <a:latin typeface="Lucida Sans Typewriter" pitchFamily="49" charset="0"/>
              </a:rPr>
              <a:t>serialize</a:t>
            </a:r>
            <a:r>
              <a:rPr lang="en-US" altLang="ko-KR" sz="1400" dirty="0" smtClean="0">
                <a:latin typeface="Lucida Sans Typewriter" pitchFamily="49" charset="0"/>
              </a:rPr>
              <a:t>(Writable </a:t>
            </a:r>
            <a:r>
              <a:rPr lang="en-US" altLang="ko-KR" sz="1400" dirty="0" err="1" smtClean="0">
                <a:latin typeface="Lucida Sans Typewriter" pitchFamily="49" charset="0"/>
              </a:rPr>
              <a:t>writable</a:t>
            </a:r>
            <a:r>
              <a:rPr lang="en-US" altLang="ko-KR" sz="1400" dirty="0" smtClean="0">
                <a:latin typeface="Lucida Sans Typewriter" pitchFamily="49" charset="0"/>
              </a:rPr>
              <a:t>) throws </a:t>
            </a:r>
            <a:r>
              <a:rPr lang="en-US" altLang="ko-KR" sz="1400" dirty="0" err="1" smtClean="0">
                <a:latin typeface="Lucida Sans Typewriter" pitchFamily="49" charset="0"/>
              </a:rPr>
              <a:t>IOException</a:t>
            </a:r>
            <a:r>
              <a:rPr lang="en-US" altLang="ko-KR" sz="1400" dirty="0" smtClean="0">
                <a:latin typeface="Lucida Sans Typewriter" pitchFamily="49" charset="0"/>
              </a:rPr>
              <a:t> {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	</a:t>
            </a:r>
            <a:r>
              <a:rPr lang="en-US" altLang="ko-KR" sz="1400" dirty="0" err="1" smtClean="0">
                <a:latin typeface="Lucida Sans Typewriter" pitchFamily="49" charset="0"/>
              </a:rPr>
              <a:t>ByteArrayOutputStream</a:t>
            </a:r>
            <a:r>
              <a:rPr lang="en-US" altLang="ko-KR" sz="1400" dirty="0" smtClean="0">
                <a:latin typeface="Lucida Sans Typewriter" pitchFamily="49" charset="0"/>
              </a:rPr>
              <a:t> out = new </a:t>
            </a:r>
            <a:r>
              <a:rPr lang="en-US" altLang="ko-KR" sz="1400" dirty="0" err="1" smtClean="0">
                <a:latin typeface="Lucida Sans Typewriter" pitchFamily="49" charset="0"/>
              </a:rPr>
              <a:t>ByteArrayOutputStream</a:t>
            </a:r>
            <a:r>
              <a:rPr lang="en-US" altLang="ko-KR" sz="1400" dirty="0" smtClean="0">
                <a:latin typeface="Lucida Sans Typewriter" pitchFamily="49" charset="0"/>
              </a:rPr>
              <a:t>();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	</a:t>
            </a:r>
            <a:r>
              <a:rPr lang="en-US" altLang="ko-KR" sz="1400" dirty="0" err="1" smtClean="0">
                <a:latin typeface="Lucida Sans Typewriter" pitchFamily="49" charset="0"/>
              </a:rPr>
              <a:t>DataOutputStream</a:t>
            </a:r>
            <a:r>
              <a:rPr lang="en-US" altLang="ko-KR" sz="1400" dirty="0" smtClean="0">
                <a:latin typeface="Lucida Sans Typewriter" pitchFamily="49" charset="0"/>
              </a:rPr>
              <a:t> </a:t>
            </a:r>
            <a:r>
              <a:rPr lang="en-US" altLang="ko-KR" sz="1400" dirty="0" err="1" smtClean="0">
                <a:latin typeface="Lucida Sans Typewriter" pitchFamily="49" charset="0"/>
              </a:rPr>
              <a:t>dataOut</a:t>
            </a:r>
            <a:r>
              <a:rPr lang="en-US" altLang="ko-KR" sz="1400" dirty="0" smtClean="0">
                <a:latin typeface="Lucida Sans Typewriter" pitchFamily="49" charset="0"/>
              </a:rPr>
              <a:t> = new </a:t>
            </a:r>
            <a:r>
              <a:rPr lang="en-US" altLang="ko-KR" sz="1400" dirty="0" err="1" smtClean="0">
                <a:latin typeface="Lucida Sans Typewriter" pitchFamily="49" charset="0"/>
              </a:rPr>
              <a:t>DataOutputStream</a:t>
            </a:r>
            <a:r>
              <a:rPr lang="en-US" altLang="ko-KR" sz="1400" dirty="0" smtClean="0">
                <a:latin typeface="Lucida Sans Typewriter" pitchFamily="49" charset="0"/>
              </a:rPr>
              <a:t>(out);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	</a:t>
            </a:r>
            <a:r>
              <a:rPr lang="en-US" altLang="ko-KR" sz="1400" dirty="0" err="1" smtClean="0">
                <a:latin typeface="Lucida Sans Typewriter" pitchFamily="49" charset="0"/>
              </a:rPr>
              <a:t>writable.</a:t>
            </a:r>
            <a:r>
              <a:rPr lang="en-US" altLang="ko-KR" sz="1400" b="1" dirty="0" err="1" smtClean="0">
                <a:latin typeface="Lucida Sans Typewriter" pitchFamily="49" charset="0"/>
              </a:rPr>
              <a:t>write</a:t>
            </a:r>
            <a:r>
              <a:rPr lang="en-US" altLang="ko-KR" sz="1400" dirty="0" smtClean="0">
                <a:latin typeface="Lucida Sans Typewriter" pitchFamily="49" charset="0"/>
              </a:rPr>
              <a:t>(</a:t>
            </a:r>
            <a:r>
              <a:rPr lang="en-US" altLang="ko-KR" sz="1400" dirty="0" err="1" smtClean="0">
                <a:latin typeface="Lucida Sans Typewriter" pitchFamily="49" charset="0"/>
              </a:rPr>
              <a:t>dataOut</a:t>
            </a:r>
            <a:r>
              <a:rPr lang="en-US" altLang="ko-KR" sz="1400" dirty="0" smtClean="0">
                <a:latin typeface="Lucida Sans Typewriter" pitchFamily="49" charset="0"/>
              </a:rPr>
              <a:t>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	</a:t>
            </a:r>
            <a:r>
              <a:rPr lang="en-US" altLang="ko-KR" sz="1400" dirty="0" err="1" smtClean="0">
                <a:latin typeface="Lucida Sans Typewriter" pitchFamily="49" charset="0"/>
              </a:rPr>
              <a:t>dataOut.close</a:t>
            </a:r>
            <a:r>
              <a:rPr lang="en-US" altLang="ko-KR" sz="1400" dirty="0" smtClean="0">
                <a:latin typeface="Lucida Sans Typewriter" pitchFamily="49" charset="0"/>
              </a:rPr>
              <a:t>();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	return </a:t>
            </a:r>
            <a:r>
              <a:rPr lang="en-US" altLang="ko-KR" sz="1400" dirty="0" err="1" smtClean="0">
                <a:latin typeface="Lucida Sans Typewriter" pitchFamily="49" charset="0"/>
              </a:rPr>
              <a:t>out.toByteArray</a:t>
            </a:r>
            <a:r>
              <a:rPr lang="en-US" altLang="ko-KR" sz="1400" dirty="0" smtClean="0">
                <a:latin typeface="Lucida Sans Typewriter" pitchFamily="49" charset="0"/>
              </a:rPr>
              <a:t>();</a:t>
            </a:r>
          </a:p>
          <a:p>
            <a:pPr>
              <a:tabLst>
                <a:tab pos="355600" algn="l"/>
                <a:tab pos="723900" algn="l"/>
              </a:tabLst>
            </a:pPr>
            <a:r>
              <a:rPr lang="en-US" altLang="ko-KR" sz="1400" dirty="0" smtClean="0">
                <a:latin typeface="Lucida Sans Typewriter" pitchFamily="49" charset="0"/>
              </a:rPr>
              <a:t>}</a:t>
            </a:r>
            <a:endParaRPr lang="ko-KR" altLang="en-US" sz="1400" dirty="0">
              <a:latin typeface="Lucida Sans Typewriter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67" y="1905000"/>
            <a:ext cx="6443133" cy="1981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04461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6482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WritableComparable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and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Comparator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33" y="1600200"/>
            <a:ext cx="8542867" cy="47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8319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6482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WritableComparable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and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Comparator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33600"/>
            <a:ext cx="85561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3035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24200" y="1066800"/>
            <a:ext cx="4648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Writable Wrappers for Java Primitives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752601"/>
            <a:ext cx="7848600" cy="1371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There are Writable wrappers for all the Java primitive types except </a:t>
            </a:r>
            <a:r>
              <a:rPr lang="en-US" altLang="ko-KR" sz="2400" kern="1200" dirty="0" smtClean="0">
                <a:ea typeface="+mn-ea"/>
                <a:cs typeface="+mn-cs"/>
              </a:rPr>
              <a:t>char (</a:t>
            </a:r>
            <a:r>
              <a:rPr lang="en-US" altLang="ko-KR" sz="2400" kern="1200" dirty="0" smtClean="0">
                <a:ea typeface="+mn-ea"/>
                <a:cs typeface="+mn-cs"/>
              </a:rPr>
              <a:t>which </a:t>
            </a:r>
            <a:r>
              <a:rPr lang="en-US" altLang="ko-KR" sz="2400" kern="1200" dirty="0">
                <a:ea typeface="+mn-ea"/>
                <a:cs typeface="+mn-cs"/>
              </a:rPr>
              <a:t>can be stored in an </a:t>
            </a:r>
            <a:r>
              <a:rPr lang="en-US" altLang="ko-KR" sz="2400" kern="1200" dirty="0" err="1">
                <a:ea typeface="+mn-ea"/>
                <a:cs typeface="+mn-cs"/>
              </a:rPr>
              <a:t>IntWritable</a:t>
            </a:r>
            <a:r>
              <a:rPr lang="en-US" altLang="ko-KR" sz="2400" kern="1200" dirty="0" smtClean="0">
                <a:ea typeface="+mn-ea"/>
                <a:cs typeface="+mn-cs"/>
              </a:rPr>
              <a:t>).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get() for retrieving and set() for </a:t>
            </a:r>
            <a:r>
              <a:rPr lang="en-US" altLang="ko-KR" sz="2400" kern="1200" dirty="0" smtClean="0">
                <a:ea typeface="+mn-ea"/>
                <a:cs typeface="+mn-cs"/>
              </a:rPr>
              <a:t>storing </a:t>
            </a:r>
            <a:r>
              <a:rPr lang="en-US" altLang="ko-KR" sz="2400" kern="1200" dirty="0">
                <a:ea typeface="+mn-ea"/>
                <a:cs typeface="+mn-cs"/>
              </a:rPr>
              <a:t>the wrapped </a:t>
            </a:r>
            <a:r>
              <a:rPr lang="en-US" altLang="ko-KR" sz="2400" kern="1200" dirty="0" smtClean="0">
                <a:ea typeface="+mn-ea"/>
                <a:cs typeface="+mn-cs"/>
              </a:rPr>
              <a:t>value.</a:t>
            </a:r>
            <a:endParaRPr lang="en-US" altLang="ko-KR" sz="2400" kern="1200" dirty="0">
              <a:ea typeface="+mn-ea"/>
              <a:cs typeface="+mn-cs"/>
            </a:endParaRPr>
          </a:p>
        </p:txBody>
      </p:sp>
      <p:graphicFrame>
        <p:nvGraphicFramePr>
          <p:cNvPr id="14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7775967"/>
              </p:ext>
            </p:extLst>
          </p:nvPr>
        </p:nvGraphicFramePr>
        <p:xfrm>
          <a:off x="1676400" y="3276600"/>
          <a:ext cx="5791200" cy="2971799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510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Java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Primitive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Writable Implementation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Serialized Size</a:t>
                      </a:r>
                      <a:r>
                        <a:rPr lang="en-US" altLang="ko-KR" sz="1400" baseline="0" dirty="0" smtClean="0"/>
                        <a:t> (bytes)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boolean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BooleanWritable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byte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ByteWritable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int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IntWritable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VIntWritable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1~5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float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FloatWritable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long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LongWritable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VLongWritable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1~9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double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DoubleWritable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58464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Text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0100" y="1676400"/>
            <a:ext cx="7543800" cy="16764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Text is a Writable </a:t>
            </a:r>
            <a:r>
              <a:rPr lang="en-US" altLang="ko-KR" sz="2300" kern="1200" dirty="0">
                <a:ea typeface="+mn-ea"/>
                <a:cs typeface="+mn-cs"/>
              </a:rPr>
              <a:t>for UTF-8 </a:t>
            </a:r>
            <a:r>
              <a:rPr lang="en-US" altLang="ko-KR" sz="2300" kern="1200" dirty="0" smtClean="0">
                <a:ea typeface="+mn-ea"/>
                <a:cs typeface="+mn-cs"/>
              </a:rPr>
              <a:t>sequences; can be seen as the </a:t>
            </a:r>
            <a:r>
              <a:rPr lang="en-US" altLang="ko-KR" sz="2300" kern="1200" dirty="0">
                <a:ea typeface="+mn-ea"/>
                <a:cs typeface="+mn-cs"/>
              </a:rPr>
              <a:t>Writable equivalent of </a:t>
            </a:r>
            <a:r>
              <a:rPr lang="en-US" altLang="ko-KR" sz="2300" kern="1200" dirty="0" err="1" smtClean="0">
                <a:ea typeface="+mn-ea"/>
                <a:cs typeface="+mn-cs"/>
              </a:rPr>
              <a:t>java.lang.String</a:t>
            </a:r>
            <a:r>
              <a:rPr lang="en-US" altLang="ko-KR" sz="2300" kern="1200" dirty="0" smtClean="0">
                <a:ea typeface="+mn-ea"/>
                <a:cs typeface="+mn-cs"/>
              </a:rPr>
              <a:t>.</a:t>
            </a:r>
            <a:endParaRPr lang="en-US" altLang="ko-KR" sz="23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Text is a replacement </a:t>
            </a:r>
            <a:r>
              <a:rPr lang="en-US" altLang="ko-KR" sz="2300" kern="1200" dirty="0">
                <a:ea typeface="+mn-ea"/>
                <a:cs typeface="+mn-cs"/>
              </a:rPr>
              <a:t>for the org.apache.hadoop.io.UTF8 class (deprecated</a:t>
            </a:r>
            <a:r>
              <a:rPr lang="en-US" altLang="ko-KR" sz="2300" kern="1200" dirty="0" smtClean="0">
                <a:ea typeface="+mn-ea"/>
                <a:cs typeface="+mn-cs"/>
              </a:rPr>
              <a:t>).</a:t>
            </a:r>
            <a:endParaRPr lang="en-US" altLang="ko-KR" sz="2300" kern="1200" dirty="0"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429000"/>
            <a:ext cx="8077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5446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Text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0"/>
            <a:ext cx="8458200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8777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Iteration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34065"/>
            <a:ext cx="8229600" cy="47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3553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Mutability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438400"/>
            <a:ext cx="861060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292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BytesWritable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0"/>
            <a:ext cx="8686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7755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3622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BytesWritable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505073"/>
            <a:ext cx="8716684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3948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2209800"/>
            <a:ext cx="6858000" cy="3047999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Hadoop’s </a:t>
            </a:r>
            <a:r>
              <a:rPr lang="en-US" altLang="ko-KR" sz="2400" kern="1200" dirty="0" err="1" smtClean="0">
                <a:ea typeface="+mn-ea"/>
                <a:cs typeface="+mn-cs"/>
              </a:rPr>
              <a:t>SequenceFile</a:t>
            </a:r>
            <a:r>
              <a:rPr lang="en-US" altLang="ko-KR" sz="2400" kern="1200" dirty="0" smtClean="0">
                <a:ea typeface="+mn-ea"/>
                <a:cs typeface="+mn-cs"/>
              </a:rPr>
              <a:t> class provides a persistent </a:t>
            </a:r>
            <a:r>
              <a:rPr lang="en-US" altLang="ko-KR" sz="2400" kern="1200" dirty="0">
                <a:ea typeface="+mn-ea"/>
                <a:cs typeface="+mn-cs"/>
              </a:rPr>
              <a:t>data structure for binary key-value </a:t>
            </a:r>
            <a:r>
              <a:rPr lang="en-US" altLang="ko-KR" sz="2400" kern="1200" dirty="0" smtClean="0">
                <a:ea typeface="+mn-ea"/>
                <a:cs typeface="+mn-cs"/>
              </a:rPr>
              <a:t>pairs.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It is used as a </a:t>
            </a:r>
            <a:r>
              <a:rPr lang="en-US" altLang="ko-KR" sz="2400" kern="1200" dirty="0" err="1" smtClean="0">
                <a:ea typeface="+mn-ea"/>
                <a:cs typeface="+mn-cs"/>
              </a:rPr>
              <a:t>logfile</a:t>
            </a:r>
            <a:r>
              <a:rPr lang="en-US" altLang="ko-KR" sz="2400" kern="1200" dirty="0" smtClean="0">
                <a:ea typeface="+mn-ea"/>
                <a:cs typeface="+mn-cs"/>
              </a:rPr>
              <a:t> format.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As containers for smaller </a:t>
            </a:r>
            <a:r>
              <a:rPr lang="en-US" altLang="ko-KR" sz="2400" kern="1200" dirty="0" smtClean="0">
                <a:ea typeface="+mn-ea"/>
                <a:cs typeface="+mn-cs"/>
              </a:rPr>
              <a:t>files.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Usage </a:t>
            </a:r>
            <a:r>
              <a:rPr lang="en-US" altLang="ko-KR" sz="2400" kern="1200" dirty="0">
                <a:ea typeface="+mn-ea"/>
                <a:cs typeface="+mn-cs"/>
              </a:rPr>
              <a:t>example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Key: timestamp represented by a </a:t>
            </a:r>
            <a:r>
              <a:rPr lang="en-US" altLang="ko-KR" sz="2100" dirty="0" err="1"/>
              <a:t>LongWritable</a:t>
            </a:r>
            <a:r>
              <a:rPr lang="en-US" altLang="ko-KR" sz="2100" dirty="0"/>
              <a:t>.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Value: Writable represents the quantity being logged.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altLang="ko-KR" sz="2300" kern="1200" dirty="0">
              <a:ea typeface="+mn-ea"/>
              <a:cs typeface="+mn-cs"/>
            </a:endParaRP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8165282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14768" y="1066800"/>
            <a:ext cx="3219432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Writing 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p.131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524001"/>
            <a:ext cx="7315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0290058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657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Writing 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Results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24000"/>
            <a:ext cx="5486400" cy="50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348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657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Reading 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p.133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524000"/>
            <a:ext cx="7162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7176030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86193" y="1066800"/>
            <a:ext cx="2719407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Sync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Point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057400"/>
            <a:ext cx="7391400" cy="35052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A sync point is a point in the stream that can be used to resynchronize with a record boundary if the reader is “lost”—for example, after seeking to an arbitrary position in the </a:t>
            </a:r>
            <a:r>
              <a:rPr lang="en-US" altLang="ko-KR" sz="2400" kern="1200" dirty="0" smtClean="0">
                <a:ea typeface="+mn-ea"/>
                <a:cs typeface="+mn-cs"/>
              </a:rPr>
              <a:t>stream.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Sync points are recorded by </a:t>
            </a:r>
            <a:r>
              <a:rPr lang="en-US" altLang="ko-KR" sz="2400" kern="1200" dirty="0" err="1" smtClean="0">
                <a:ea typeface="+mn-ea"/>
                <a:cs typeface="+mn-cs"/>
              </a:rPr>
              <a:t>SequenceFile.Writer</a:t>
            </a:r>
            <a:r>
              <a:rPr lang="en-US" altLang="ko-KR" sz="2400" kern="1200" dirty="0" smtClean="0">
                <a:ea typeface="+mn-ea"/>
                <a:cs typeface="+mn-cs"/>
              </a:rPr>
              <a:t>, which inserts a special entry to mark the sync point every few records as a sequence file is being written.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Sync points always align with record boundaries.</a:t>
            </a:r>
            <a:endParaRPr lang="en-US" altLang="ko-KR" sz="2400" kern="1200" dirty="0">
              <a:ea typeface="+mn-ea"/>
              <a:cs typeface="+mn-cs"/>
            </a:endParaRP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49618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86193" y="1066800"/>
            <a:ext cx="2719407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Seek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8686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3104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86193" y="1066800"/>
            <a:ext cx="2719407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Sync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3600"/>
            <a:ext cx="8429317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2996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Format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620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>
                <a:ea typeface="+mn-ea"/>
                <a:cs typeface="+mn-cs"/>
              </a:rPr>
              <a:t>Header contains the version number, the names of the key and value classes, compression details, user-defined metadata, and the sync </a:t>
            </a:r>
            <a:r>
              <a:rPr lang="en-US" altLang="ko-KR" sz="2000" kern="1200" dirty="0" smtClean="0">
                <a:ea typeface="+mn-ea"/>
                <a:cs typeface="+mn-cs"/>
              </a:rPr>
              <a:t>marker.</a:t>
            </a:r>
            <a:endParaRPr lang="en-US" altLang="ko-KR" sz="2000" kern="1200" dirty="0"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438400"/>
            <a:ext cx="7315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7882995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SequenceFile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Format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00200" y="1905000"/>
            <a:ext cx="6096000" cy="990600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Block compression compresses multiple records at once; it is therefore more compact.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0"/>
            <a:ext cx="7924800" cy="291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2554259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4800" y="1066800"/>
            <a:ext cx="27432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MapFile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p.137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1600200"/>
            <a:ext cx="7620000" cy="761999"/>
          </a:xfrm>
        </p:spPr>
        <p:txBody>
          <a:bodyPr/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kern="1200" dirty="0">
                <a:ea typeface="+mn-ea"/>
                <a:cs typeface="+mn-cs"/>
              </a:rPr>
              <a:t>A </a:t>
            </a:r>
            <a:r>
              <a:rPr lang="en-US" altLang="ko-KR" sz="1800" kern="1200" dirty="0" err="1">
                <a:ea typeface="+mn-ea"/>
                <a:cs typeface="+mn-cs"/>
              </a:rPr>
              <a:t>MapFile</a:t>
            </a:r>
            <a:r>
              <a:rPr lang="en-US" altLang="ko-KR" sz="1800" kern="1200" dirty="0">
                <a:ea typeface="+mn-ea"/>
                <a:cs typeface="+mn-cs"/>
              </a:rPr>
              <a:t> is a sorted </a:t>
            </a:r>
            <a:r>
              <a:rPr lang="en-US" altLang="ko-KR" sz="1800" kern="1200" dirty="0" err="1">
                <a:ea typeface="+mn-ea"/>
                <a:cs typeface="+mn-cs"/>
              </a:rPr>
              <a:t>SequenceFile</a:t>
            </a:r>
            <a:r>
              <a:rPr lang="en-US" altLang="ko-KR" sz="1800" kern="1200" dirty="0">
                <a:ea typeface="+mn-ea"/>
                <a:cs typeface="+mn-cs"/>
              </a:rPr>
              <a:t> with an index to permit lookups by </a:t>
            </a:r>
            <a:r>
              <a:rPr lang="en-US" altLang="ko-KR" sz="1800" kern="1200" dirty="0" smtClean="0">
                <a:ea typeface="+mn-ea"/>
                <a:cs typeface="+mn-cs"/>
              </a:rPr>
              <a:t>key. 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kern="1200" dirty="0" smtClean="0">
                <a:ea typeface="+mn-ea"/>
                <a:cs typeface="+mn-cs"/>
              </a:rPr>
              <a:t>Keys </a:t>
            </a:r>
            <a:r>
              <a:rPr lang="en-US" altLang="ko-KR" sz="1800" kern="1200" dirty="0">
                <a:ea typeface="+mn-ea"/>
                <a:cs typeface="+mn-cs"/>
              </a:rPr>
              <a:t>must be instances of </a:t>
            </a:r>
            <a:r>
              <a:rPr lang="en-US" altLang="ko-KR" sz="1800" kern="1200" dirty="0" err="1">
                <a:ea typeface="+mn-ea"/>
                <a:cs typeface="+mn-cs"/>
              </a:rPr>
              <a:t>WritableComparable</a:t>
            </a:r>
            <a:r>
              <a:rPr lang="en-US" altLang="ko-KR" sz="1800" kern="1200" dirty="0">
                <a:ea typeface="+mn-ea"/>
                <a:cs typeface="+mn-cs"/>
              </a:rPr>
              <a:t> and values must be </a:t>
            </a:r>
            <a:r>
              <a:rPr lang="en-US" altLang="ko-KR" sz="1800" kern="1200" dirty="0" smtClean="0">
                <a:ea typeface="+mn-ea"/>
                <a:cs typeface="+mn-cs"/>
              </a:rPr>
              <a:t>Writable.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906" y="2438400"/>
            <a:ext cx="470569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446867"/>
            <a:ext cx="3886200" cy="29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78400" y="2819400"/>
            <a:ext cx="402686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9200" y="3886200"/>
            <a:ext cx="3581400" cy="212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0090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1109</Words>
  <Application>Microsoft Office PowerPoint</Application>
  <PresentationFormat>On-screen Show (4:3)</PresentationFormat>
  <Paragraphs>156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42" baseType="lpstr">
      <vt:lpstr>Arial</vt:lpstr>
      <vt:lpstr>Lucida Sans Typewriter</vt:lpstr>
      <vt:lpstr>Times New Roman</vt:lpstr>
      <vt:lpstr>Wingdings</vt:lpstr>
      <vt:lpstr>Default Design</vt:lpstr>
      <vt:lpstr>Hadoop I/O</vt:lpstr>
      <vt:lpstr>PowerPoint Presentation</vt:lpstr>
      <vt:lpstr>Data Integrity –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Compression</vt:lpstr>
      <vt:lpstr>PowerPoint Presentation</vt:lpstr>
      <vt:lpstr>“Splittable” Column</vt:lpstr>
      <vt:lpstr>Input Splits</vt:lpstr>
      <vt:lpstr>CompressionCodec</vt:lpstr>
      <vt:lpstr>Example</vt:lpstr>
      <vt:lpstr>Serialization</vt:lpstr>
      <vt:lpstr>PowerPoint Presentation</vt:lpstr>
      <vt:lpstr>Writable Interface</vt:lpstr>
      <vt:lpstr>WritableComparable and Comparator – 1</vt:lpstr>
      <vt:lpstr>WritableComparable and Comparator – 2</vt:lpstr>
      <vt:lpstr>Writable Wrappers for Java Primitives</vt:lpstr>
      <vt:lpstr>Text – 1</vt:lpstr>
      <vt:lpstr>Text – 2</vt:lpstr>
      <vt:lpstr>Iteration</vt:lpstr>
      <vt:lpstr>Mutability</vt:lpstr>
      <vt:lpstr>BytesWritable – 1</vt:lpstr>
      <vt:lpstr>BytesWritable – 2</vt:lpstr>
      <vt:lpstr>SequenceFile</vt:lpstr>
      <vt:lpstr>Writing a SequenceFile – p.131</vt:lpstr>
      <vt:lpstr>Writing a SequenceFile – Results</vt:lpstr>
      <vt:lpstr>Reading a SequenceFile – p.133</vt:lpstr>
      <vt:lpstr>Sync Point</vt:lpstr>
      <vt:lpstr>Seek</vt:lpstr>
      <vt:lpstr>Sync</vt:lpstr>
      <vt:lpstr>SequenceFile Format – 1</vt:lpstr>
      <vt:lpstr>SequenceFile Format – 2</vt:lpstr>
      <vt:lpstr>MapFile – p.137</vt:lpstr>
      <vt:lpstr>Custom Show 1</vt:lpstr>
    </vt:vector>
  </TitlesOfParts>
  <Company>Azimuth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 Wu</cp:lastModifiedBy>
  <cp:revision>463</cp:revision>
  <dcterms:created xsi:type="dcterms:W3CDTF">2005-03-05T09:57:46Z</dcterms:created>
  <dcterms:modified xsi:type="dcterms:W3CDTF">2021-02-09T00:51:33Z</dcterms:modified>
</cp:coreProperties>
</file>