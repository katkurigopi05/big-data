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532" r:id="rId2"/>
    <p:sldId id="533" r:id="rId3"/>
    <p:sldId id="536" r:id="rId4"/>
    <p:sldId id="537" r:id="rId5"/>
    <p:sldId id="562" r:id="rId6"/>
    <p:sldId id="563" r:id="rId7"/>
    <p:sldId id="564" r:id="rId8"/>
    <p:sldId id="565" r:id="rId9"/>
    <p:sldId id="566" r:id="rId10"/>
    <p:sldId id="567" r:id="rId11"/>
    <p:sldId id="568" r:id="rId12"/>
    <p:sldId id="569" r:id="rId13"/>
    <p:sldId id="570" r:id="rId14"/>
    <p:sldId id="547" r:id="rId15"/>
    <p:sldId id="548" r:id="rId16"/>
    <p:sldId id="549" r:id="rId17"/>
    <p:sldId id="550" r:id="rId18"/>
    <p:sldId id="551" r:id="rId19"/>
    <p:sldId id="571" r:id="rId20"/>
    <p:sldId id="553" r:id="rId21"/>
    <p:sldId id="555" r:id="rId22"/>
    <p:sldId id="556" r:id="rId23"/>
    <p:sldId id="557" r:id="rId24"/>
    <p:sldId id="572" r:id="rId25"/>
    <p:sldId id="559" r:id="rId26"/>
    <p:sldId id="560" r:id="rId27"/>
    <p:sldId id="561" r:id="rId28"/>
  </p:sldIdLst>
  <p:sldSz cx="9144000" cy="6858000" type="screen4x3"/>
  <p:notesSz cx="6858000" cy="9144000"/>
  <p:custShowLst>
    <p:custShow name="Custom Show 1" id="0">
      <p:sldLst/>
    </p:custShow>
  </p:custShow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F0F10"/>
    <a:srgbClr val="FFB060"/>
    <a:srgbClr val="FF0000"/>
    <a:srgbClr val="A50021"/>
    <a:srgbClr val="FF6600"/>
    <a:srgbClr val="F9E9B5"/>
    <a:srgbClr val="E8CE97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21" autoAdjust="0"/>
    <p:restoredTop sz="99734" autoAdjust="0"/>
  </p:normalViewPr>
  <p:slideViewPr>
    <p:cSldViewPr>
      <p:cViewPr>
        <p:scale>
          <a:sx n="75" d="100"/>
          <a:sy n="75" d="100"/>
        </p:scale>
        <p:origin x="-620" y="24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76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1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charset="0"/>
              </a:defRPr>
            </a:lvl1pPr>
          </a:lstStyle>
          <a:p>
            <a:pPr>
              <a:defRPr/>
            </a:pPr>
            <a:fld id="{D0812615-5710-4348-85EC-BB3F7D419AB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45275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35" descr="main"/>
          <p:cNvPicPr>
            <a:picLocks noChangeAspect="1" noChangeArrowheads="1"/>
          </p:cNvPicPr>
          <p:nvPr userDrawn="1"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0" y="0"/>
            <a:ext cx="9144000" cy="15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66" name="Rectangle 42"/>
          <p:cNvSpPr>
            <a:spLocks noChangeArrowheads="1"/>
          </p:cNvSpPr>
          <p:nvPr userDrawn="1"/>
        </p:nvSpPr>
        <p:spPr bwMode="auto">
          <a:xfrm>
            <a:off x="0" y="6477000"/>
            <a:ext cx="9144000" cy="381000"/>
          </a:xfrm>
          <a:prstGeom prst="rect">
            <a:avLst/>
          </a:prstGeom>
          <a:solidFill>
            <a:srgbClr val="9F0F1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060" name="Text Box 36"/>
          <p:cNvSpPr txBox="1">
            <a:spLocks noChangeArrowheads="1"/>
          </p:cNvSpPr>
          <p:nvPr userDrawn="1"/>
        </p:nvSpPr>
        <p:spPr bwMode="auto">
          <a:xfrm>
            <a:off x="4267200" y="6521450"/>
            <a:ext cx="6953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r>
              <a:rPr lang="en-US" sz="1600" b="1" dirty="0" smtClean="0">
                <a:solidFill>
                  <a:srgbClr val="FFFFFF"/>
                </a:solidFill>
              </a:rPr>
              <a:t>.</a:t>
            </a:r>
            <a:fld id="{EC98DED3-7B70-48B6-8413-854EF57C18FA}" type="slidenum">
              <a:rPr lang="en-US" sz="1600" b="1" smtClean="0">
                <a:solidFill>
                  <a:srgbClr val="FFFFFF"/>
                </a:solidFill>
              </a:rPr>
              <a:pPr eaLnBrk="0" hangingPunct="0">
                <a:spcBef>
                  <a:spcPct val="50000"/>
                </a:spcBef>
                <a:defRPr/>
              </a:pPr>
              <a:t>‹#›</a:t>
            </a:fld>
            <a:endParaRPr lang="en-US" sz="1600" b="1" dirty="0">
              <a:solidFill>
                <a:srgbClr val="FFFFFF"/>
              </a:solidFill>
            </a:endParaRPr>
          </a:p>
        </p:txBody>
      </p:sp>
      <p:sp>
        <p:nvSpPr>
          <p:cNvPr id="1063" name="Text Box 39"/>
          <p:cNvSpPr txBox="1">
            <a:spLocks noChangeArrowheads="1"/>
          </p:cNvSpPr>
          <p:nvPr userDrawn="1"/>
        </p:nvSpPr>
        <p:spPr bwMode="auto">
          <a:xfrm>
            <a:off x="1752600" y="990600"/>
            <a:ext cx="6019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endParaRPr lang="en-US"/>
          </a:p>
        </p:txBody>
      </p:sp>
      <p:sp>
        <p:nvSpPr>
          <p:cNvPr id="6" name="Rectangle 6"/>
          <p:cNvSpPr>
            <a:spLocks noChangeArrowheads="1"/>
          </p:cNvSpPr>
          <p:nvPr userDrawn="1"/>
        </p:nvSpPr>
        <p:spPr bwMode="auto">
          <a:xfrm>
            <a:off x="1752600" y="200025"/>
            <a:ext cx="7315200" cy="6381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 anchor="ctr"/>
          <a:lstStyle/>
          <a:p>
            <a:pPr algn="ctr" eaLnBrk="0" hangingPunct="0">
              <a:defRPr/>
            </a:pPr>
            <a:r>
              <a:rPr lang="en-US" sz="2000" b="1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Hadoop – The Definitive Guide</a:t>
            </a:r>
            <a:endParaRPr lang="en-US" sz="2000" b="1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algn="ctr" eaLnBrk="0" hangingPunct="0">
              <a:spcBef>
                <a:spcPts val="600"/>
              </a:spcBef>
              <a:defRPr/>
            </a:pPr>
            <a:r>
              <a:rPr lang="en-US" sz="16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Chapter </a:t>
            </a:r>
            <a:r>
              <a:rPr lang="en-US" sz="1600" b="1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6:</a:t>
            </a:r>
            <a:r>
              <a:rPr lang="en-US" sz="1600" b="1" baseline="0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How MapReduce Works</a:t>
            </a:r>
            <a:endParaRPr lang="en-US" sz="1600" b="1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971800"/>
            <a:ext cx="7772400" cy="1219200"/>
          </a:xfrm>
        </p:spPr>
        <p:txBody>
          <a:bodyPr>
            <a:normAutofit/>
          </a:bodyPr>
          <a:lstStyle/>
          <a:p>
            <a:r>
              <a:rPr lang="en-US" altLang="ko-KR" sz="4800" b="1" dirty="0"/>
              <a:t>How MapReduce Works</a:t>
            </a:r>
            <a:endParaRPr lang="ko-KR" altLang="en-US" sz="4800" b="1" dirty="0"/>
          </a:p>
        </p:txBody>
      </p:sp>
      <p:sp>
        <p:nvSpPr>
          <p:cNvPr id="4" name="제목 1"/>
          <p:cNvSpPr txBox="1">
            <a:spLocks/>
          </p:cNvSpPr>
          <p:nvPr/>
        </p:nvSpPr>
        <p:spPr>
          <a:xfrm>
            <a:off x="3810000" y="1066800"/>
            <a:ext cx="3200400" cy="350838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9pPr>
          </a:lstStyle>
          <a:p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Chapter 6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201727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590800" y="2362200"/>
            <a:ext cx="4191000" cy="2895600"/>
          </a:xfrm>
        </p:spPr>
        <p:txBody>
          <a:bodyPr>
            <a:normAutofit/>
          </a:bodyPr>
          <a:lstStyle/>
          <a:p>
            <a:pPr marL="342900" lvl="1" indent="-342900" eaLnBrk="1" hangingPunct="1">
              <a:lnSpc>
                <a:spcPct val="120000"/>
              </a:lnSpc>
              <a:spcBef>
                <a:spcPts val="6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600" dirty="0"/>
              <a:t>MapReduce Job </a:t>
            </a:r>
            <a:r>
              <a:rPr lang="en-US" altLang="ko-KR" sz="2600" dirty="0" smtClean="0"/>
              <a:t>Anatomy </a:t>
            </a:r>
          </a:p>
          <a:p>
            <a:pPr marL="342900" lvl="1" indent="-342900" eaLnBrk="1" hangingPunct="1">
              <a:lnSpc>
                <a:spcPct val="120000"/>
              </a:lnSpc>
              <a:spcBef>
                <a:spcPts val="6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600" dirty="0" smtClean="0"/>
              <a:t>Failures</a:t>
            </a:r>
            <a:endParaRPr lang="en-US" altLang="ko-KR" sz="2600" dirty="0"/>
          </a:p>
          <a:p>
            <a:pPr marL="342900" lvl="1" indent="-342900" eaLnBrk="1" hangingPunct="1">
              <a:lnSpc>
                <a:spcPct val="120000"/>
              </a:lnSpc>
              <a:spcBef>
                <a:spcPts val="6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600" dirty="0"/>
              <a:t>Job Scheduling</a:t>
            </a:r>
          </a:p>
          <a:p>
            <a:pPr marL="342900" lvl="1" indent="-342900" eaLnBrk="1" hangingPunct="1">
              <a:lnSpc>
                <a:spcPct val="120000"/>
              </a:lnSpc>
              <a:spcBef>
                <a:spcPts val="6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600" dirty="0"/>
              <a:t>Shuffle and Sort</a:t>
            </a:r>
          </a:p>
          <a:p>
            <a:pPr marL="342900" lvl="1" indent="-342900" eaLnBrk="1" hangingPunct="1">
              <a:lnSpc>
                <a:spcPct val="120000"/>
              </a:lnSpc>
              <a:spcBef>
                <a:spcPts val="6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600" dirty="0"/>
              <a:t>Task Execution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886200" y="1066800"/>
            <a:ext cx="304845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sz="1600" b="1" dirty="0" smtClean="0">
                <a:cs typeface="Times New Roman" pitchFamily="18" charset="0"/>
              </a:rPr>
              <a:t>Learning Objectives</a:t>
            </a:r>
            <a:endParaRPr lang="en-US" sz="1600" b="1" dirty="0"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159688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971800" y="1066800"/>
            <a:ext cx="4876800" cy="350838"/>
          </a:xfrm>
        </p:spPr>
        <p:txBody>
          <a:bodyPr>
            <a:noAutofit/>
          </a:bodyPr>
          <a:lstStyle/>
          <a:p>
            <a:r>
              <a:rPr lang="en-US" altLang="ko-KR" sz="1600" b="1" kern="1200" dirty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Entities in Classic MapReduce (MapReduce 1)</a:t>
            </a:r>
          </a:p>
        </p:txBody>
      </p:sp>
      <p:sp>
        <p:nvSpPr>
          <p:cNvPr id="7" name="내용 개체 틀 2"/>
          <p:cNvSpPr>
            <a:spLocks noGrp="1"/>
          </p:cNvSpPr>
          <p:nvPr>
            <p:ph idx="1"/>
          </p:nvPr>
        </p:nvSpPr>
        <p:spPr>
          <a:xfrm>
            <a:off x="1524000" y="2209800"/>
            <a:ext cx="6172200" cy="3048000"/>
          </a:xfrm>
        </p:spPr>
        <p:txBody>
          <a:bodyPr>
            <a:normAutofit/>
          </a:bodyPr>
          <a:lstStyle/>
          <a:p>
            <a:pPr marL="342900" lvl="1" indent="-342900">
              <a:spcBef>
                <a:spcPts val="6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400" b="1" kern="1200" dirty="0">
                <a:ea typeface="+mn-ea"/>
                <a:cs typeface="+mn-cs"/>
              </a:rPr>
              <a:t>Client</a:t>
            </a:r>
            <a:r>
              <a:rPr lang="en-US" altLang="ko-KR" sz="2400" kern="1200" dirty="0">
                <a:ea typeface="+mn-ea"/>
                <a:cs typeface="+mn-cs"/>
              </a:rPr>
              <a:t> – submits the MapReduce job.</a:t>
            </a:r>
          </a:p>
          <a:p>
            <a:pPr marL="342900" lvl="1" indent="-342900">
              <a:spcBef>
                <a:spcPts val="6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400" b="1" kern="1200" dirty="0" err="1">
                <a:ea typeface="+mn-ea"/>
                <a:cs typeface="+mn-cs"/>
              </a:rPr>
              <a:t>Jobtracker</a:t>
            </a:r>
            <a:r>
              <a:rPr lang="en-US" altLang="ko-KR" sz="2400" kern="1200" dirty="0">
                <a:ea typeface="+mn-ea"/>
                <a:cs typeface="+mn-cs"/>
              </a:rPr>
              <a:t> – coordinates the job run; a Java application whose main class is </a:t>
            </a:r>
            <a:r>
              <a:rPr lang="en-US" altLang="ko-KR" sz="2400" kern="1200" dirty="0" err="1">
                <a:ea typeface="+mn-ea"/>
                <a:cs typeface="+mn-cs"/>
              </a:rPr>
              <a:t>JobTracker</a:t>
            </a:r>
            <a:r>
              <a:rPr lang="en-US" altLang="ko-KR" sz="2400" kern="1200" dirty="0">
                <a:ea typeface="+mn-ea"/>
                <a:cs typeface="+mn-cs"/>
              </a:rPr>
              <a:t>.</a:t>
            </a:r>
          </a:p>
          <a:p>
            <a:pPr marL="342900" lvl="1" indent="-342900">
              <a:spcBef>
                <a:spcPts val="6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400" b="1" kern="1200" dirty="0" err="1">
                <a:ea typeface="+mn-ea"/>
                <a:cs typeface="+mn-cs"/>
              </a:rPr>
              <a:t>Tasktrackers</a:t>
            </a:r>
            <a:r>
              <a:rPr lang="en-US" altLang="ko-KR" sz="2400" kern="1200" dirty="0">
                <a:ea typeface="+mn-ea"/>
                <a:cs typeface="+mn-cs"/>
              </a:rPr>
              <a:t> – run the tasks that the job has been split into.</a:t>
            </a:r>
          </a:p>
          <a:p>
            <a:pPr marL="342900" lvl="1" indent="-342900">
              <a:spcBef>
                <a:spcPts val="6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400" b="1" kern="1200" dirty="0">
                <a:ea typeface="+mn-ea"/>
                <a:cs typeface="+mn-cs"/>
              </a:rPr>
              <a:t>Distributed file system (HDFS) </a:t>
            </a:r>
            <a:r>
              <a:rPr lang="en-US" altLang="ko-KR" sz="2400" kern="1200" dirty="0">
                <a:ea typeface="+mn-ea"/>
                <a:cs typeface="+mn-cs"/>
              </a:rPr>
              <a:t>– is used for sharing job files between the other entities</a:t>
            </a:r>
            <a:r>
              <a:rPr lang="en-US" altLang="ko-KR" sz="2400" kern="1200" dirty="0" smtClean="0">
                <a:ea typeface="+mn-ea"/>
                <a:cs typeface="+mn-cs"/>
              </a:rPr>
              <a:t>.</a:t>
            </a:r>
            <a:endParaRPr lang="en-US" altLang="ko-KR" sz="2400" kern="1200" dirty="0"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7057513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그림 24" descr="그림 1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85800" y="1524000"/>
            <a:ext cx="7772400" cy="5334000"/>
          </a:xfrm>
          <a:prstGeom prst="rect">
            <a:avLst/>
          </a:prstGeom>
        </p:spPr>
      </p:pic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2971800" y="1066800"/>
            <a:ext cx="4876800" cy="350838"/>
          </a:xfrm>
        </p:spPr>
        <p:txBody>
          <a:bodyPr>
            <a:noAutofit/>
          </a:bodyPr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Classic </a:t>
            </a:r>
            <a:r>
              <a:rPr lang="en-US" altLang="ko-KR" sz="1600" b="1" kern="1200" dirty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MapReduce </a:t>
            </a:r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Framework</a:t>
            </a:r>
            <a:endParaRPr lang="en-US" altLang="ko-KR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892021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내용 개체 틀 2"/>
          <p:cNvSpPr>
            <a:spLocks noGrp="1"/>
          </p:cNvSpPr>
          <p:nvPr>
            <p:ph idx="1"/>
          </p:nvPr>
        </p:nvSpPr>
        <p:spPr>
          <a:xfrm>
            <a:off x="838200" y="2057400"/>
            <a:ext cx="7391400" cy="3200400"/>
          </a:xfrm>
        </p:spPr>
        <p:txBody>
          <a:bodyPr>
            <a:normAutofit lnSpcReduction="10000"/>
          </a:bodyPr>
          <a:lstStyle/>
          <a:p>
            <a:pPr marL="342900" lvl="1" indent="-342900">
              <a:lnSpc>
                <a:spcPct val="90000"/>
              </a:lnSpc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600" kern="1200" dirty="0">
                <a:ea typeface="+mn-ea"/>
                <a:cs typeface="+mn-cs"/>
              </a:rPr>
              <a:t>Job submission – the submit() method on Job creates an internal </a:t>
            </a:r>
            <a:r>
              <a:rPr lang="en-US" altLang="ko-KR" sz="2600" kern="1200" dirty="0" err="1">
                <a:ea typeface="+mn-ea"/>
                <a:cs typeface="+mn-cs"/>
              </a:rPr>
              <a:t>JobSummitter</a:t>
            </a:r>
            <a:r>
              <a:rPr lang="en-US" altLang="ko-KR" sz="2600" kern="1200" dirty="0">
                <a:ea typeface="+mn-ea"/>
                <a:cs typeface="+mn-cs"/>
              </a:rPr>
              <a:t> instance and calls </a:t>
            </a:r>
            <a:r>
              <a:rPr lang="en-US" altLang="ko-KR" sz="2600" kern="1200" dirty="0" err="1">
                <a:ea typeface="+mn-ea"/>
                <a:cs typeface="+mn-cs"/>
              </a:rPr>
              <a:t>submitJobInternal</a:t>
            </a:r>
            <a:r>
              <a:rPr lang="en-US" altLang="ko-KR" sz="2600" kern="1200" dirty="0">
                <a:ea typeface="+mn-ea"/>
                <a:cs typeface="+mn-cs"/>
              </a:rPr>
              <a:t>() on it, and does the following:</a:t>
            </a:r>
          </a:p>
          <a:p>
            <a:pPr lvl="1" eaLnBrk="1" hangingPunct="1">
              <a:spcBef>
                <a:spcPts val="1200"/>
              </a:spcBef>
              <a:buSzPct val="60000"/>
              <a:buBlip>
                <a:blip r:embed="rId2"/>
              </a:buBlip>
              <a:defRPr/>
            </a:pPr>
            <a:r>
              <a:rPr lang="en-US" altLang="ko-KR" sz="2200" dirty="0"/>
              <a:t>Ask the </a:t>
            </a:r>
            <a:r>
              <a:rPr lang="en-US" altLang="ko-KR" sz="2200" dirty="0" err="1"/>
              <a:t>jobtracker</a:t>
            </a:r>
            <a:r>
              <a:rPr lang="en-US" altLang="ko-KR" sz="2200" dirty="0"/>
              <a:t> for a new job ID;</a:t>
            </a:r>
          </a:p>
          <a:p>
            <a:pPr lvl="1" eaLnBrk="1" hangingPunct="1">
              <a:spcBef>
                <a:spcPts val="600"/>
              </a:spcBef>
              <a:buSzPct val="60000"/>
              <a:buBlip>
                <a:blip r:embed="rId2"/>
              </a:buBlip>
              <a:defRPr/>
            </a:pPr>
            <a:r>
              <a:rPr lang="en-US" altLang="ko-KR" sz="2200" dirty="0"/>
              <a:t>Check the output specification of the job;</a:t>
            </a:r>
          </a:p>
          <a:p>
            <a:pPr lvl="1" eaLnBrk="1" hangingPunct="1">
              <a:spcBef>
                <a:spcPts val="600"/>
              </a:spcBef>
              <a:buSzPct val="60000"/>
              <a:buBlip>
                <a:blip r:embed="rId2"/>
              </a:buBlip>
              <a:defRPr/>
            </a:pPr>
            <a:r>
              <a:rPr lang="en-US" altLang="ko-KR" sz="2200" dirty="0"/>
              <a:t>Computer the input splits for the job;</a:t>
            </a:r>
          </a:p>
          <a:p>
            <a:pPr lvl="1" eaLnBrk="1" hangingPunct="1">
              <a:spcBef>
                <a:spcPts val="600"/>
              </a:spcBef>
              <a:buSzPct val="60000"/>
              <a:buBlip>
                <a:blip r:embed="rId2"/>
              </a:buBlip>
              <a:defRPr/>
            </a:pPr>
            <a:r>
              <a:rPr lang="en-US" altLang="ko-KR" sz="2200" dirty="0"/>
              <a:t>Copy the resources needed to run the job;</a:t>
            </a:r>
          </a:p>
          <a:p>
            <a:pPr lvl="1" eaLnBrk="1" hangingPunct="1">
              <a:spcBef>
                <a:spcPts val="600"/>
              </a:spcBef>
              <a:buSzPct val="60000"/>
              <a:buBlip>
                <a:blip r:embed="rId2"/>
              </a:buBlip>
              <a:defRPr/>
            </a:pPr>
            <a:r>
              <a:rPr lang="en-US" altLang="ko-KR" sz="2200" dirty="0"/>
              <a:t>Tell the </a:t>
            </a:r>
            <a:r>
              <a:rPr lang="en-US" altLang="ko-KR" sz="2200" dirty="0" err="1"/>
              <a:t>jobtracker</a:t>
            </a:r>
            <a:r>
              <a:rPr lang="en-US" altLang="ko-KR" sz="2200" dirty="0"/>
              <a:t> that the job is ready for execution.</a:t>
            </a:r>
          </a:p>
        </p:txBody>
      </p:sp>
      <p:sp>
        <p:nvSpPr>
          <p:cNvPr id="4" name="제목 1"/>
          <p:cNvSpPr>
            <a:spLocks noGrp="1"/>
          </p:cNvSpPr>
          <p:nvPr>
            <p:ph type="title"/>
          </p:nvPr>
        </p:nvSpPr>
        <p:spPr>
          <a:xfrm>
            <a:off x="2971800" y="1066800"/>
            <a:ext cx="4876800" cy="350838"/>
          </a:xfrm>
        </p:spPr>
        <p:txBody>
          <a:bodyPr>
            <a:noAutofit/>
          </a:bodyPr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Job Submission</a:t>
            </a:r>
            <a:endParaRPr lang="en-US" altLang="ko-KR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871723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내용 개체 틀 2"/>
          <p:cNvSpPr>
            <a:spLocks noGrp="1"/>
          </p:cNvSpPr>
          <p:nvPr>
            <p:ph idx="1"/>
          </p:nvPr>
        </p:nvSpPr>
        <p:spPr>
          <a:xfrm>
            <a:off x="1066800" y="2286000"/>
            <a:ext cx="6858000" cy="2514600"/>
          </a:xfrm>
        </p:spPr>
        <p:txBody>
          <a:bodyPr>
            <a:normAutofit/>
          </a:bodyPr>
          <a:lstStyle/>
          <a:p>
            <a:pPr marL="342900" lvl="1" indent="-342900">
              <a:lnSpc>
                <a:spcPct val="90000"/>
              </a:lnSpc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600" kern="1200" dirty="0">
                <a:ea typeface="+mn-ea"/>
                <a:cs typeface="+mn-cs"/>
              </a:rPr>
              <a:t>Job </a:t>
            </a:r>
            <a:r>
              <a:rPr lang="en-US" altLang="ko-KR" sz="2600" kern="1200" dirty="0" smtClean="0">
                <a:ea typeface="+mn-ea"/>
                <a:cs typeface="+mn-cs"/>
              </a:rPr>
              <a:t>initialization </a:t>
            </a:r>
            <a:r>
              <a:rPr lang="en-US" altLang="ko-KR" sz="2600" kern="1200" dirty="0">
                <a:ea typeface="+mn-ea"/>
                <a:cs typeface="+mn-cs"/>
              </a:rPr>
              <a:t>– </a:t>
            </a:r>
            <a:r>
              <a:rPr lang="en-US" altLang="ko-KR" sz="2600" kern="1200" dirty="0" smtClean="0">
                <a:ea typeface="+mn-ea"/>
                <a:cs typeface="+mn-cs"/>
              </a:rPr>
              <a:t>the </a:t>
            </a:r>
            <a:r>
              <a:rPr lang="en-US" altLang="ko-KR" sz="2600" kern="1200" dirty="0" err="1" smtClean="0">
                <a:ea typeface="+mn-ea"/>
                <a:cs typeface="+mn-cs"/>
              </a:rPr>
              <a:t>JobTracker</a:t>
            </a:r>
            <a:r>
              <a:rPr lang="en-US" altLang="ko-KR" sz="2600" kern="1200" dirty="0" smtClean="0">
                <a:ea typeface="+mn-ea"/>
                <a:cs typeface="+mn-cs"/>
              </a:rPr>
              <a:t> puts a job into an internal queue where the job scheduler will pick it up and initialize it. It involves:</a:t>
            </a:r>
            <a:endParaRPr lang="en-US" altLang="ko-KR" sz="2600" kern="1200" dirty="0">
              <a:ea typeface="+mn-ea"/>
              <a:cs typeface="+mn-cs"/>
            </a:endParaRPr>
          </a:p>
          <a:p>
            <a:pPr lvl="1" eaLnBrk="1" hangingPunct="1">
              <a:spcBef>
                <a:spcPts val="1200"/>
              </a:spcBef>
              <a:buSzPct val="60000"/>
              <a:buBlip>
                <a:blip r:embed="rId2"/>
              </a:buBlip>
              <a:defRPr/>
            </a:pPr>
            <a:r>
              <a:rPr lang="en-US" altLang="ko-KR" sz="2200" dirty="0" smtClean="0"/>
              <a:t>Creating an object to represent the job being run;</a:t>
            </a:r>
            <a:endParaRPr lang="en-US" altLang="ko-KR" sz="2200" dirty="0"/>
          </a:p>
          <a:p>
            <a:pPr lvl="1" eaLnBrk="1" hangingPunct="1">
              <a:spcBef>
                <a:spcPts val="600"/>
              </a:spcBef>
              <a:buSzPct val="60000"/>
              <a:buBlip>
                <a:blip r:embed="rId2"/>
              </a:buBlip>
              <a:defRPr/>
            </a:pPr>
            <a:r>
              <a:rPr lang="en-US" altLang="ko-KR" sz="2200" dirty="0" smtClean="0"/>
              <a:t>Bookkeeping information to keep track of the status and progress of its tasks.</a:t>
            </a:r>
            <a:endParaRPr lang="en-US" altLang="ko-KR" sz="2200" dirty="0"/>
          </a:p>
        </p:txBody>
      </p:sp>
      <p:sp>
        <p:nvSpPr>
          <p:cNvPr id="4" name="제목 1"/>
          <p:cNvSpPr>
            <a:spLocks noGrp="1"/>
          </p:cNvSpPr>
          <p:nvPr>
            <p:ph type="title"/>
          </p:nvPr>
        </p:nvSpPr>
        <p:spPr>
          <a:xfrm>
            <a:off x="2971800" y="1066800"/>
            <a:ext cx="4876800" cy="350838"/>
          </a:xfrm>
        </p:spPr>
        <p:txBody>
          <a:bodyPr>
            <a:noAutofit/>
          </a:bodyPr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Job Initialization</a:t>
            </a:r>
            <a:endParaRPr lang="en-US" altLang="ko-KR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397757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내용 개체 틀 2"/>
          <p:cNvSpPr>
            <a:spLocks noGrp="1"/>
          </p:cNvSpPr>
          <p:nvPr>
            <p:ph idx="1"/>
          </p:nvPr>
        </p:nvSpPr>
        <p:spPr>
          <a:xfrm>
            <a:off x="1143000" y="2286000"/>
            <a:ext cx="6705600" cy="2514600"/>
          </a:xfrm>
        </p:spPr>
        <p:txBody>
          <a:bodyPr>
            <a:normAutofit/>
          </a:bodyPr>
          <a:lstStyle/>
          <a:p>
            <a:pPr marL="342900" lvl="1" indent="-342900">
              <a:lnSpc>
                <a:spcPct val="90000"/>
              </a:lnSpc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600" kern="1200" dirty="0">
                <a:ea typeface="+mn-ea"/>
                <a:cs typeface="+mn-cs"/>
              </a:rPr>
              <a:t>Job </a:t>
            </a:r>
            <a:r>
              <a:rPr lang="en-US" altLang="ko-KR" sz="2600" kern="1200" dirty="0" smtClean="0">
                <a:ea typeface="+mn-ea"/>
                <a:cs typeface="+mn-cs"/>
              </a:rPr>
              <a:t>assignment </a:t>
            </a:r>
            <a:r>
              <a:rPr lang="en-US" altLang="ko-KR" sz="2600" kern="1200" dirty="0">
                <a:ea typeface="+mn-ea"/>
                <a:cs typeface="+mn-cs"/>
              </a:rPr>
              <a:t>– </a:t>
            </a:r>
            <a:r>
              <a:rPr lang="en-US" altLang="ko-KR" sz="2600" kern="1200" dirty="0" smtClean="0">
                <a:ea typeface="+mn-ea"/>
                <a:cs typeface="+mn-cs"/>
              </a:rPr>
              <a:t>the </a:t>
            </a:r>
            <a:r>
              <a:rPr lang="en-US" altLang="ko-KR" sz="2600" kern="1200" dirty="0" err="1" smtClean="0">
                <a:ea typeface="+mn-ea"/>
                <a:cs typeface="+mn-cs"/>
              </a:rPr>
              <a:t>JobTracker</a:t>
            </a:r>
            <a:r>
              <a:rPr lang="en-US" altLang="ko-KR" sz="2600" kern="1200" dirty="0" smtClean="0">
                <a:ea typeface="+mn-ea"/>
                <a:cs typeface="+mn-cs"/>
              </a:rPr>
              <a:t> assign a task to a </a:t>
            </a:r>
            <a:r>
              <a:rPr lang="en-US" altLang="ko-KR" sz="2600" kern="1200" dirty="0" err="1" smtClean="0">
                <a:ea typeface="+mn-ea"/>
                <a:cs typeface="+mn-cs"/>
              </a:rPr>
              <a:t>TaskTracker</a:t>
            </a:r>
            <a:r>
              <a:rPr lang="en-US" altLang="ko-KR" sz="2600" kern="1200" dirty="0" smtClean="0">
                <a:ea typeface="+mn-ea"/>
                <a:cs typeface="+mn-cs"/>
              </a:rPr>
              <a:t> when it is ready to run a new task. The </a:t>
            </a:r>
            <a:r>
              <a:rPr lang="en-US" altLang="ko-KR" sz="2600" kern="1200" dirty="0" err="1"/>
              <a:t>JobTracker</a:t>
            </a:r>
            <a:r>
              <a:rPr lang="en-US" altLang="ko-KR" sz="2600" kern="1200" dirty="0" smtClean="0">
                <a:ea typeface="+mn-ea"/>
                <a:cs typeface="+mn-cs"/>
              </a:rPr>
              <a:t> will</a:t>
            </a:r>
            <a:endParaRPr lang="en-US" altLang="ko-KR" sz="2600" kern="1200" dirty="0">
              <a:ea typeface="+mn-ea"/>
              <a:cs typeface="+mn-cs"/>
            </a:endParaRPr>
          </a:p>
          <a:p>
            <a:pPr lvl="1" eaLnBrk="1" hangingPunct="1">
              <a:spcBef>
                <a:spcPts val="1200"/>
              </a:spcBef>
              <a:buSzPct val="60000"/>
              <a:buBlip>
                <a:blip r:embed="rId2"/>
              </a:buBlip>
              <a:defRPr/>
            </a:pPr>
            <a:r>
              <a:rPr lang="en-US" altLang="ko-KR" sz="2200" dirty="0" smtClean="0"/>
              <a:t>Choose a job to select the task from;</a:t>
            </a:r>
            <a:endParaRPr lang="en-US" altLang="ko-KR" sz="2200" dirty="0"/>
          </a:p>
          <a:p>
            <a:pPr lvl="1" eaLnBrk="1" hangingPunct="1">
              <a:spcBef>
                <a:spcPts val="600"/>
              </a:spcBef>
              <a:buSzPct val="60000"/>
              <a:buBlip>
                <a:blip r:embed="rId2"/>
              </a:buBlip>
              <a:defRPr/>
            </a:pPr>
            <a:r>
              <a:rPr lang="en-US" altLang="ko-KR" sz="2200" dirty="0" smtClean="0"/>
              <a:t>Set a fixed number of slots for map tasks and for reduce tasks independently.</a:t>
            </a:r>
            <a:endParaRPr lang="en-US" altLang="ko-KR" sz="2200" dirty="0"/>
          </a:p>
        </p:txBody>
      </p:sp>
      <p:sp>
        <p:nvSpPr>
          <p:cNvPr id="4" name="제목 1"/>
          <p:cNvSpPr>
            <a:spLocks noGrp="1"/>
          </p:cNvSpPr>
          <p:nvPr>
            <p:ph type="title"/>
          </p:nvPr>
        </p:nvSpPr>
        <p:spPr>
          <a:xfrm>
            <a:off x="2971800" y="1066800"/>
            <a:ext cx="4876800" cy="350838"/>
          </a:xfrm>
        </p:spPr>
        <p:txBody>
          <a:bodyPr>
            <a:noAutofit/>
          </a:bodyPr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Job Assignment</a:t>
            </a:r>
            <a:endParaRPr lang="en-US" altLang="ko-KR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160178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내용 개체 틀 2"/>
          <p:cNvSpPr>
            <a:spLocks noGrp="1"/>
          </p:cNvSpPr>
          <p:nvPr>
            <p:ph idx="1"/>
          </p:nvPr>
        </p:nvSpPr>
        <p:spPr>
          <a:xfrm>
            <a:off x="1066800" y="2362200"/>
            <a:ext cx="6858000" cy="2667000"/>
          </a:xfrm>
        </p:spPr>
        <p:txBody>
          <a:bodyPr>
            <a:normAutofit lnSpcReduction="10000"/>
          </a:bodyPr>
          <a:lstStyle/>
          <a:p>
            <a:pPr marL="342900" lvl="1" indent="-342900">
              <a:lnSpc>
                <a:spcPct val="90000"/>
              </a:lnSpc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600" kern="1200" dirty="0" smtClean="0">
                <a:ea typeface="+mn-ea"/>
                <a:cs typeface="+mn-cs"/>
              </a:rPr>
              <a:t>Task execution </a:t>
            </a:r>
            <a:r>
              <a:rPr lang="en-US" altLang="ko-KR" sz="2600" kern="1200" dirty="0">
                <a:ea typeface="+mn-ea"/>
                <a:cs typeface="+mn-cs"/>
              </a:rPr>
              <a:t>– </a:t>
            </a:r>
            <a:r>
              <a:rPr lang="en-US" altLang="ko-KR" sz="2600" kern="1200" dirty="0" smtClean="0">
                <a:ea typeface="+mn-ea"/>
                <a:cs typeface="+mn-cs"/>
              </a:rPr>
              <a:t>the </a:t>
            </a:r>
            <a:r>
              <a:rPr lang="en-US" altLang="ko-KR" sz="2600" kern="1200" dirty="0" err="1" smtClean="0">
                <a:ea typeface="+mn-ea"/>
                <a:cs typeface="+mn-cs"/>
              </a:rPr>
              <a:t>TaskTracker</a:t>
            </a:r>
            <a:r>
              <a:rPr lang="en-US" altLang="ko-KR" sz="2600" kern="1200" dirty="0" smtClean="0">
                <a:ea typeface="+mn-ea"/>
                <a:cs typeface="+mn-cs"/>
              </a:rPr>
              <a:t> runs the task. The </a:t>
            </a:r>
            <a:r>
              <a:rPr lang="en-US" altLang="ko-KR" sz="2600" kern="1200" dirty="0" err="1" smtClean="0">
                <a:ea typeface="+mn-ea"/>
                <a:cs typeface="+mn-cs"/>
              </a:rPr>
              <a:t>Task</a:t>
            </a:r>
            <a:r>
              <a:rPr lang="en-US" altLang="ko-KR" sz="2600" kern="1200" dirty="0" err="1" smtClean="0"/>
              <a:t>Tracker</a:t>
            </a:r>
            <a:r>
              <a:rPr lang="en-US" altLang="ko-KR" sz="2600" kern="1200" dirty="0" smtClean="0">
                <a:ea typeface="+mn-ea"/>
                <a:cs typeface="+mn-cs"/>
              </a:rPr>
              <a:t> will:</a:t>
            </a:r>
            <a:endParaRPr lang="en-US" altLang="ko-KR" sz="2600" kern="1200" dirty="0">
              <a:ea typeface="+mn-ea"/>
              <a:cs typeface="+mn-cs"/>
            </a:endParaRPr>
          </a:p>
          <a:p>
            <a:pPr lvl="1" eaLnBrk="1" hangingPunct="1">
              <a:spcBef>
                <a:spcPts val="1200"/>
              </a:spcBef>
              <a:buSzPct val="60000"/>
              <a:buBlip>
                <a:blip r:embed="rId2"/>
              </a:buBlip>
              <a:defRPr/>
            </a:pPr>
            <a:r>
              <a:rPr lang="en-US" altLang="ko-KR" sz="2200" dirty="0" smtClean="0"/>
              <a:t>Localize the job JAR by copying it from the shared filesystem to the </a:t>
            </a:r>
            <a:r>
              <a:rPr lang="en-US" altLang="ko-KR" sz="2200" dirty="0" err="1" smtClean="0"/>
              <a:t>tasktracker’s</a:t>
            </a:r>
            <a:r>
              <a:rPr lang="en-US" altLang="ko-KR" sz="2200" dirty="0" smtClean="0"/>
              <a:t> filesystem;</a:t>
            </a:r>
            <a:endParaRPr lang="en-US" altLang="ko-KR" sz="2200" dirty="0"/>
          </a:p>
          <a:p>
            <a:pPr lvl="1" eaLnBrk="1" hangingPunct="1">
              <a:spcBef>
                <a:spcPts val="600"/>
              </a:spcBef>
              <a:buSzPct val="60000"/>
              <a:buBlip>
                <a:blip r:embed="rId2"/>
              </a:buBlip>
              <a:defRPr/>
            </a:pPr>
            <a:r>
              <a:rPr lang="en-US" altLang="ko-KR" sz="2200" dirty="0" smtClean="0"/>
              <a:t>Create a local working directory for the task and “un-jars” the contents of the JAR into this directory;</a:t>
            </a:r>
          </a:p>
          <a:p>
            <a:pPr lvl="1" eaLnBrk="1" hangingPunct="1">
              <a:spcBef>
                <a:spcPts val="600"/>
              </a:spcBef>
              <a:buSzPct val="60000"/>
              <a:buBlip>
                <a:blip r:embed="rId2"/>
              </a:buBlip>
              <a:defRPr/>
            </a:pPr>
            <a:r>
              <a:rPr lang="en-US" altLang="ko-KR" sz="2200" dirty="0" smtClean="0"/>
              <a:t>Create an instance of </a:t>
            </a:r>
            <a:r>
              <a:rPr lang="en-US" altLang="ko-KR" sz="2200" dirty="0" err="1" smtClean="0"/>
              <a:t>TaskRunner</a:t>
            </a:r>
            <a:r>
              <a:rPr lang="en-US" altLang="ko-KR" sz="2200" dirty="0" smtClean="0"/>
              <a:t> to run the task.</a:t>
            </a:r>
            <a:endParaRPr lang="en-US" altLang="ko-KR" sz="2200" dirty="0"/>
          </a:p>
        </p:txBody>
      </p:sp>
      <p:sp>
        <p:nvSpPr>
          <p:cNvPr id="4" name="제목 1"/>
          <p:cNvSpPr>
            <a:spLocks noGrp="1"/>
          </p:cNvSpPr>
          <p:nvPr>
            <p:ph type="title"/>
          </p:nvPr>
        </p:nvSpPr>
        <p:spPr>
          <a:xfrm>
            <a:off x="2971800" y="1066800"/>
            <a:ext cx="4876800" cy="350838"/>
          </a:xfrm>
        </p:spPr>
        <p:txBody>
          <a:bodyPr>
            <a:noAutofit/>
          </a:bodyPr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Task Execution</a:t>
            </a:r>
            <a:endParaRPr lang="en-US" altLang="ko-KR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745112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내용 개체 틀 2"/>
          <p:cNvSpPr>
            <a:spLocks noGrp="1"/>
          </p:cNvSpPr>
          <p:nvPr>
            <p:ph idx="1"/>
          </p:nvPr>
        </p:nvSpPr>
        <p:spPr>
          <a:xfrm>
            <a:off x="1066800" y="2362200"/>
            <a:ext cx="6858000" cy="2819400"/>
          </a:xfrm>
        </p:spPr>
        <p:txBody>
          <a:bodyPr>
            <a:normAutofit lnSpcReduction="10000"/>
          </a:bodyPr>
          <a:lstStyle/>
          <a:p>
            <a:pPr marL="342900" lvl="1" indent="-342900">
              <a:lnSpc>
                <a:spcPct val="90000"/>
              </a:lnSpc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600" kern="1200" dirty="0" smtClean="0">
                <a:ea typeface="+mn-ea"/>
                <a:cs typeface="+mn-cs"/>
              </a:rPr>
              <a:t>Progress and status updates </a:t>
            </a:r>
            <a:r>
              <a:rPr lang="en-US" altLang="ko-KR" sz="2600" kern="1200" dirty="0">
                <a:ea typeface="+mn-ea"/>
                <a:cs typeface="+mn-cs"/>
              </a:rPr>
              <a:t>– </a:t>
            </a:r>
            <a:r>
              <a:rPr lang="en-US" altLang="ko-KR" sz="2600" kern="1200" dirty="0" smtClean="0">
                <a:ea typeface="+mn-ea"/>
                <a:cs typeface="+mn-cs"/>
              </a:rPr>
              <a:t>MapReduce jobs are long-running batch jobs, taking anything from minutes to hours to run. So, it is important for the user to get feedback.</a:t>
            </a:r>
            <a:endParaRPr lang="en-US" altLang="ko-KR" sz="2600" kern="1200" dirty="0">
              <a:ea typeface="+mn-ea"/>
              <a:cs typeface="+mn-cs"/>
            </a:endParaRPr>
          </a:p>
          <a:p>
            <a:pPr lvl="1" eaLnBrk="1" hangingPunct="1">
              <a:spcBef>
                <a:spcPts val="1200"/>
              </a:spcBef>
              <a:buSzPct val="60000"/>
              <a:buBlip>
                <a:blip r:embed="rId2"/>
              </a:buBlip>
              <a:defRPr/>
            </a:pPr>
            <a:r>
              <a:rPr lang="en-US" altLang="ko-KR" sz="2200" dirty="0" smtClean="0"/>
              <a:t>A job and each of its tasks have a </a:t>
            </a:r>
            <a:r>
              <a:rPr lang="en-US" altLang="ko-KR" sz="2200" i="1" dirty="0" smtClean="0"/>
              <a:t>status</a:t>
            </a:r>
            <a:r>
              <a:rPr lang="en-US" altLang="ko-KR" sz="2200" dirty="0" smtClean="0"/>
              <a:t>;</a:t>
            </a:r>
            <a:endParaRPr lang="en-US" altLang="ko-KR" sz="2200" dirty="0"/>
          </a:p>
          <a:p>
            <a:pPr lvl="1" eaLnBrk="1" hangingPunct="1">
              <a:spcBef>
                <a:spcPts val="600"/>
              </a:spcBef>
              <a:buSzPct val="60000"/>
              <a:buBlip>
                <a:blip r:embed="rId2"/>
              </a:buBlip>
              <a:defRPr/>
            </a:pPr>
            <a:r>
              <a:rPr lang="en-US" altLang="ko-KR" sz="2200" dirty="0" smtClean="0"/>
              <a:t>This includes the state of the job or task (e.g., running, successfully completed, failed</a:t>
            </a:r>
            <a:r>
              <a:rPr lang="en-US" altLang="ko-KR" sz="2200" dirty="0" smtClean="0"/>
              <a:t>) and </a:t>
            </a:r>
            <a:r>
              <a:rPr lang="en-US" altLang="ko-KR" sz="2200" dirty="0" smtClean="0"/>
              <a:t>task</a:t>
            </a:r>
            <a:r>
              <a:rPr lang="en-US" altLang="ko-KR" sz="2200" dirty="0" smtClean="0"/>
              <a:t> counters.</a:t>
            </a:r>
            <a:endParaRPr lang="en-US" altLang="ko-KR" sz="2200" dirty="0" smtClean="0"/>
          </a:p>
        </p:txBody>
      </p:sp>
      <p:sp>
        <p:nvSpPr>
          <p:cNvPr id="4" name="제목 1"/>
          <p:cNvSpPr>
            <a:spLocks noGrp="1"/>
          </p:cNvSpPr>
          <p:nvPr>
            <p:ph type="title"/>
          </p:nvPr>
        </p:nvSpPr>
        <p:spPr>
          <a:xfrm>
            <a:off x="2971800" y="1066800"/>
            <a:ext cx="4876800" cy="350838"/>
          </a:xfrm>
        </p:spPr>
        <p:txBody>
          <a:bodyPr>
            <a:noAutofit/>
          </a:bodyPr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Progress and Status Updates</a:t>
            </a:r>
            <a:endParaRPr lang="en-US" altLang="ko-KR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840518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내용 개체 틀 2"/>
          <p:cNvSpPr>
            <a:spLocks noGrp="1"/>
          </p:cNvSpPr>
          <p:nvPr>
            <p:ph idx="1"/>
          </p:nvPr>
        </p:nvSpPr>
        <p:spPr>
          <a:xfrm>
            <a:off x="990600" y="2362200"/>
            <a:ext cx="6858000" cy="2819400"/>
          </a:xfrm>
        </p:spPr>
        <p:txBody>
          <a:bodyPr>
            <a:normAutofit/>
          </a:bodyPr>
          <a:lstStyle/>
          <a:p>
            <a:pPr marL="342900" lvl="1" indent="-342900"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500" kern="1200" dirty="0" smtClean="0">
                <a:ea typeface="+mn-ea"/>
                <a:cs typeface="+mn-cs"/>
              </a:rPr>
              <a:t>Job completion – when the </a:t>
            </a:r>
            <a:r>
              <a:rPr lang="en-US" altLang="ko-KR" sz="2500" kern="1200" dirty="0" err="1" smtClean="0">
                <a:ea typeface="+mn-ea"/>
                <a:cs typeface="+mn-cs"/>
              </a:rPr>
              <a:t>JobTracker</a:t>
            </a:r>
            <a:r>
              <a:rPr lang="en-US" altLang="ko-KR" sz="2500" kern="1200" dirty="0" smtClean="0">
                <a:ea typeface="+mn-ea"/>
                <a:cs typeface="+mn-cs"/>
              </a:rPr>
              <a:t> is notified that the last task for a job is complete, it changes the status for the job to “successful.” It will:</a:t>
            </a:r>
            <a:endParaRPr lang="en-US" altLang="ko-KR" sz="2500" kern="1200" dirty="0">
              <a:ea typeface="+mn-ea"/>
              <a:cs typeface="+mn-cs"/>
            </a:endParaRPr>
          </a:p>
          <a:p>
            <a:pPr lvl="1" eaLnBrk="1" hangingPunct="1">
              <a:spcBef>
                <a:spcPts val="1200"/>
              </a:spcBef>
              <a:buSzPct val="60000"/>
              <a:buBlip>
                <a:blip r:embed="rId2"/>
              </a:buBlip>
              <a:defRPr/>
            </a:pPr>
            <a:r>
              <a:rPr lang="en-US" altLang="ko-KR" sz="2200" dirty="0" smtClean="0"/>
              <a:t>Print a message to tell the user;</a:t>
            </a:r>
            <a:endParaRPr lang="en-US" altLang="ko-KR" sz="2200" dirty="0"/>
          </a:p>
          <a:p>
            <a:pPr lvl="1" eaLnBrk="1" hangingPunct="1">
              <a:spcBef>
                <a:spcPts val="600"/>
              </a:spcBef>
              <a:buSzPct val="60000"/>
              <a:buBlip>
                <a:blip r:embed="rId2"/>
              </a:buBlip>
              <a:defRPr/>
            </a:pPr>
            <a:r>
              <a:rPr lang="en-US" altLang="ko-KR" sz="2200" dirty="0" smtClean="0"/>
              <a:t>Return from the </a:t>
            </a:r>
            <a:r>
              <a:rPr lang="en-US" altLang="ko-KR" sz="2200" dirty="0" err="1" smtClean="0"/>
              <a:t>waitForCompletion</a:t>
            </a:r>
            <a:r>
              <a:rPr lang="en-US" altLang="ko-KR" sz="2200" dirty="0" smtClean="0"/>
              <a:t>() method;</a:t>
            </a:r>
          </a:p>
          <a:p>
            <a:pPr lvl="1" eaLnBrk="1" hangingPunct="1">
              <a:spcBef>
                <a:spcPts val="600"/>
              </a:spcBef>
              <a:buSzPct val="60000"/>
              <a:buBlip>
                <a:blip r:embed="rId2"/>
              </a:buBlip>
              <a:defRPr/>
            </a:pPr>
            <a:r>
              <a:rPr lang="en-US" altLang="ko-KR" sz="2200" dirty="0" smtClean="0"/>
              <a:t>Job statistics and counters are printed to the console.</a:t>
            </a:r>
          </a:p>
        </p:txBody>
      </p:sp>
      <p:sp>
        <p:nvSpPr>
          <p:cNvPr id="4" name="제목 1"/>
          <p:cNvSpPr>
            <a:spLocks noGrp="1"/>
          </p:cNvSpPr>
          <p:nvPr>
            <p:ph type="title"/>
          </p:nvPr>
        </p:nvSpPr>
        <p:spPr>
          <a:xfrm>
            <a:off x="2971800" y="1066800"/>
            <a:ext cx="4876800" cy="350838"/>
          </a:xfrm>
        </p:spPr>
        <p:txBody>
          <a:bodyPr>
            <a:noAutofit/>
          </a:bodyPr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Job Completion</a:t>
            </a:r>
            <a:endParaRPr lang="en-US" altLang="ko-KR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339970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내용 개체 틀 2"/>
          <p:cNvSpPr>
            <a:spLocks noGrp="1"/>
          </p:cNvSpPr>
          <p:nvPr>
            <p:ph idx="1"/>
          </p:nvPr>
        </p:nvSpPr>
        <p:spPr>
          <a:xfrm>
            <a:off x="990600" y="2286000"/>
            <a:ext cx="7010400" cy="3124200"/>
          </a:xfrm>
        </p:spPr>
        <p:txBody>
          <a:bodyPr>
            <a:normAutofit fontScale="92500" lnSpcReduction="20000"/>
          </a:bodyPr>
          <a:lstStyle/>
          <a:p>
            <a:pPr marL="342900" lvl="1" indent="-342900">
              <a:lnSpc>
                <a:spcPct val="110000"/>
              </a:lnSpc>
              <a:spcBef>
                <a:spcPts val="9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500" kern="1200" dirty="0" smtClean="0">
                <a:ea typeface="+mn-ea"/>
                <a:cs typeface="+mn-cs"/>
              </a:rPr>
              <a:t>MapReduce 1 hits scalability bottlenecks for a very large cluster of 4,000 nodes or more.</a:t>
            </a:r>
          </a:p>
          <a:p>
            <a:pPr marL="342900" lvl="1" indent="-342900">
              <a:lnSpc>
                <a:spcPct val="110000"/>
              </a:lnSpc>
              <a:spcBef>
                <a:spcPts val="9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500" kern="1200" dirty="0" smtClean="0">
                <a:ea typeface="+mn-ea"/>
                <a:cs typeface="+mn-cs"/>
              </a:rPr>
              <a:t>YARN is the next generation of MapReduce, short for Yet Another Resource Negotiator.</a:t>
            </a:r>
          </a:p>
          <a:p>
            <a:pPr marL="342900" lvl="1" indent="-342900">
              <a:lnSpc>
                <a:spcPct val="110000"/>
              </a:lnSpc>
              <a:spcBef>
                <a:spcPts val="9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500" kern="1200" dirty="0" smtClean="0">
                <a:ea typeface="+mn-ea"/>
                <a:cs typeface="+mn-cs"/>
              </a:rPr>
              <a:t>YARN splits the responsibilities of the </a:t>
            </a:r>
            <a:r>
              <a:rPr lang="en-US" altLang="ko-KR" sz="2500" kern="1200" dirty="0" err="1" smtClean="0">
                <a:ea typeface="+mn-ea"/>
                <a:cs typeface="+mn-cs"/>
              </a:rPr>
              <a:t>JobTracker</a:t>
            </a:r>
            <a:r>
              <a:rPr lang="en-US" altLang="ko-KR" sz="2500" kern="1200" dirty="0" smtClean="0">
                <a:ea typeface="+mn-ea"/>
                <a:cs typeface="+mn-cs"/>
              </a:rPr>
              <a:t> into separate entities for scalability.</a:t>
            </a:r>
          </a:p>
          <a:p>
            <a:pPr marL="342900" lvl="1" indent="-342900">
              <a:lnSpc>
                <a:spcPct val="110000"/>
              </a:lnSpc>
              <a:spcBef>
                <a:spcPts val="9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500" kern="1200" dirty="0" smtClean="0">
                <a:ea typeface="+mn-ea"/>
                <a:cs typeface="+mn-cs"/>
              </a:rPr>
              <a:t>The </a:t>
            </a:r>
            <a:r>
              <a:rPr lang="en-US" altLang="ko-KR" sz="2500" kern="1200" dirty="0" err="1" smtClean="0">
                <a:ea typeface="+mn-ea"/>
                <a:cs typeface="+mn-cs"/>
              </a:rPr>
              <a:t>JobTracker</a:t>
            </a:r>
            <a:r>
              <a:rPr lang="en-US" altLang="ko-KR" sz="2500" kern="1200" dirty="0" smtClean="0">
                <a:ea typeface="+mn-ea"/>
                <a:cs typeface="+mn-cs"/>
              </a:rPr>
              <a:t> takes care of both job scheduling and task progress monitoring. </a:t>
            </a:r>
            <a:endParaRPr lang="en-US" altLang="ko-KR" sz="2500" kern="1200" dirty="0">
              <a:ea typeface="+mn-ea"/>
              <a:cs typeface="+mn-cs"/>
            </a:endParaRPr>
          </a:p>
        </p:txBody>
      </p:sp>
      <p:sp>
        <p:nvSpPr>
          <p:cNvPr id="4" name="제목 1"/>
          <p:cNvSpPr>
            <a:spLocks noGrp="1"/>
          </p:cNvSpPr>
          <p:nvPr>
            <p:ph type="title"/>
          </p:nvPr>
        </p:nvSpPr>
        <p:spPr>
          <a:xfrm>
            <a:off x="2971800" y="1066800"/>
            <a:ext cx="4876800" cy="350838"/>
          </a:xfrm>
        </p:spPr>
        <p:txBody>
          <a:bodyPr>
            <a:noAutofit/>
          </a:bodyPr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YARN (MapReduce 2) – 1</a:t>
            </a:r>
            <a:endParaRPr lang="en-US" altLang="ko-KR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283459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내용 개체 틀 2"/>
          <p:cNvSpPr>
            <a:spLocks noGrp="1"/>
          </p:cNvSpPr>
          <p:nvPr>
            <p:ph idx="1"/>
          </p:nvPr>
        </p:nvSpPr>
        <p:spPr>
          <a:xfrm>
            <a:off x="1295400" y="2286000"/>
            <a:ext cx="6705600" cy="3200400"/>
          </a:xfrm>
        </p:spPr>
        <p:txBody>
          <a:bodyPr>
            <a:normAutofit fontScale="92500" lnSpcReduction="20000"/>
          </a:bodyPr>
          <a:lstStyle/>
          <a:p>
            <a:pPr marL="342900" lvl="1" indent="-342900">
              <a:lnSpc>
                <a:spcPct val="110000"/>
              </a:lnSpc>
              <a:spcBef>
                <a:spcPts val="9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600" kern="1200" dirty="0" smtClean="0">
                <a:ea typeface="+mn-ea"/>
                <a:cs typeface="+mn-cs"/>
              </a:rPr>
              <a:t>YARN uses two independent daemons to separate these two roles:</a:t>
            </a:r>
          </a:p>
          <a:p>
            <a:pPr lvl="1" eaLnBrk="1" hangingPunct="1">
              <a:lnSpc>
                <a:spcPct val="90000"/>
              </a:lnSpc>
              <a:spcBef>
                <a:spcPts val="900"/>
              </a:spcBef>
              <a:buClr>
                <a:schemeClr val="accent2"/>
              </a:buClr>
              <a:buSzPct val="60000"/>
              <a:buBlip>
                <a:blip r:embed="rId2"/>
              </a:buBlip>
              <a:defRPr/>
            </a:pPr>
            <a:r>
              <a:rPr lang="en-US" altLang="ko-KR" sz="2200" dirty="0"/>
              <a:t>A </a:t>
            </a:r>
            <a:r>
              <a:rPr lang="en-US" altLang="ko-KR" sz="2200" b="1" i="1" dirty="0"/>
              <a:t>resource manager </a:t>
            </a:r>
            <a:r>
              <a:rPr lang="en-US" altLang="ko-KR" sz="2200" dirty="0"/>
              <a:t>to manage the use of resources across the cluster, and</a:t>
            </a:r>
          </a:p>
          <a:p>
            <a:pPr lvl="1" eaLnBrk="1" hangingPunct="1">
              <a:lnSpc>
                <a:spcPct val="90000"/>
              </a:lnSpc>
              <a:spcBef>
                <a:spcPts val="900"/>
              </a:spcBef>
              <a:buClr>
                <a:schemeClr val="accent2"/>
              </a:buClr>
              <a:buSzPct val="60000"/>
              <a:buBlip>
                <a:blip r:embed="rId2"/>
              </a:buBlip>
              <a:defRPr/>
            </a:pPr>
            <a:r>
              <a:rPr lang="en-US" altLang="ko-KR" sz="2200" dirty="0"/>
              <a:t>An </a:t>
            </a:r>
            <a:r>
              <a:rPr lang="en-US" altLang="ko-KR" sz="2200" b="1" i="1" dirty="0"/>
              <a:t>application master </a:t>
            </a:r>
            <a:r>
              <a:rPr lang="en-US" altLang="ko-KR" sz="2200" dirty="0"/>
              <a:t>to manage the lifecycle of applications running on the cluster</a:t>
            </a:r>
            <a:r>
              <a:rPr lang="en-US" altLang="ko-KR" sz="2200" dirty="0" smtClean="0"/>
              <a:t>.</a:t>
            </a:r>
          </a:p>
          <a:p>
            <a:pPr marL="342900" lvl="1" indent="-342900">
              <a:lnSpc>
                <a:spcPct val="110000"/>
              </a:lnSpc>
              <a:spcBef>
                <a:spcPts val="900"/>
              </a:spcBef>
              <a:buClr>
                <a:schemeClr val="accent2"/>
              </a:buClr>
              <a:buSzPct val="100000"/>
              <a:buFont typeface="Wingdings" pitchFamily="2" charset="2"/>
              <a:buChar char="§"/>
              <a:defRPr/>
            </a:pPr>
            <a:r>
              <a:rPr lang="en-US" altLang="ko-KR" sz="2600" kern="1200" dirty="0">
                <a:ea typeface="+mn-ea"/>
                <a:cs typeface="+mn-cs"/>
              </a:rPr>
              <a:t>YARN is more general than MapReduce;</a:t>
            </a:r>
          </a:p>
          <a:p>
            <a:pPr marL="342900" lvl="1" indent="-342900">
              <a:lnSpc>
                <a:spcPct val="110000"/>
              </a:lnSpc>
              <a:spcBef>
                <a:spcPts val="900"/>
              </a:spcBef>
              <a:buClr>
                <a:schemeClr val="accent2"/>
              </a:buClr>
              <a:buSzPct val="100000"/>
              <a:buFont typeface="Wingdings" pitchFamily="2" charset="2"/>
              <a:buChar char="§"/>
              <a:defRPr/>
            </a:pPr>
            <a:r>
              <a:rPr lang="en-US" altLang="ko-KR" sz="2600" kern="1200" dirty="0">
                <a:ea typeface="+mn-ea"/>
                <a:cs typeface="+mn-cs"/>
              </a:rPr>
              <a:t>In fact MapReduce is just one type of YARN application.</a:t>
            </a:r>
          </a:p>
        </p:txBody>
      </p:sp>
      <p:sp>
        <p:nvSpPr>
          <p:cNvPr id="4" name="제목 1"/>
          <p:cNvSpPr>
            <a:spLocks noGrp="1"/>
          </p:cNvSpPr>
          <p:nvPr>
            <p:ph type="title"/>
          </p:nvPr>
        </p:nvSpPr>
        <p:spPr>
          <a:xfrm>
            <a:off x="2971800" y="1066800"/>
            <a:ext cx="4876800" cy="350838"/>
          </a:xfrm>
        </p:spPr>
        <p:txBody>
          <a:bodyPr>
            <a:noAutofit/>
          </a:bodyPr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YARN (MapReduce 2) – 2</a:t>
            </a:r>
            <a:endParaRPr lang="en-US" altLang="ko-KR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172089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3429000" y="1066800"/>
            <a:ext cx="3962400" cy="350838"/>
          </a:xfrm>
        </p:spPr>
        <p:txBody>
          <a:bodyPr>
            <a:noAutofit/>
          </a:bodyPr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YARN Framework</a:t>
            </a:r>
            <a:endParaRPr lang="en-US" altLang="ko-KR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524000"/>
            <a:ext cx="7620000" cy="52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315065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419600" y="1066800"/>
            <a:ext cx="1981200" cy="381000"/>
          </a:xfrm>
        </p:spPr>
        <p:txBody>
          <a:bodyPr>
            <a:normAutofit/>
          </a:bodyPr>
          <a:lstStyle/>
          <a:p>
            <a:r>
              <a:rPr lang="en-US" altLang="ko-KR" sz="1600" b="1" kern="1200" dirty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Failures</a:t>
            </a:r>
          </a:p>
        </p:txBody>
      </p:sp>
      <p:sp>
        <p:nvSpPr>
          <p:cNvPr id="9" name="내용 개체 틀 2"/>
          <p:cNvSpPr>
            <a:spLocks noGrp="1"/>
          </p:cNvSpPr>
          <p:nvPr>
            <p:ph idx="1"/>
          </p:nvPr>
        </p:nvSpPr>
        <p:spPr>
          <a:xfrm>
            <a:off x="1143000" y="2209800"/>
            <a:ext cx="6858000" cy="2890854"/>
          </a:xfrm>
        </p:spPr>
        <p:txBody>
          <a:bodyPr>
            <a:normAutofit lnSpcReduction="10000"/>
          </a:bodyPr>
          <a:lstStyle/>
          <a:p>
            <a:pPr marL="0" lvl="1" indent="0">
              <a:lnSpc>
                <a:spcPct val="90000"/>
              </a:lnSpc>
              <a:spcBef>
                <a:spcPts val="900"/>
              </a:spcBef>
              <a:buClr>
                <a:schemeClr val="accent2"/>
              </a:buClr>
              <a:buNone/>
              <a:defRPr/>
            </a:pPr>
            <a:r>
              <a:rPr lang="en-US" altLang="ko-KR" sz="2600" kern="1200" dirty="0" smtClean="0">
                <a:ea typeface="+mn-ea"/>
                <a:cs typeface="+mn-cs"/>
              </a:rPr>
              <a:t>There are three failure modes:</a:t>
            </a:r>
          </a:p>
          <a:p>
            <a:pPr marL="342900" lvl="1" indent="-342900">
              <a:lnSpc>
                <a:spcPct val="90000"/>
              </a:lnSpc>
              <a:spcBef>
                <a:spcPts val="9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300" kern="1200" dirty="0" smtClean="0">
                <a:ea typeface="+mn-ea"/>
                <a:cs typeface="+mn-cs"/>
              </a:rPr>
              <a:t>Task failure – when </a:t>
            </a:r>
            <a:r>
              <a:rPr lang="en-US" altLang="ko-KR" sz="2300" kern="1200" dirty="0">
                <a:ea typeface="+mn-ea"/>
                <a:cs typeface="+mn-cs"/>
              </a:rPr>
              <a:t>user code in the map or reduce task throws a runtime exception</a:t>
            </a:r>
            <a:r>
              <a:rPr lang="en-US" altLang="ko-KR" sz="2300" kern="1200" dirty="0" smtClean="0">
                <a:ea typeface="+mn-ea"/>
                <a:cs typeface="+mn-cs"/>
              </a:rPr>
              <a:t>.</a:t>
            </a:r>
            <a:endParaRPr lang="en-US" altLang="ko-KR" sz="2300" kern="1200" dirty="0">
              <a:ea typeface="+mn-ea"/>
              <a:cs typeface="+mn-cs"/>
            </a:endParaRPr>
          </a:p>
          <a:p>
            <a:pPr marL="342900" lvl="1" indent="-342900">
              <a:lnSpc>
                <a:spcPct val="90000"/>
              </a:lnSpc>
              <a:spcBef>
                <a:spcPts val="9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300" kern="1200" dirty="0" err="1" smtClean="0">
                <a:ea typeface="+mn-ea"/>
                <a:cs typeface="+mn-cs"/>
              </a:rPr>
              <a:t>TaskTracker</a:t>
            </a:r>
            <a:r>
              <a:rPr lang="en-US" altLang="ko-KR" sz="2300" kern="1200" dirty="0" smtClean="0">
                <a:ea typeface="+mn-ea"/>
                <a:cs typeface="+mn-cs"/>
              </a:rPr>
              <a:t> failure – when </a:t>
            </a:r>
            <a:r>
              <a:rPr lang="en-US" altLang="ko-KR" sz="2300" kern="1200" dirty="0">
                <a:ea typeface="+mn-ea"/>
                <a:cs typeface="+mn-cs"/>
              </a:rPr>
              <a:t>a </a:t>
            </a:r>
            <a:r>
              <a:rPr lang="en-US" altLang="ko-KR" sz="2300" kern="1200" dirty="0" err="1" smtClean="0">
                <a:ea typeface="+mn-ea"/>
                <a:cs typeface="+mn-cs"/>
              </a:rPr>
              <a:t>TaskTracker</a:t>
            </a:r>
            <a:r>
              <a:rPr lang="en-US" altLang="ko-KR" sz="2300" kern="1200" dirty="0" smtClean="0">
                <a:ea typeface="+mn-ea"/>
                <a:cs typeface="+mn-cs"/>
              </a:rPr>
              <a:t> </a:t>
            </a:r>
            <a:r>
              <a:rPr lang="en-US" altLang="ko-KR" sz="2300" kern="1200" dirty="0">
                <a:ea typeface="+mn-ea"/>
                <a:cs typeface="+mn-cs"/>
              </a:rPr>
              <a:t>fails by </a:t>
            </a:r>
            <a:r>
              <a:rPr lang="en-US" altLang="ko-KR" sz="2300" kern="1200" dirty="0" smtClean="0">
                <a:ea typeface="+mn-ea"/>
                <a:cs typeface="+mn-cs"/>
              </a:rPr>
              <a:t>crashing or </a:t>
            </a:r>
            <a:r>
              <a:rPr lang="en-US" altLang="ko-KR" sz="2300" kern="1200" dirty="0">
                <a:ea typeface="+mn-ea"/>
                <a:cs typeface="+mn-cs"/>
              </a:rPr>
              <a:t>running very </a:t>
            </a:r>
            <a:r>
              <a:rPr lang="en-US" altLang="ko-KR" sz="2300" kern="1200" dirty="0" smtClean="0">
                <a:ea typeface="+mn-ea"/>
                <a:cs typeface="+mn-cs"/>
              </a:rPr>
              <a:t>slowly and stopping (or very infrequently) sending heartbeats to the </a:t>
            </a:r>
            <a:r>
              <a:rPr lang="en-US" altLang="ko-KR" sz="2300" kern="1200" dirty="0" err="1" smtClean="0">
                <a:ea typeface="+mn-ea"/>
                <a:cs typeface="+mn-cs"/>
              </a:rPr>
              <a:t>JobTracker</a:t>
            </a:r>
            <a:r>
              <a:rPr lang="en-US" altLang="ko-KR" sz="2300" kern="1200" dirty="0" smtClean="0">
                <a:ea typeface="+mn-ea"/>
                <a:cs typeface="+mn-cs"/>
              </a:rPr>
              <a:t>.</a:t>
            </a:r>
            <a:endParaRPr lang="en-US" altLang="ko-KR" sz="2300" kern="1200" dirty="0">
              <a:ea typeface="+mn-ea"/>
              <a:cs typeface="+mn-cs"/>
            </a:endParaRPr>
          </a:p>
          <a:p>
            <a:pPr marL="342900" lvl="1" indent="-342900">
              <a:lnSpc>
                <a:spcPct val="90000"/>
              </a:lnSpc>
              <a:spcBef>
                <a:spcPts val="9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300" kern="1200" dirty="0" err="1" smtClean="0">
                <a:ea typeface="+mn-ea"/>
                <a:cs typeface="+mn-cs"/>
              </a:rPr>
              <a:t>JobTracker</a:t>
            </a:r>
            <a:r>
              <a:rPr lang="en-US" altLang="ko-KR" sz="2300" kern="1200" dirty="0" smtClean="0">
                <a:ea typeface="+mn-ea"/>
                <a:cs typeface="+mn-cs"/>
              </a:rPr>
              <a:t> failure – when </a:t>
            </a:r>
            <a:r>
              <a:rPr lang="en-US" altLang="ko-KR" sz="2300" kern="1200" dirty="0">
                <a:ea typeface="+mn-ea"/>
                <a:cs typeface="+mn-cs"/>
              </a:rPr>
              <a:t>the </a:t>
            </a:r>
            <a:r>
              <a:rPr lang="en-US" altLang="ko-KR" sz="2300" kern="1200" dirty="0" err="1" smtClean="0">
                <a:ea typeface="+mn-ea"/>
                <a:cs typeface="+mn-cs"/>
              </a:rPr>
              <a:t>JobTracker</a:t>
            </a:r>
            <a:r>
              <a:rPr lang="en-US" altLang="ko-KR" sz="2300" kern="1200" dirty="0" smtClean="0">
                <a:ea typeface="+mn-ea"/>
                <a:cs typeface="+mn-cs"/>
              </a:rPr>
              <a:t> </a:t>
            </a:r>
            <a:r>
              <a:rPr lang="en-US" altLang="ko-KR" sz="2300" kern="1200" dirty="0">
                <a:ea typeface="+mn-ea"/>
                <a:cs typeface="+mn-cs"/>
              </a:rPr>
              <a:t>fails by </a:t>
            </a:r>
            <a:r>
              <a:rPr lang="en-US" altLang="ko-KR" sz="2300" kern="1200" dirty="0" smtClean="0">
                <a:ea typeface="+mn-ea"/>
                <a:cs typeface="+mn-cs"/>
              </a:rPr>
              <a:t>crashing; all running jobs fail.</a:t>
            </a:r>
            <a:endParaRPr lang="en-US" altLang="ko-KR" sz="2300" kern="1200" dirty="0"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9073188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581400" y="1066800"/>
            <a:ext cx="3581400" cy="350838"/>
          </a:xfrm>
        </p:spPr>
        <p:txBody>
          <a:bodyPr>
            <a:normAutofit/>
          </a:bodyPr>
          <a:lstStyle/>
          <a:p>
            <a:r>
              <a:rPr lang="en-US" altLang="ko-KR" sz="1600" b="1" kern="1200" dirty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Task </a:t>
            </a:r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Failure – 1</a:t>
            </a:r>
            <a:endParaRPr lang="en-US" altLang="ko-KR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sp>
        <p:nvSpPr>
          <p:cNvPr id="9" name="내용 개체 틀 2"/>
          <p:cNvSpPr>
            <a:spLocks noGrp="1"/>
          </p:cNvSpPr>
          <p:nvPr>
            <p:ph idx="1"/>
          </p:nvPr>
        </p:nvSpPr>
        <p:spPr>
          <a:xfrm>
            <a:off x="1066800" y="1981200"/>
            <a:ext cx="7010400" cy="3881454"/>
          </a:xfrm>
        </p:spPr>
        <p:txBody>
          <a:bodyPr>
            <a:normAutofit lnSpcReduction="10000"/>
          </a:bodyPr>
          <a:lstStyle/>
          <a:p>
            <a:pPr marL="342900" lvl="1" indent="-342900">
              <a:spcBef>
                <a:spcPts val="9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500" kern="1200" dirty="0">
                <a:ea typeface="+mn-ea"/>
                <a:cs typeface="+mn-cs"/>
              </a:rPr>
              <a:t>Child task failing</a:t>
            </a:r>
          </a:p>
          <a:p>
            <a:pPr lvl="1" eaLnBrk="1" hangingPunct="1">
              <a:spcBef>
                <a:spcPts val="900"/>
              </a:spcBef>
              <a:buClr>
                <a:schemeClr val="accent2"/>
              </a:buClr>
              <a:buSzPct val="60000"/>
              <a:buBlip>
                <a:blip r:embed="rId2"/>
              </a:buBlip>
              <a:defRPr/>
            </a:pPr>
            <a:r>
              <a:rPr lang="en-US" altLang="ko-KR" sz="2000" dirty="0"/>
              <a:t>Child JVM reports the error back to its parent </a:t>
            </a:r>
            <a:r>
              <a:rPr lang="en-US" altLang="ko-KR" sz="2000" dirty="0" err="1" smtClean="0"/>
              <a:t>TaskTracker</a:t>
            </a:r>
            <a:endParaRPr lang="en-US" altLang="ko-KR" sz="2000" dirty="0"/>
          </a:p>
          <a:p>
            <a:pPr marL="342900" lvl="1" indent="-342900">
              <a:spcBef>
                <a:spcPts val="9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500" kern="1200" dirty="0">
                <a:ea typeface="+mn-ea"/>
                <a:cs typeface="+mn-cs"/>
              </a:rPr>
              <a:t>Sudden exit of the child JVM</a:t>
            </a:r>
          </a:p>
          <a:p>
            <a:pPr lvl="1" eaLnBrk="1" hangingPunct="1">
              <a:spcBef>
                <a:spcPts val="900"/>
              </a:spcBef>
              <a:buClr>
                <a:schemeClr val="accent2"/>
              </a:buClr>
              <a:buSzPct val="60000"/>
              <a:buBlip>
                <a:blip r:embed="rId2"/>
              </a:buBlip>
              <a:defRPr/>
            </a:pPr>
            <a:r>
              <a:rPr lang="en-US" altLang="ko-KR" sz="2000" dirty="0" smtClean="0"/>
              <a:t>The </a:t>
            </a:r>
            <a:r>
              <a:rPr lang="en-US" altLang="ko-KR" sz="2000" dirty="0" err="1" smtClean="0"/>
              <a:t>TaskTracker</a:t>
            </a:r>
            <a:r>
              <a:rPr lang="en-US" altLang="ko-KR" sz="2000" dirty="0" smtClean="0"/>
              <a:t> </a:t>
            </a:r>
            <a:r>
              <a:rPr lang="en-US" altLang="ko-KR" sz="2000" dirty="0"/>
              <a:t>notices that the process has exited and marks the attempt as failed.</a:t>
            </a:r>
          </a:p>
          <a:p>
            <a:pPr marL="342900" lvl="1" indent="-342900">
              <a:spcBef>
                <a:spcPts val="9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500" kern="1200" dirty="0" smtClean="0">
                <a:ea typeface="+mn-ea"/>
                <a:cs typeface="+mn-cs"/>
              </a:rPr>
              <a:t>Hanging </a:t>
            </a:r>
            <a:r>
              <a:rPr lang="en-US" altLang="ko-KR" sz="2500" kern="1200" dirty="0">
                <a:ea typeface="+mn-ea"/>
                <a:cs typeface="+mn-cs"/>
              </a:rPr>
              <a:t>tasks</a:t>
            </a:r>
          </a:p>
          <a:p>
            <a:pPr lvl="1" eaLnBrk="1" hangingPunct="1">
              <a:spcBef>
                <a:spcPts val="900"/>
              </a:spcBef>
              <a:buClr>
                <a:schemeClr val="accent2"/>
              </a:buClr>
              <a:buSzPct val="60000"/>
              <a:buBlip>
                <a:blip r:embed="rId2"/>
              </a:buBlip>
              <a:defRPr/>
            </a:pPr>
            <a:r>
              <a:rPr lang="en-US" altLang="ko-KR" sz="2000" dirty="0"/>
              <a:t>The </a:t>
            </a:r>
            <a:r>
              <a:rPr lang="en-US" altLang="ko-KR" sz="2000" dirty="0" err="1" smtClean="0"/>
              <a:t>TaskTracker</a:t>
            </a:r>
            <a:r>
              <a:rPr lang="en-US" altLang="ko-KR" sz="2000" dirty="0" smtClean="0"/>
              <a:t> </a:t>
            </a:r>
            <a:r>
              <a:rPr lang="en-US" altLang="ko-KR" sz="2000" dirty="0"/>
              <a:t>notices that it hasn’t received a progress update for a while and mark the task as failed.</a:t>
            </a:r>
          </a:p>
          <a:p>
            <a:pPr lvl="1" eaLnBrk="1" hangingPunct="1">
              <a:spcBef>
                <a:spcPts val="900"/>
              </a:spcBef>
              <a:buClr>
                <a:schemeClr val="accent2"/>
              </a:buClr>
              <a:buSzPct val="60000"/>
              <a:buBlip>
                <a:blip r:embed="rId2"/>
              </a:buBlip>
              <a:defRPr/>
            </a:pPr>
            <a:r>
              <a:rPr lang="en-US" altLang="ko-KR" sz="2000" dirty="0"/>
              <a:t>The child JVM process will be automatically killed after this period (timeout period of 10 minutes)</a:t>
            </a:r>
          </a:p>
        </p:txBody>
      </p:sp>
    </p:spTree>
    <p:extLst>
      <p:ext uri="{BB962C8B-B14F-4D97-AF65-F5344CB8AC3E}">
        <p14:creationId xmlns:p14="http://schemas.microsoft.com/office/powerpoint/2010/main" val="124520607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내용 개체 틀 2"/>
          <p:cNvSpPr>
            <a:spLocks noGrp="1"/>
          </p:cNvSpPr>
          <p:nvPr>
            <p:ph idx="1"/>
          </p:nvPr>
        </p:nvSpPr>
        <p:spPr>
          <a:xfrm>
            <a:off x="1066800" y="2362200"/>
            <a:ext cx="7010400" cy="2743200"/>
          </a:xfrm>
        </p:spPr>
        <p:txBody>
          <a:bodyPr>
            <a:normAutofit/>
          </a:bodyPr>
          <a:lstStyle/>
          <a:p>
            <a:pPr marL="342900" lvl="1" indent="-342900">
              <a:spcBef>
                <a:spcPts val="9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600" kern="1200" dirty="0" err="1">
                <a:ea typeface="+mn-ea"/>
                <a:cs typeface="+mn-cs"/>
              </a:rPr>
              <a:t>Tasktracker</a:t>
            </a:r>
            <a:endParaRPr lang="en-US" altLang="ko-KR" sz="2600" kern="1200" dirty="0">
              <a:ea typeface="+mn-ea"/>
              <a:cs typeface="+mn-cs"/>
            </a:endParaRPr>
          </a:p>
          <a:p>
            <a:pPr lvl="1" eaLnBrk="1" hangingPunct="1">
              <a:spcBef>
                <a:spcPts val="900"/>
              </a:spcBef>
              <a:buClr>
                <a:schemeClr val="accent2"/>
              </a:buClr>
              <a:buSzPct val="60000"/>
              <a:buBlip>
                <a:blip r:embed="rId2"/>
              </a:buBlip>
              <a:defRPr/>
            </a:pPr>
            <a:r>
              <a:rPr lang="en-US" altLang="ko-KR" sz="2200" dirty="0"/>
              <a:t>Notifying the </a:t>
            </a:r>
            <a:r>
              <a:rPr lang="en-US" altLang="ko-KR" sz="2200" dirty="0" err="1"/>
              <a:t>jobtracker</a:t>
            </a:r>
            <a:r>
              <a:rPr lang="en-US" altLang="ko-KR" sz="2200" dirty="0"/>
              <a:t> of the </a:t>
            </a:r>
            <a:r>
              <a:rPr lang="en-US" altLang="ko-KR" sz="2200" dirty="0" smtClean="0"/>
              <a:t>failure </a:t>
            </a:r>
            <a:r>
              <a:rPr lang="en-US" altLang="ko-KR" sz="2200" dirty="0"/>
              <a:t>using </a:t>
            </a:r>
            <a:r>
              <a:rPr lang="en-US" altLang="ko-KR" sz="2200" dirty="0" smtClean="0"/>
              <a:t>heartbeat.</a:t>
            </a:r>
            <a:endParaRPr lang="en-US" altLang="ko-KR" sz="2200" dirty="0"/>
          </a:p>
          <a:p>
            <a:pPr marL="342900" lvl="1" indent="-342900">
              <a:spcBef>
                <a:spcPts val="9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600" kern="1200" dirty="0" err="1">
                <a:ea typeface="+mn-ea"/>
                <a:cs typeface="+mn-cs"/>
              </a:rPr>
              <a:t>Jobtracker</a:t>
            </a:r>
            <a:endParaRPr lang="en-US" altLang="ko-KR" sz="2600" kern="1200" dirty="0">
              <a:ea typeface="+mn-ea"/>
              <a:cs typeface="+mn-cs"/>
            </a:endParaRPr>
          </a:p>
          <a:p>
            <a:pPr lvl="1" eaLnBrk="1" hangingPunct="1">
              <a:spcBef>
                <a:spcPts val="900"/>
              </a:spcBef>
              <a:buClr>
                <a:schemeClr val="accent2"/>
              </a:buClr>
              <a:buSzPct val="60000"/>
              <a:buBlip>
                <a:blip r:embed="rId2"/>
              </a:buBlip>
              <a:defRPr/>
            </a:pPr>
            <a:r>
              <a:rPr lang="en-US" altLang="ko-KR" sz="2200" dirty="0"/>
              <a:t>Reschedule the task on a different </a:t>
            </a:r>
            <a:r>
              <a:rPr lang="en-US" altLang="ko-KR" sz="2200" dirty="0" err="1"/>
              <a:t>TaskTracker</a:t>
            </a:r>
            <a:r>
              <a:rPr lang="en-US" altLang="ko-KR" sz="2200" dirty="0"/>
              <a:t>.</a:t>
            </a:r>
          </a:p>
          <a:p>
            <a:pPr lvl="1" eaLnBrk="1" hangingPunct="1">
              <a:spcBef>
                <a:spcPts val="900"/>
              </a:spcBef>
              <a:buClr>
                <a:schemeClr val="accent2"/>
              </a:buClr>
              <a:buSzPct val="60000"/>
              <a:buBlip>
                <a:blip r:embed="rId2"/>
              </a:buBlip>
              <a:defRPr/>
            </a:pPr>
            <a:r>
              <a:rPr lang="en-US" altLang="ko-KR" sz="2200" dirty="0"/>
              <a:t>A task failing four or more times will not be retried. </a:t>
            </a:r>
          </a:p>
        </p:txBody>
      </p:sp>
      <p:sp>
        <p:nvSpPr>
          <p:cNvPr id="5" name="제목 1"/>
          <p:cNvSpPr txBox="1">
            <a:spLocks/>
          </p:cNvSpPr>
          <p:nvPr/>
        </p:nvSpPr>
        <p:spPr>
          <a:xfrm>
            <a:off x="3581400" y="1066800"/>
            <a:ext cx="3581400" cy="350838"/>
          </a:xfrm>
          <a:prstGeom prst="rect">
            <a:avLst/>
          </a:prstGeom>
        </p:spPr>
        <p:txBody>
          <a:bodyPr>
            <a:norm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9pPr>
          </a:lstStyle>
          <a:p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Task Failure – 2</a:t>
            </a:r>
            <a:endParaRPr lang="en-US" altLang="ko-KR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850146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657600" y="1066800"/>
            <a:ext cx="3505200" cy="350838"/>
          </a:xfrm>
        </p:spPr>
        <p:txBody>
          <a:bodyPr>
            <a:normAutofit/>
          </a:bodyPr>
          <a:lstStyle/>
          <a:p>
            <a:r>
              <a:rPr lang="en-US" altLang="ko-KR" sz="1600" b="1" kern="1200" dirty="0" err="1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TaskTracker</a:t>
            </a:r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 </a:t>
            </a:r>
            <a:r>
              <a:rPr lang="en-US" altLang="ko-KR" sz="1600" b="1" kern="1200" dirty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Failure</a:t>
            </a:r>
          </a:p>
        </p:txBody>
      </p:sp>
      <p:sp>
        <p:nvSpPr>
          <p:cNvPr id="9" name="내용 개체 틀 2"/>
          <p:cNvSpPr>
            <a:spLocks noGrp="1"/>
          </p:cNvSpPr>
          <p:nvPr>
            <p:ph idx="1"/>
          </p:nvPr>
        </p:nvSpPr>
        <p:spPr>
          <a:xfrm>
            <a:off x="880533" y="1947334"/>
            <a:ext cx="7391400" cy="4038600"/>
          </a:xfrm>
        </p:spPr>
        <p:txBody>
          <a:bodyPr>
            <a:normAutofit fontScale="92500" lnSpcReduction="10000"/>
          </a:bodyPr>
          <a:lstStyle/>
          <a:p>
            <a:pPr marL="342900" lvl="1" indent="-342900">
              <a:spcBef>
                <a:spcPts val="9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kern="1200" dirty="0" err="1">
                <a:ea typeface="+mn-ea"/>
                <a:cs typeface="+mn-cs"/>
              </a:rPr>
              <a:t>Jobtracker</a:t>
            </a:r>
            <a:endParaRPr lang="en-US" altLang="ko-KR" kern="1200" dirty="0">
              <a:ea typeface="+mn-ea"/>
              <a:cs typeface="+mn-cs"/>
            </a:endParaRPr>
          </a:p>
          <a:p>
            <a:pPr lvl="1" eaLnBrk="1" hangingPunct="1">
              <a:spcBef>
                <a:spcPts val="900"/>
              </a:spcBef>
              <a:buClr>
                <a:schemeClr val="accent2"/>
              </a:buClr>
              <a:buSzPct val="60000"/>
              <a:buBlip>
                <a:blip r:embed="rId2"/>
              </a:buBlip>
              <a:defRPr/>
            </a:pPr>
            <a:r>
              <a:rPr lang="en-US" altLang="ko-KR" sz="2400" dirty="0"/>
              <a:t>Notices a </a:t>
            </a:r>
            <a:r>
              <a:rPr lang="en-US" altLang="ko-KR" sz="2400" dirty="0" err="1"/>
              <a:t>tasktracker</a:t>
            </a:r>
            <a:r>
              <a:rPr lang="en-US" altLang="ko-KR" sz="2400" dirty="0"/>
              <a:t> that has stopped sending </a:t>
            </a:r>
            <a:r>
              <a:rPr lang="en-US" altLang="ko-KR" sz="2400" dirty="0" smtClean="0"/>
              <a:t>heartbeats; </a:t>
            </a:r>
            <a:endParaRPr lang="en-US" altLang="ko-KR" sz="2400" dirty="0"/>
          </a:p>
          <a:p>
            <a:pPr lvl="1" eaLnBrk="1" hangingPunct="1">
              <a:spcBef>
                <a:spcPts val="900"/>
              </a:spcBef>
              <a:buClr>
                <a:schemeClr val="accent2"/>
              </a:buClr>
              <a:buSzPct val="60000"/>
              <a:buBlip>
                <a:blip r:embed="rId2"/>
              </a:buBlip>
              <a:defRPr/>
            </a:pPr>
            <a:r>
              <a:rPr lang="en-US" altLang="ko-KR" sz="2400" dirty="0"/>
              <a:t>Removes it from </a:t>
            </a:r>
            <a:r>
              <a:rPr lang="en-US" altLang="ko-KR" sz="2400" dirty="0" err="1" smtClean="0"/>
              <a:t>tasktracker</a:t>
            </a:r>
            <a:r>
              <a:rPr lang="en-US" altLang="ko-KR" sz="2400" dirty="0" smtClean="0"/>
              <a:t> pool </a:t>
            </a:r>
            <a:r>
              <a:rPr lang="en-US" altLang="ko-KR" sz="2400" dirty="0"/>
              <a:t>to schedule tasks </a:t>
            </a:r>
            <a:r>
              <a:rPr lang="en-US" altLang="ko-KR" sz="2400" dirty="0" smtClean="0"/>
              <a:t>on; </a:t>
            </a:r>
            <a:endParaRPr lang="en-US" altLang="ko-KR" sz="2400" dirty="0"/>
          </a:p>
          <a:p>
            <a:pPr lvl="1" eaLnBrk="1" hangingPunct="1">
              <a:spcBef>
                <a:spcPts val="900"/>
              </a:spcBef>
              <a:buClr>
                <a:schemeClr val="accent2"/>
              </a:buClr>
              <a:buSzPct val="60000"/>
              <a:buBlip>
                <a:blip r:embed="rId2"/>
              </a:buBlip>
              <a:defRPr/>
            </a:pPr>
            <a:r>
              <a:rPr lang="en-US" altLang="ko-KR" sz="2400" dirty="0"/>
              <a:t>Arranges for map tasks that were run and completed </a:t>
            </a:r>
            <a:r>
              <a:rPr lang="en-US" altLang="ko-KR" sz="2400" dirty="0" smtClean="0"/>
              <a:t>successfully on </a:t>
            </a:r>
            <a:r>
              <a:rPr lang="en-US" altLang="ko-KR" sz="2400" dirty="0"/>
              <a:t>that </a:t>
            </a:r>
            <a:r>
              <a:rPr lang="en-US" altLang="ko-KR" sz="2400" dirty="0" err="1"/>
              <a:t>tasktracker</a:t>
            </a:r>
            <a:r>
              <a:rPr lang="en-US" altLang="ko-KR" sz="2400" dirty="0"/>
              <a:t> to be rerun.</a:t>
            </a:r>
          </a:p>
          <a:p>
            <a:pPr marL="342900" lvl="1" indent="-342900">
              <a:spcBef>
                <a:spcPts val="9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kern="1200" dirty="0">
                <a:ea typeface="+mn-ea"/>
                <a:cs typeface="+mn-cs"/>
              </a:rPr>
              <a:t>Blacklist</a:t>
            </a:r>
          </a:p>
          <a:p>
            <a:pPr lvl="1" eaLnBrk="1" hangingPunct="1">
              <a:spcBef>
                <a:spcPts val="900"/>
              </a:spcBef>
              <a:buClr>
                <a:schemeClr val="accent2"/>
              </a:buClr>
              <a:buSzPct val="60000"/>
              <a:buBlip>
                <a:blip r:embed="rId2"/>
              </a:buBlip>
              <a:defRPr/>
            </a:pPr>
            <a:r>
              <a:rPr lang="en-US" altLang="ko-KR" sz="2400" dirty="0"/>
              <a:t>A </a:t>
            </a:r>
            <a:r>
              <a:rPr lang="en-US" altLang="ko-KR" sz="2400" dirty="0" err="1"/>
              <a:t>tasktracker</a:t>
            </a:r>
            <a:r>
              <a:rPr lang="en-US" altLang="ko-KR" sz="2400" dirty="0"/>
              <a:t> is blacklisted if its task failure rate is significantly higher than the average’s on the </a:t>
            </a:r>
            <a:r>
              <a:rPr lang="en-US" altLang="ko-KR" sz="2400" dirty="0" smtClean="0"/>
              <a:t>cluster.</a:t>
            </a:r>
            <a:endParaRPr lang="en-US" altLang="ko-KR" sz="2400" dirty="0"/>
          </a:p>
          <a:p>
            <a:pPr lvl="1" eaLnBrk="1" hangingPunct="1">
              <a:spcBef>
                <a:spcPts val="900"/>
              </a:spcBef>
              <a:buClr>
                <a:schemeClr val="accent2"/>
              </a:buClr>
              <a:buSzPct val="60000"/>
              <a:buBlip>
                <a:blip r:embed="rId2"/>
              </a:buBlip>
              <a:defRPr/>
            </a:pPr>
            <a:r>
              <a:rPr lang="en-US" altLang="ko-KR" sz="2400" dirty="0"/>
              <a:t>Blacklisted </a:t>
            </a:r>
            <a:r>
              <a:rPr lang="en-US" altLang="ko-KR" sz="2400" dirty="0" err="1"/>
              <a:t>tasktrackers</a:t>
            </a:r>
            <a:r>
              <a:rPr lang="en-US" altLang="ko-KR" sz="2400" dirty="0"/>
              <a:t> can be restarted to remove them from the </a:t>
            </a:r>
            <a:r>
              <a:rPr lang="en-US" altLang="ko-KR" sz="2400" dirty="0" smtClean="0"/>
              <a:t>blacklist.</a:t>
            </a:r>
            <a:endParaRPr lang="en-US" altLang="ko-KR" sz="2400" dirty="0"/>
          </a:p>
        </p:txBody>
      </p:sp>
    </p:spTree>
    <p:extLst>
      <p:ext uri="{BB962C8B-B14F-4D97-AF65-F5344CB8AC3E}">
        <p14:creationId xmlns:p14="http://schemas.microsoft.com/office/powerpoint/2010/main" val="421035082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86200" y="1066800"/>
            <a:ext cx="2971800" cy="350838"/>
          </a:xfrm>
        </p:spPr>
        <p:txBody>
          <a:bodyPr>
            <a:normAutofit/>
          </a:bodyPr>
          <a:lstStyle/>
          <a:p>
            <a:r>
              <a:rPr lang="en-US" altLang="ko-KR" sz="1600" b="1" kern="1200" dirty="0" err="1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Jobtracker</a:t>
            </a:r>
            <a:r>
              <a:rPr lang="en-US" altLang="ko-KR" sz="1600" b="1" kern="1200" dirty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 Failure</a:t>
            </a:r>
          </a:p>
        </p:txBody>
      </p:sp>
      <p:sp>
        <p:nvSpPr>
          <p:cNvPr id="9" name="내용 개체 틀 2"/>
          <p:cNvSpPr>
            <a:spLocks noGrp="1"/>
          </p:cNvSpPr>
          <p:nvPr>
            <p:ph idx="1"/>
          </p:nvPr>
        </p:nvSpPr>
        <p:spPr>
          <a:xfrm>
            <a:off x="838200" y="2057400"/>
            <a:ext cx="7497980" cy="3581400"/>
          </a:xfrm>
        </p:spPr>
        <p:txBody>
          <a:bodyPr>
            <a:normAutofit/>
          </a:bodyPr>
          <a:lstStyle/>
          <a:p>
            <a:pPr marL="342900" lvl="1" indent="-342900">
              <a:lnSpc>
                <a:spcPct val="110000"/>
              </a:lnSpc>
              <a:spcBef>
                <a:spcPts val="9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600" kern="1200" dirty="0">
                <a:ea typeface="+mn-ea"/>
                <a:cs typeface="+mn-cs"/>
              </a:rPr>
              <a:t>Currently, Hadoop has no mechanism for dealing with failure of the </a:t>
            </a:r>
            <a:r>
              <a:rPr lang="en-US" altLang="ko-KR" sz="2600" kern="1200" dirty="0" err="1" smtClean="0">
                <a:ea typeface="+mn-ea"/>
                <a:cs typeface="+mn-cs"/>
              </a:rPr>
              <a:t>jobtracker</a:t>
            </a:r>
            <a:r>
              <a:rPr lang="en-US" altLang="ko-KR" sz="2600" kern="1200" dirty="0" smtClean="0">
                <a:ea typeface="+mn-ea"/>
                <a:cs typeface="+mn-cs"/>
              </a:rPr>
              <a:t>.</a:t>
            </a:r>
            <a:endParaRPr lang="en-US" altLang="ko-KR" sz="2600" kern="1200" dirty="0">
              <a:ea typeface="+mn-ea"/>
              <a:cs typeface="+mn-cs"/>
            </a:endParaRPr>
          </a:p>
          <a:p>
            <a:pPr marL="342900" lvl="1" indent="-342900">
              <a:lnSpc>
                <a:spcPct val="110000"/>
              </a:lnSpc>
              <a:spcBef>
                <a:spcPts val="9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600" kern="1200" dirty="0" err="1">
                <a:ea typeface="+mn-ea"/>
                <a:cs typeface="+mn-cs"/>
              </a:rPr>
              <a:t>Jobtracker</a:t>
            </a:r>
            <a:r>
              <a:rPr lang="en-US" altLang="ko-KR" sz="2600" kern="1200" dirty="0">
                <a:ea typeface="+mn-ea"/>
                <a:cs typeface="+mn-cs"/>
              </a:rPr>
              <a:t> failure has a low chance of </a:t>
            </a:r>
            <a:r>
              <a:rPr lang="en-US" altLang="ko-KR" sz="2600" kern="1200" dirty="0" smtClean="0">
                <a:ea typeface="+mn-ea"/>
                <a:cs typeface="+mn-cs"/>
              </a:rPr>
              <a:t>occurring. </a:t>
            </a:r>
            <a:endParaRPr lang="en-US" altLang="ko-KR" sz="2600" dirty="0"/>
          </a:p>
          <a:p>
            <a:pPr marL="342900" lvl="1" indent="-342900">
              <a:lnSpc>
                <a:spcPct val="110000"/>
              </a:lnSpc>
              <a:spcBef>
                <a:spcPts val="9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600" kern="1200" dirty="0">
                <a:ea typeface="+mn-ea"/>
                <a:cs typeface="+mn-cs"/>
              </a:rPr>
              <a:t>Future work</a:t>
            </a:r>
          </a:p>
          <a:p>
            <a:pPr lvl="1" eaLnBrk="1" hangingPunct="1">
              <a:lnSpc>
                <a:spcPct val="90000"/>
              </a:lnSpc>
              <a:spcBef>
                <a:spcPts val="900"/>
              </a:spcBef>
              <a:buClr>
                <a:schemeClr val="accent2"/>
              </a:buClr>
              <a:buSzPct val="60000"/>
              <a:buBlip>
                <a:blip r:embed="rId2"/>
              </a:buBlip>
              <a:defRPr/>
            </a:pPr>
            <a:r>
              <a:rPr lang="en-US" altLang="ko-KR" sz="2200" dirty="0"/>
              <a:t>Running multiple </a:t>
            </a:r>
            <a:r>
              <a:rPr lang="en-US" altLang="ko-KR" sz="2200" dirty="0" err="1"/>
              <a:t>jobtrackers</a:t>
            </a:r>
            <a:r>
              <a:rPr lang="en-US" altLang="ko-KR" sz="2200" dirty="0"/>
              <a:t>, only one of which is the primary </a:t>
            </a:r>
            <a:r>
              <a:rPr lang="en-US" altLang="ko-KR" sz="2200" dirty="0" err="1"/>
              <a:t>jobtracker</a:t>
            </a:r>
            <a:r>
              <a:rPr lang="en-US" altLang="ko-KR" sz="2200" dirty="0"/>
              <a:t> at any </a:t>
            </a:r>
            <a:r>
              <a:rPr lang="en-US" altLang="ko-KR" sz="2200" dirty="0" smtClean="0"/>
              <a:t>time.</a:t>
            </a:r>
            <a:endParaRPr lang="en-US" altLang="ko-KR" sz="2200" dirty="0"/>
          </a:p>
          <a:p>
            <a:pPr lvl="1" eaLnBrk="1" hangingPunct="1">
              <a:lnSpc>
                <a:spcPct val="90000"/>
              </a:lnSpc>
              <a:spcBef>
                <a:spcPts val="900"/>
              </a:spcBef>
              <a:buClr>
                <a:schemeClr val="accent2"/>
              </a:buClr>
              <a:buSzPct val="60000"/>
              <a:buBlip>
                <a:blip r:embed="rId2"/>
              </a:buBlip>
              <a:defRPr/>
            </a:pPr>
            <a:r>
              <a:rPr lang="en-US" altLang="ko-KR" sz="2200" dirty="0"/>
              <a:t>Choosing the primary </a:t>
            </a:r>
            <a:r>
              <a:rPr lang="en-US" altLang="ko-KR" sz="2200" dirty="0" err="1"/>
              <a:t>jobtracker</a:t>
            </a:r>
            <a:r>
              <a:rPr lang="en-US" altLang="ko-KR" sz="2200" dirty="0"/>
              <a:t> using </a:t>
            </a:r>
            <a:r>
              <a:rPr lang="en-US" altLang="ko-KR" sz="2200" dirty="0" err="1"/>
              <a:t>ZooKeeper</a:t>
            </a:r>
            <a:r>
              <a:rPr lang="en-US" altLang="ko-KR" sz="2200" dirty="0"/>
              <a:t> as a coordination </a:t>
            </a:r>
            <a:r>
              <a:rPr lang="en-US" altLang="ko-KR" sz="2200" dirty="0" smtClean="0"/>
              <a:t>mechanism.</a:t>
            </a:r>
            <a:endParaRPr lang="en-US" altLang="ko-KR" sz="2200" dirty="0"/>
          </a:p>
          <a:p>
            <a:pPr lvl="1"/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75712953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419600" y="1066800"/>
            <a:ext cx="1981200" cy="381000"/>
          </a:xfrm>
        </p:spPr>
        <p:txBody>
          <a:bodyPr>
            <a:normAutofit/>
          </a:bodyPr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Failures in YARN</a:t>
            </a:r>
            <a:endParaRPr lang="en-US" altLang="ko-KR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sp>
        <p:nvSpPr>
          <p:cNvPr id="9" name="내용 개체 틀 2"/>
          <p:cNvSpPr>
            <a:spLocks noGrp="1"/>
          </p:cNvSpPr>
          <p:nvPr>
            <p:ph idx="1"/>
          </p:nvPr>
        </p:nvSpPr>
        <p:spPr>
          <a:xfrm>
            <a:off x="1295400" y="2209800"/>
            <a:ext cx="6553200" cy="3200400"/>
          </a:xfrm>
        </p:spPr>
        <p:txBody>
          <a:bodyPr>
            <a:normAutofit lnSpcReduction="10000"/>
          </a:bodyPr>
          <a:lstStyle/>
          <a:p>
            <a:pPr marL="0" lvl="1" indent="0">
              <a:lnSpc>
                <a:spcPct val="90000"/>
              </a:lnSpc>
              <a:spcBef>
                <a:spcPts val="900"/>
              </a:spcBef>
              <a:buClr>
                <a:schemeClr val="accent2"/>
              </a:buClr>
              <a:buNone/>
              <a:defRPr/>
            </a:pPr>
            <a:r>
              <a:rPr lang="en-US" altLang="ko-KR" sz="2600" kern="1200" dirty="0" smtClean="0">
                <a:ea typeface="+mn-ea"/>
                <a:cs typeface="+mn-cs"/>
              </a:rPr>
              <a:t>Failures in YARN:</a:t>
            </a:r>
          </a:p>
          <a:p>
            <a:pPr marL="342900" lvl="1" indent="-342900">
              <a:lnSpc>
                <a:spcPct val="90000"/>
              </a:lnSpc>
              <a:spcBef>
                <a:spcPts val="9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300" kern="1200" dirty="0" smtClean="0">
                <a:ea typeface="+mn-ea"/>
                <a:cs typeface="+mn-cs"/>
              </a:rPr>
              <a:t>Task failure – is similar to the classic case.</a:t>
            </a:r>
            <a:endParaRPr lang="en-US" altLang="ko-KR" sz="2300" kern="1200" dirty="0">
              <a:ea typeface="+mn-ea"/>
              <a:cs typeface="+mn-cs"/>
            </a:endParaRPr>
          </a:p>
          <a:p>
            <a:pPr marL="342900" lvl="1" indent="-342900">
              <a:lnSpc>
                <a:spcPct val="90000"/>
              </a:lnSpc>
              <a:spcBef>
                <a:spcPts val="9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300" kern="1200" dirty="0" smtClean="0">
                <a:ea typeface="+mn-ea"/>
                <a:cs typeface="+mn-cs"/>
              </a:rPr>
              <a:t>Application master failure – give several attempts to succeed; marked as failed if they fail once.</a:t>
            </a:r>
          </a:p>
          <a:p>
            <a:pPr marL="342900" lvl="1" indent="-342900">
              <a:lnSpc>
                <a:spcPct val="90000"/>
              </a:lnSpc>
              <a:spcBef>
                <a:spcPts val="9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300" kern="1200" dirty="0" smtClean="0">
                <a:ea typeface="+mn-ea"/>
                <a:cs typeface="+mn-cs"/>
              </a:rPr>
              <a:t>Node manager failure – resource manager removes node manager from its pool of available nodes. </a:t>
            </a:r>
          </a:p>
          <a:p>
            <a:pPr marL="342900" lvl="1" indent="-342900">
              <a:lnSpc>
                <a:spcPct val="90000"/>
              </a:lnSpc>
              <a:spcBef>
                <a:spcPts val="9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300" kern="1200" dirty="0" smtClean="0">
                <a:ea typeface="+mn-ea"/>
                <a:cs typeface="+mn-cs"/>
              </a:rPr>
              <a:t>Resource manager failure – a new resource manager instance is brought up and it recovers from the saved state.</a:t>
            </a:r>
            <a:endParaRPr lang="en-US" altLang="ko-KR" sz="2300" kern="1200" dirty="0"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1078135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657600" y="1066800"/>
            <a:ext cx="3505200" cy="350838"/>
          </a:xfrm>
        </p:spPr>
        <p:txBody>
          <a:bodyPr>
            <a:normAutofit/>
          </a:bodyPr>
          <a:lstStyle/>
          <a:p>
            <a:r>
              <a:rPr lang="en-US" altLang="ko-KR" sz="1600" b="1" kern="1200" dirty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Job Scheduling</a:t>
            </a:r>
          </a:p>
        </p:txBody>
      </p:sp>
      <p:sp>
        <p:nvSpPr>
          <p:cNvPr id="9" name="내용 개체 틀 2"/>
          <p:cNvSpPr>
            <a:spLocks noGrp="1"/>
          </p:cNvSpPr>
          <p:nvPr>
            <p:ph idx="1"/>
          </p:nvPr>
        </p:nvSpPr>
        <p:spPr>
          <a:xfrm>
            <a:off x="533400" y="2057400"/>
            <a:ext cx="8001000" cy="3505200"/>
          </a:xfrm>
        </p:spPr>
        <p:txBody>
          <a:bodyPr>
            <a:normAutofit/>
          </a:bodyPr>
          <a:lstStyle/>
          <a:p>
            <a:pPr marL="342900" lvl="1" indent="-342900">
              <a:lnSpc>
                <a:spcPct val="110000"/>
              </a:lnSpc>
              <a:spcBef>
                <a:spcPts val="9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300" b="1" kern="1200" dirty="0">
                <a:ea typeface="+mn-ea"/>
                <a:cs typeface="+mn-cs"/>
              </a:rPr>
              <a:t>FIFO scheduler</a:t>
            </a:r>
            <a:r>
              <a:rPr lang="en-US" altLang="ko-KR" sz="2300" kern="1200" dirty="0">
                <a:ea typeface="+mn-ea"/>
                <a:cs typeface="+mn-cs"/>
              </a:rPr>
              <a:t> (default) – run in order of submission; later on, can set a job’s priority, but does not support preemption.</a:t>
            </a:r>
          </a:p>
          <a:p>
            <a:pPr marL="342900" lvl="1" indent="-342900">
              <a:lnSpc>
                <a:spcPct val="110000"/>
              </a:lnSpc>
              <a:spcBef>
                <a:spcPts val="9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300" b="1" kern="1200" dirty="0">
                <a:ea typeface="+mn-ea"/>
                <a:cs typeface="+mn-cs"/>
              </a:rPr>
              <a:t>Fair scheduler </a:t>
            </a:r>
            <a:r>
              <a:rPr lang="en-US" altLang="ko-KR" sz="2300" kern="1200" dirty="0">
                <a:ea typeface="+mn-ea"/>
                <a:cs typeface="+mn-cs"/>
              </a:rPr>
              <a:t>– each user gets their own pool, where jobs are placed in; a user who submits more jobs will not get any more cluster resources; support preemption.</a:t>
            </a:r>
          </a:p>
          <a:p>
            <a:pPr marL="342900" lvl="1" indent="-342900">
              <a:lnSpc>
                <a:spcPct val="110000"/>
              </a:lnSpc>
              <a:spcBef>
                <a:spcPts val="9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300" b="1" kern="1200" dirty="0">
                <a:ea typeface="+mn-ea"/>
                <a:cs typeface="+mn-cs"/>
              </a:rPr>
              <a:t>Capacity scheduler </a:t>
            </a:r>
            <a:r>
              <a:rPr lang="en-US" altLang="ko-KR" sz="2300" kern="1200" dirty="0">
                <a:ea typeface="+mn-ea"/>
                <a:cs typeface="+mn-cs"/>
              </a:rPr>
              <a:t>– a cluster is made up of a number of queues, which may be hierarchical; each queue has an allocated capacity; within each queue, jobs are scheduled using FIFO.</a:t>
            </a:r>
          </a:p>
        </p:txBody>
      </p:sp>
    </p:spTree>
    <p:extLst>
      <p:ext uri="{BB962C8B-B14F-4D97-AF65-F5344CB8AC3E}">
        <p14:creationId xmlns:p14="http://schemas.microsoft.com/office/powerpoint/2010/main" val="297289535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10000" y="1066800"/>
            <a:ext cx="3276600" cy="350838"/>
          </a:xfrm>
        </p:spPr>
        <p:txBody>
          <a:bodyPr>
            <a:normAutofit/>
          </a:bodyPr>
          <a:lstStyle/>
          <a:p>
            <a:r>
              <a:rPr lang="en-US" altLang="ko-KR" sz="1600" b="1" kern="1200" dirty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Shuffle and Sort</a:t>
            </a:r>
          </a:p>
        </p:txBody>
      </p:sp>
      <p:pic>
        <p:nvPicPr>
          <p:cNvPr id="5" name="그림 4" descr="그림 1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33400" y="2667000"/>
            <a:ext cx="8077200" cy="3733800"/>
          </a:xfrm>
          <a:prstGeom prst="rect">
            <a:avLst/>
          </a:prstGeom>
        </p:spPr>
      </p:pic>
      <p:sp>
        <p:nvSpPr>
          <p:cNvPr id="6" name="내용 개체 틀 2"/>
          <p:cNvSpPr>
            <a:spLocks noGrp="1"/>
          </p:cNvSpPr>
          <p:nvPr>
            <p:ph idx="1"/>
          </p:nvPr>
        </p:nvSpPr>
        <p:spPr>
          <a:xfrm>
            <a:off x="1219200" y="1752600"/>
            <a:ext cx="6705600" cy="838200"/>
          </a:xfrm>
        </p:spPr>
        <p:txBody>
          <a:bodyPr>
            <a:normAutofit/>
          </a:bodyPr>
          <a:lstStyle/>
          <a:p>
            <a:pPr marL="342900" lvl="1" indent="-342900">
              <a:lnSpc>
                <a:spcPct val="110000"/>
              </a:lnSpc>
              <a:spcBef>
                <a:spcPts val="9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100" b="1" kern="1200" dirty="0" smtClean="0">
                <a:ea typeface="+mn-ea"/>
                <a:cs typeface="+mn-cs"/>
              </a:rPr>
              <a:t>Shuffle </a:t>
            </a:r>
            <a:r>
              <a:rPr lang="en-US" altLang="ko-KR" sz="2100" kern="1200" dirty="0" smtClean="0">
                <a:ea typeface="+mn-ea"/>
                <a:cs typeface="+mn-cs"/>
              </a:rPr>
              <a:t>is the process that the system performs the </a:t>
            </a:r>
            <a:r>
              <a:rPr lang="en-US" altLang="ko-KR" sz="2100" b="1" kern="1200" dirty="0" smtClean="0">
                <a:ea typeface="+mn-ea"/>
                <a:cs typeface="+mn-cs"/>
              </a:rPr>
              <a:t>sort</a:t>
            </a:r>
            <a:r>
              <a:rPr lang="en-US" altLang="ko-KR" sz="2100" kern="1200" dirty="0" smtClean="0">
                <a:ea typeface="+mn-ea"/>
                <a:cs typeface="+mn-cs"/>
              </a:rPr>
              <a:t> and transfers the map outputs to the reducers as inputs. </a:t>
            </a:r>
            <a:endParaRPr lang="en-US" altLang="ko-KR" sz="2100" kern="1200" dirty="0"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7020020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86200" y="1066800"/>
            <a:ext cx="2971800" cy="350838"/>
          </a:xfrm>
        </p:spPr>
        <p:txBody>
          <a:bodyPr>
            <a:normAutofit/>
          </a:bodyPr>
          <a:lstStyle/>
          <a:p>
            <a:r>
              <a:rPr lang="en-US" altLang="ko-KR" sz="1600" b="1" kern="1200" dirty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The Map Side</a:t>
            </a:r>
          </a:p>
        </p:txBody>
      </p:sp>
      <p:sp>
        <p:nvSpPr>
          <p:cNvPr id="5" name="내용 개체 틀 2"/>
          <p:cNvSpPr>
            <a:spLocks noGrp="1"/>
          </p:cNvSpPr>
          <p:nvPr>
            <p:ph idx="1"/>
          </p:nvPr>
        </p:nvSpPr>
        <p:spPr>
          <a:xfrm>
            <a:off x="838200" y="1981200"/>
            <a:ext cx="7162800" cy="3733800"/>
          </a:xfrm>
        </p:spPr>
        <p:txBody>
          <a:bodyPr>
            <a:normAutofit/>
          </a:bodyPr>
          <a:lstStyle/>
          <a:p>
            <a:pPr marL="342900" lvl="1" indent="-342900">
              <a:spcBef>
                <a:spcPts val="9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400" kern="1200" dirty="0">
                <a:ea typeface="+mn-ea"/>
                <a:cs typeface="+mn-cs"/>
              </a:rPr>
              <a:t>Buffering </a:t>
            </a:r>
            <a:r>
              <a:rPr lang="en-US" altLang="ko-KR" sz="2400" kern="1200" dirty="0" smtClean="0">
                <a:ea typeface="+mn-ea"/>
                <a:cs typeface="+mn-cs"/>
              </a:rPr>
              <a:t>write and spill to disk</a:t>
            </a:r>
            <a:endParaRPr lang="en-US" altLang="ko-KR" sz="2400" kern="1200" dirty="0">
              <a:ea typeface="+mn-ea"/>
              <a:cs typeface="+mn-cs"/>
            </a:endParaRPr>
          </a:p>
          <a:p>
            <a:pPr lvl="1" eaLnBrk="1" hangingPunct="1">
              <a:spcBef>
                <a:spcPts val="900"/>
              </a:spcBef>
              <a:buClr>
                <a:schemeClr val="accent2"/>
              </a:buClr>
              <a:buSzPct val="60000"/>
              <a:buBlip>
                <a:blip r:embed="rId2"/>
              </a:buBlip>
              <a:defRPr/>
            </a:pPr>
            <a:r>
              <a:rPr lang="en-US" altLang="ko-KR" sz="2100" dirty="0"/>
              <a:t>Circular memory buffer of 100MB by default;</a:t>
            </a:r>
          </a:p>
          <a:p>
            <a:pPr lvl="1" eaLnBrk="1" hangingPunct="1">
              <a:spcBef>
                <a:spcPts val="900"/>
              </a:spcBef>
              <a:buClr>
                <a:schemeClr val="accent2"/>
              </a:buClr>
              <a:buSzPct val="60000"/>
              <a:buBlip>
                <a:blip r:embed="rId2"/>
              </a:buBlip>
              <a:defRPr/>
            </a:pPr>
            <a:r>
              <a:rPr lang="en-US" altLang="ko-KR" sz="2100" dirty="0"/>
              <a:t>A background thread spills the contents to </a:t>
            </a:r>
            <a:r>
              <a:rPr lang="en-US" altLang="ko-KR" sz="2100" dirty="0" smtClean="0"/>
              <a:t>disk when </a:t>
            </a:r>
            <a:r>
              <a:rPr lang="en-US" altLang="ko-KR" sz="2100" dirty="0"/>
              <a:t>the contents of the buffer reaches a certain threshold (default: 0.80 = 80%).</a:t>
            </a:r>
          </a:p>
          <a:p>
            <a:pPr lvl="1" eaLnBrk="1" hangingPunct="1">
              <a:spcBef>
                <a:spcPts val="900"/>
              </a:spcBef>
              <a:buClr>
                <a:schemeClr val="accent2"/>
              </a:buClr>
              <a:buSzPct val="60000"/>
              <a:buBlip>
                <a:blip r:embed="rId2"/>
              </a:buBlip>
              <a:defRPr/>
            </a:pPr>
            <a:r>
              <a:rPr lang="en-US" altLang="ko-KR" sz="2100" dirty="0" smtClean="0"/>
              <a:t>Before writing to disk, the </a:t>
            </a:r>
            <a:r>
              <a:rPr lang="en-US" altLang="ko-KR" sz="2100" dirty="0"/>
              <a:t>background thread partitions the data corresponding to the </a:t>
            </a:r>
            <a:r>
              <a:rPr lang="en-US" altLang="ko-KR" sz="2100" dirty="0" smtClean="0"/>
              <a:t>reducers.</a:t>
            </a:r>
            <a:endParaRPr lang="en-US" altLang="ko-KR" sz="2100" dirty="0"/>
          </a:p>
          <a:p>
            <a:pPr lvl="1" eaLnBrk="1" hangingPunct="1">
              <a:spcBef>
                <a:spcPts val="900"/>
              </a:spcBef>
              <a:buClr>
                <a:schemeClr val="accent2"/>
              </a:buClr>
              <a:buSzPct val="60000"/>
              <a:buBlip>
                <a:blip r:embed="rId2"/>
              </a:buBlip>
              <a:defRPr/>
            </a:pPr>
            <a:r>
              <a:rPr lang="en-US" altLang="ko-KR" sz="2100" dirty="0"/>
              <a:t>The thread performs an in-memory sort by key, within each </a:t>
            </a:r>
            <a:r>
              <a:rPr lang="en-US" altLang="ko-KR" sz="2100" dirty="0" smtClean="0"/>
              <a:t>partition.</a:t>
            </a:r>
            <a:endParaRPr lang="en-US" altLang="ko-KR" sz="2100" dirty="0"/>
          </a:p>
        </p:txBody>
      </p:sp>
    </p:spTree>
    <p:extLst>
      <p:ext uri="{BB962C8B-B14F-4D97-AF65-F5344CB8AC3E}">
        <p14:creationId xmlns:p14="http://schemas.microsoft.com/office/powerpoint/2010/main" val="216543443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191000" y="1066800"/>
            <a:ext cx="2362200" cy="350838"/>
          </a:xfrm>
        </p:spPr>
        <p:txBody>
          <a:bodyPr>
            <a:normAutofit/>
          </a:bodyPr>
          <a:lstStyle/>
          <a:p>
            <a:r>
              <a:rPr lang="en-US" altLang="ko-KR" sz="1600" b="1" kern="1200" dirty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The Reduce Side</a:t>
            </a:r>
          </a:p>
        </p:txBody>
      </p:sp>
      <p:sp>
        <p:nvSpPr>
          <p:cNvPr id="5" name="내용 개체 틀 2"/>
          <p:cNvSpPr>
            <a:spLocks noGrp="1"/>
          </p:cNvSpPr>
          <p:nvPr>
            <p:ph idx="1"/>
          </p:nvPr>
        </p:nvSpPr>
        <p:spPr>
          <a:xfrm>
            <a:off x="1219200" y="2057400"/>
            <a:ext cx="6477000" cy="3429000"/>
          </a:xfrm>
        </p:spPr>
        <p:txBody>
          <a:bodyPr>
            <a:normAutofit/>
          </a:bodyPr>
          <a:lstStyle/>
          <a:p>
            <a:pPr marL="342900" lvl="1" indent="-342900">
              <a:spcBef>
                <a:spcPts val="9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400" kern="1200" dirty="0">
                <a:ea typeface="+mn-ea"/>
                <a:cs typeface="+mn-cs"/>
              </a:rPr>
              <a:t>Copy phase</a:t>
            </a:r>
          </a:p>
          <a:p>
            <a:pPr lvl="1" eaLnBrk="1" hangingPunct="1">
              <a:spcBef>
                <a:spcPts val="900"/>
              </a:spcBef>
              <a:buClr>
                <a:schemeClr val="accent2"/>
              </a:buClr>
              <a:buSzPct val="60000"/>
              <a:buBlip>
                <a:blip r:embed="rId2"/>
              </a:buBlip>
              <a:defRPr/>
            </a:pPr>
            <a:r>
              <a:rPr lang="en-US" altLang="ko-KR" sz="2100" dirty="0"/>
              <a:t>Map tasks may finish at different </a:t>
            </a:r>
            <a:r>
              <a:rPr lang="en-US" altLang="ko-KR" sz="2100" dirty="0" smtClean="0"/>
              <a:t>times.</a:t>
            </a:r>
            <a:endParaRPr lang="en-US" altLang="ko-KR" sz="2100" dirty="0"/>
          </a:p>
          <a:p>
            <a:pPr lvl="1" eaLnBrk="1" hangingPunct="1">
              <a:spcBef>
                <a:spcPts val="900"/>
              </a:spcBef>
              <a:buClr>
                <a:schemeClr val="accent2"/>
              </a:buClr>
              <a:buSzPct val="60000"/>
              <a:buBlip>
                <a:blip r:embed="rId2"/>
              </a:buBlip>
              <a:defRPr/>
            </a:pPr>
            <a:r>
              <a:rPr lang="en-US" altLang="ko-KR" sz="2100" dirty="0"/>
              <a:t>Reduce task starts copying their outputs </a:t>
            </a:r>
            <a:r>
              <a:rPr lang="en-US" altLang="ko-KR" sz="2100" dirty="0" smtClean="0"/>
              <a:t>as </a:t>
            </a:r>
            <a:r>
              <a:rPr lang="en-US" altLang="ko-KR" sz="2100" dirty="0"/>
              <a:t>soon as each </a:t>
            </a:r>
            <a:r>
              <a:rPr lang="en-US" altLang="ko-KR" sz="2100" dirty="0" smtClean="0"/>
              <a:t>completes. </a:t>
            </a:r>
            <a:endParaRPr lang="en-US" altLang="ko-KR" sz="2100" dirty="0"/>
          </a:p>
          <a:p>
            <a:pPr lvl="1" eaLnBrk="1" hangingPunct="1">
              <a:spcBef>
                <a:spcPts val="900"/>
              </a:spcBef>
              <a:buClr>
                <a:schemeClr val="accent2"/>
              </a:buClr>
              <a:buSzPct val="60000"/>
              <a:buBlip>
                <a:blip r:embed="rId2"/>
              </a:buBlip>
              <a:defRPr/>
            </a:pPr>
            <a:r>
              <a:rPr lang="en-US" altLang="ko-KR" sz="2100" dirty="0"/>
              <a:t>The map outputs also written using </a:t>
            </a:r>
            <a:r>
              <a:rPr lang="en-US" altLang="ko-KR" sz="2100" dirty="0" smtClean="0"/>
              <a:t>memory buffer </a:t>
            </a:r>
            <a:r>
              <a:rPr lang="en-US" altLang="ko-KR" sz="2100" dirty="0"/>
              <a:t>and spill to disk if it reaches a threshold size.</a:t>
            </a:r>
          </a:p>
          <a:p>
            <a:pPr marL="342900" lvl="1" indent="-342900">
              <a:spcBef>
                <a:spcPts val="9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400" kern="1200" dirty="0">
                <a:ea typeface="+mn-ea"/>
                <a:cs typeface="+mn-cs"/>
              </a:rPr>
              <a:t>Sort phase (merge phase)</a:t>
            </a:r>
          </a:p>
          <a:p>
            <a:pPr lvl="1" eaLnBrk="1" hangingPunct="1">
              <a:spcBef>
                <a:spcPts val="900"/>
              </a:spcBef>
              <a:buClr>
                <a:schemeClr val="accent2"/>
              </a:buClr>
              <a:buSzPct val="60000"/>
              <a:buBlip>
                <a:blip r:embed="rId2"/>
              </a:buBlip>
              <a:defRPr/>
            </a:pPr>
            <a:r>
              <a:rPr lang="en-US" altLang="ko-KR" sz="2100" dirty="0"/>
              <a:t>Map outputs are merged in rounds.</a:t>
            </a:r>
          </a:p>
        </p:txBody>
      </p:sp>
    </p:spTree>
    <p:extLst>
      <p:ext uri="{BB962C8B-B14F-4D97-AF65-F5344CB8AC3E}">
        <p14:creationId xmlns:p14="http://schemas.microsoft.com/office/powerpoint/2010/main" val="76861166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191000" y="1066800"/>
            <a:ext cx="2362200" cy="350838"/>
          </a:xfrm>
        </p:spPr>
        <p:txBody>
          <a:bodyPr>
            <a:normAutofit/>
          </a:bodyPr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Configuration Tuning</a:t>
            </a:r>
            <a:endParaRPr lang="en-US" altLang="ko-KR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sp>
        <p:nvSpPr>
          <p:cNvPr id="5" name="내용 개체 틀 2"/>
          <p:cNvSpPr>
            <a:spLocks noGrp="1"/>
          </p:cNvSpPr>
          <p:nvPr>
            <p:ph idx="1"/>
          </p:nvPr>
        </p:nvSpPr>
        <p:spPr>
          <a:xfrm>
            <a:off x="1295400" y="2133600"/>
            <a:ext cx="6477000" cy="3276600"/>
          </a:xfrm>
        </p:spPr>
        <p:txBody>
          <a:bodyPr>
            <a:noAutofit/>
          </a:bodyPr>
          <a:lstStyle/>
          <a:p>
            <a:pPr marL="342900" lvl="1" indent="-342900">
              <a:spcBef>
                <a:spcPts val="9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200" kern="1200" dirty="0" smtClean="0">
                <a:ea typeface="+mn-ea"/>
                <a:cs typeface="+mn-cs"/>
              </a:rPr>
              <a:t>The general principle is to give the shuffle as much memory as possible.</a:t>
            </a:r>
          </a:p>
          <a:p>
            <a:pPr marL="342900" lvl="1" indent="-342900">
              <a:spcBef>
                <a:spcPts val="9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200" kern="1200" dirty="0" smtClean="0">
                <a:ea typeface="+mn-ea"/>
                <a:cs typeface="+mn-cs"/>
              </a:rPr>
              <a:t>For map, the best performance can be obtained by avoiding multiple spills to disk; one is optimal.</a:t>
            </a:r>
          </a:p>
          <a:p>
            <a:pPr marL="342900" lvl="1" indent="-342900">
              <a:spcBef>
                <a:spcPts val="9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200" kern="1200" dirty="0" smtClean="0">
                <a:ea typeface="+mn-ea"/>
                <a:cs typeface="+mn-cs"/>
              </a:rPr>
              <a:t>For reduce, </a:t>
            </a:r>
            <a:r>
              <a:rPr lang="en-US" altLang="ko-KR" sz="2200" kern="1200" dirty="0">
                <a:ea typeface="+mn-ea"/>
                <a:cs typeface="+mn-cs"/>
              </a:rPr>
              <a:t>the best performance is obtained when the intermediate data </a:t>
            </a:r>
            <a:r>
              <a:rPr lang="en-US" altLang="ko-KR" sz="2200" kern="1200" dirty="0" smtClean="0">
                <a:ea typeface="+mn-ea"/>
                <a:cs typeface="+mn-cs"/>
              </a:rPr>
              <a:t>can reside </a:t>
            </a:r>
            <a:r>
              <a:rPr lang="en-US" altLang="ko-KR" sz="2200" kern="1200" dirty="0">
                <a:ea typeface="+mn-ea"/>
                <a:cs typeface="+mn-cs"/>
              </a:rPr>
              <a:t>entirely in memory</a:t>
            </a:r>
            <a:r>
              <a:rPr lang="en-US" altLang="ko-KR" sz="2200" kern="1200" dirty="0" smtClean="0">
                <a:ea typeface="+mn-ea"/>
                <a:cs typeface="+mn-cs"/>
              </a:rPr>
              <a:t>.</a:t>
            </a:r>
          </a:p>
          <a:p>
            <a:pPr marL="342900" lvl="1" indent="-342900">
              <a:spcBef>
                <a:spcPts val="9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200" kern="1200" dirty="0" smtClean="0">
                <a:ea typeface="+mn-ea"/>
                <a:cs typeface="+mn-cs"/>
              </a:rPr>
              <a:t>Hadoop </a:t>
            </a:r>
            <a:r>
              <a:rPr lang="en-US" altLang="ko-KR" sz="2200" kern="1200" dirty="0">
                <a:ea typeface="+mn-ea"/>
                <a:cs typeface="+mn-cs"/>
              </a:rPr>
              <a:t>uses a buffer size of 4 KB by default, which is low, so </a:t>
            </a:r>
            <a:r>
              <a:rPr lang="en-US" altLang="ko-KR" sz="2200" kern="1200" dirty="0" smtClean="0">
                <a:ea typeface="+mn-ea"/>
                <a:cs typeface="+mn-cs"/>
              </a:rPr>
              <a:t>you should </a:t>
            </a:r>
            <a:r>
              <a:rPr lang="en-US" altLang="ko-KR" sz="2200" kern="1200" dirty="0">
                <a:ea typeface="+mn-ea"/>
                <a:cs typeface="+mn-cs"/>
              </a:rPr>
              <a:t>increase this across the </a:t>
            </a:r>
            <a:r>
              <a:rPr lang="en-US" altLang="ko-KR" sz="2200" kern="1200" dirty="0" smtClean="0">
                <a:ea typeface="+mn-ea"/>
                <a:cs typeface="+mn-cs"/>
              </a:rPr>
              <a:t>cluster.</a:t>
            </a:r>
            <a:endParaRPr lang="en-US" altLang="ko-KR" sz="2200" kern="1200" dirty="0"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9597978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581400" y="1066800"/>
            <a:ext cx="3505200" cy="350838"/>
          </a:xfrm>
        </p:spPr>
        <p:txBody>
          <a:bodyPr>
            <a:normAutofit/>
          </a:bodyPr>
          <a:lstStyle/>
          <a:p>
            <a:r>
              <a:rPr lang="en-US" altLang="ko-KR" sz="1600" b="1" kern="1200" dirty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Speculative Execution</a:t>
            </a:r>
          </a:p>
        </p:txBody>
      </p:sp>
      <p:sp>
        <p:nvSpPr>
          <p:cNvPr id="9" name="내용 개체 틀 2"/>
          <p:cNvSpPr>
            <a:spLocks noGrp="1"/>
          </p:cNvSpPr>
          <p:nvPr>
            <p:ph idx="1"/>
          </p:nvPr>
        </p:nvSpPr>
        <p:spPr>
          <a:xfrm>
            <a:off x="990600" y="2209800"/>
            <a:ext cx="7116980" cy="3124200"/>
          </a:xfrm>
        </p:spPr>
        <p:txBody>
          <a:bodyPr>
            <a:normAutofit/>
          </a:bodyPr>
          <a:lstStyle/>
          <a:p>
            <a:pPr marL="342900" lvl="1" indent="-342900">
              <a:spcBef>
                <a:spcPts val="9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400" kern="1200" dirty="0">
                <a:ea typeface="+mn-ea"/>
                <a:cs typeface="+mn-cs"/>
              </a:rPr>
              <a:t>Job execution time is sensitive to slow-running </a:t>
            </a:r>
            <a:r>
              <a:rPr lang="en-US" altLang="ko-KR" sz="2400" kern="1200" dirty="0" smtClean="0">
                <a:ea typeface="+mn-ea"/>
                <a:cs typeface="+mn-cs"/>
              </a:rPr>
              <a:t>tasks.</a:t>
            </a:r>
            <a:endParaRPr lang="en-US" altLang="ko-KR" sz="2400" kern="1200" dirty="0">
              <a:ea typeface="+mn-ea"/>
              <a:cs typeface="+mn-cs"/>
            </a:endParaRPr>
          </a:p>
          <a:p>
            <a:pPr lvl="1" eaLnBrk="1" hangingPunct="1">
              <a:spcBef>
                <a:spcPts val="900"/>
              </a:spcBef>
              <a:buClr>
                <a:schemeClr val="accent2"/>
              </a:buClr>
              <a:buSzPct val="60000"/>
              <a:buBlip>
                <a:blip r:embed="rId2"/>
              </a:buBlip>
              <a:defRPr/>
            </a:pPr>
            <a:r>
              <a:rPr lang="en-US" altLang="ko-KR" sz="2100" dirty="0"/>
              <a:t>Only one straggling task can make the whole job take significantly </a:t>
            </a:r>
            <a:r>
              <a:rPr lang="en-US" altLang="ko-KR" sz="2100" dirty="0" smtClean="0"/>
              <a:t>longer.</a:t>
            </a:r>
            <a:endParaRPr lang="en-US" altLang="ko-KR" sz="2100" dirty="0"/>
          </a:p>
          <a:p>
            <a:pPr marL="342900" lvl="1" indent="-342900">
              <a:spcBef>
                <a:spcPts val="9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400" kern="1200" dirty="0">
                <a:ea typeface="+mn-ea"/>
                <a:cs typeface="+mn-cs"/>
              </a:rPr>
              <a:t>Speculative task – another, equivalent, backup </a:t>
            </a:r>
            <a:r>
              <a:rPr lang="en-US" altLang="ko-KR" sz="2400" kern="1200" dirty="0" smtClean="0">
                <a:ea typeface="+mn-ea"/>
                <a:cs typeface="+mn-cs"/>
              </a:rPr>
              <a:t>task.</a:t>
            </a:r>
            <a:endParaRPr lang="en-US" altLang="ko-KR" sz="2400" kern="1200" dirty="0">
              <a:ea typeface="+mn-ea"/>
              <a:cs typeface="+mn-cs"/>
            </a:endParaRPr>
          </a:p>
          <a:p>
            <a:pPr lvl="1" eaLnBrk="1" hangingPunct="1">
              <a:spcBef>
                <a:spcPts val="900"/>
              </a:spcBef>
              <a:buClr>
                <a:schemeClr val="accent2"/>
              </a:buClr>
              <a:buSzPct val="60000"/>
              <a:buBlip>
                <a:blip r:embed="rId2"/>
              </a:buBlip>
              <a:defRPr/>
            </a:pPr>
            <a:r>
              <a:rPr lang="en-US" altLang="ko-KR" sz="2100" dirty="0"/>
              <a:t>Launched only after all the tasks have been launched.</a:t>
            </a:r>
          </a:p>
          <a:p>
            <a:pPr marL="342900" lvl="1" indent="-342900">
              <a:spcBef>
                <a:spcPts val="9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400" kern="1200" dirty="0">
                <a:ea typeface="+mn-ea"/>
                <a:cs typeface="+mn-cs"/>
              </a:rPr>
              <a:t>When a task completes successfully, any duplicate tasks that are running are killed.</a:t>
            </a:r>
          </a:p>
        </p:txBody>
      </p:sp>
    </p:spTree>
    <p:extLst>
      <p:ext uri="{BB962C8B-B14F-4D97-AF65-F5344CB8AC3E}">
        <p14:creationId xmlns:p14="http://schemas.microsoft.com/office/powerpoint/2010/main" val="140720642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733800" y="1066800"/>
            <a:ext cx="3276600" cy="350838"/>
          </a:xfrm>
        </p:spPr>
        <p:txBody>
          <a:bodyPr>
            <a:normAutofit/>
          </a:bodyPr>
          <a:lstStyle/>
          <a:p>
            <a:r>
              <a:rPr lang="en-US" altLang="ko-KR" sz="1600" b="1" kern="1200" dirty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Task JVM Reuse</a:t>
            </a:r>
          </a:p>
        </p:txBody>
      </p:sp>
      <p:sp>
        <p:nvSpPr>
          <p:cNvPr id="9" name="내용 개체 틀 2"/>
          <p:cNvSpPr>
            <a:spLocks noGrp="1"/>
          </p:cNvSpPr>
          <p:nvPr>
            <p:ph idx="1"/>
          </p:nvPr>
        </p:nvSpPr>
        <p:spPr>
          <a:xfrm>
            <a:off x="990600" y="2133600"/>
            <a:ext cx="7116980" cy="3124200"/>
          </a:xfrm>
        </p:spPr>
        <p:txBody>
          <a:bodyPr>
            <a:normAutofit/>
          </a:bodyPr>
          <a:lstStyle/>
          <a:p>
            <a:pPr marL="342900" lvl="1" indent="-342900">
              <a:spcBef>
                <a:spcPts val="9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400" kern="1200" dirty="0">
                <a:ea typeface="+mn-ea"/>
                <a:cs typeface="+mn-cs"/>
              </a:rPr>
              <a:t>To reduce the overhead of starting a new JVM for each </a:t>
            </a:r>
            <a:r>
              <a:rPr lang="en-US" altLang="ko-KR" sz="2400" kern="1200" dirty="0" smtClean="0">
                <a:ea typeface="+mn-ea"/>
                <a:cs typeface="+mn-cs"/>
              </a:rPr>
              <a:t>task. Effective </a:t>
            </a:r>
            <a:r>
              <a:rPr lang="en-US" altLang="ko-KR" sz="2400" kern="1200" dirty="0">
                <a:ea typeface="+mn-ea"/>
                <a:cs typeface="+mn-cs"/>
              </a:rPr>
              <a:t>case:</a:t>
            </a:r>
          </a:p>
          <a:p>
            <a:pPr lvl="1" eaLnBrk="1" hangingPunct="1">
              <a:spcBef>
                <a:spcPts val="900"/>
              </a:spcBef>
              <a:buClr>
                <a:schemeClr val="accent2"/>
              </a:buClr>
              <a:buSzPct val="60000"/>
              <a:buBlip>
                <a:blip r:embed="rId2"/>
              </a:buBlip>
              <a:defRPr/>
            </a:pPr>
            <a:r>
              <a:rPr lang="en-US" altLang="ko-KR" sz="2100" dirty="0"/>
              <a:t>Jobs have a large number of very short-lived tasks (these are usually map tasks</a:t>
            </a:r>
            <a:r>
              <a:rPr lang="en-US" altLang="ko-KR" sz="2100" dirty="0" smtClean="0"/>
              <a:t>). </a:t>
            </a:r>
            <a:endParaRPr lang="en-US" altLang="ko-KR" sz="2100" dirty="0"/>
          </a:p>
          <a:p>
            <a:pPr lvl="1" eaLnBrk="1" hangingPunct="1">
              <a:spcBef>
                <a:spcPts val="900"/>
              </a:spcBef>
              <a:buClr>
                <a:schemeClr val="accent2"/>
              </a:buClr>
              <a:buSzPct val="60000"/>
              <a:buBlip>
                <a:blip r:embed="rId2"/>
              </a:buBlip>
              <a:defRPr/>
            </a:pPr>
            <a:r>
              <a:rPr lang="en-US" altLang="ko-KR" sz="2100" dirty="0"/>
              <a:t>Jobs have lengthy </a:t>
            </a:r>
            <a:r>
              <a:rPr lang="en-US" altLang="ko-KR" sz="2100" dirty="0" smtClean="0"/>
              <a:t>initialization.</a:t>
            </a:r>
            <a:endParaRPr lang="en-US" altLang="ko-KR" sz="2100" dirty="0"/>
          </a:p>
          <a:p>
            <a:pPr marL="342900" lvl="1" indent="-342900">
              <a:spcBef>
                <a:spcPts val="9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400" kern="1200" dirty="0">
                <a:ea typeface="+mn-ea"/>
                <a:cs typeface="+mn-cs"/>
              </a:rPr>
              <a:t>If </a:t>
            </a:r>
            <a:r>
              <a:rPr lang="en-US" altLang="ko-KR" sz="2400" kern="1200" dirty="0" err="1">
                <a:ea typeface="+mn-ea"/>
                <a:cs typeface="+mn-cs"/>
              </a:rPr>
              <a:t>tasktrackers</a:t>
            </a:r>
            <a:r>
              <a:rPr lang="en-US" altLang="ko-KR" sz="2400" kern="1200" dirty="0">
                <a:ea typeface="+mn-ea"/>
                <a:cs typeface="+mn-cs"/>
              </a:rPr>
              <a:t> run more than one task at a time, this is always done in separate </a:t>
            </a:r>
            <a:r>
              <a:rPr lang="en-US" altLang="ko-KR" sz="2400" kern="1200" dirty="0" smtClean="0">
                <a:ea typeface="+mn-ea"/>
                <a:cs typeface="+mn-cs"/>
              </a:rPr>
              <a:t>JVMs.</a:t>
            </a:r>
            <a:endParaRPr lang="en-US" altLang="ko-KR" sz="2400" kern="1200" dirty="0"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5187666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505200" y="1066800"/>
            <a:ext cx="3733800" cy="350838"/>
          </a:xfrm>
        </p:spPr>
        <p:txBody>
          <a:bodyPr>
            <a:normAutofit/>
          </a:bodyPr>
          <a:lstStyle/>
          <a:p>
            <a:r>
              <a:rPr lang="en-US" altLang="ko-KR" sz="1600" b="1" kern="1200" dirty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Skipping Bad Records</a:t>
            </a:r>
          </a:p>
        </p:txBody>
      </p:sp>
      <p:sp>
        <p:nvSpPr>
          <p:cNvPr id="9" name="내용 개체 틀 2"/>
          <p:cNvSpPr>
            <a:spLocks noGrp="1"/>
          </p:cNvSpPr>
          <p:nvPr>
            <p:ph idx="1"/>
          </p:nvPr>
        </p:nvSpPr>
        <p:spPr>
          <a:xfrm>
            <a:off x="609600" y="1828800"/>
            <a:ext cx="8001000" cy="4191000"/>
          </a:xfrm>
        </p:spPr>
        <p:txBody>
          <a:bodyPr>
            <a:normAutofit fontScale="62500" lnSpcReduction="20000"/>
          </a:bodyPr>
          <a:lstStyle/>
          <a:p>
            <a:pPr marL="342900" lvl="1" indent="-342900">
              <a:lnSpc>
                <a:spcPct val="120000"/>
              </a:lnSpc>
              <a:spcBef>
                <a:spcPts val="9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3200" kern="1200" dirty="0">
                <a:ea typeface="+mn-ea"/>
                <a:cs typeface="+mn-cs"/>
              </a:rPr>
              <a:t>I</a:t>
            </a:r>
            <a:r>
              <a:rPr lang="en-US" altLang="ko-KR" sz="3200" kern="1200" dirty="0" smtClean="0">
                <a:ea typeface="+mn-ea"/>
                <a:cs typeface="+mn-cs"/>
              </a:rPr>
              <a:t>n </a:t>
            </a:r>
            <a:r>
              <a:rPr lang="en-US" altLang="ko-KR" sz="3200" kern="1200" dirty="0">
                <a:ea typeface="+mn-ea"/>
                <a:cs typeface="+mn-cs"/>
              </a:rPr>
              <a:t>mapper or reducer </a:t>
            </a:r>
            <a:r>
              <a:rPr lang="en-US" altLang="ko-KR" sz="3200" kern="1200" dirty="0" smtClean="0">
                <a:ea typeface="+mn-ea"/>
                <a:cs typeface="+mn-cs"/>
              </a:rPr>
              <a:t>code – i</a:t>
            </a:r>
            <a:r>
              <a:rPr lang="en-US" altLang="ko-KR" sz="3200" dirty="0" smtClean="0"/>
              <a:t>gnore bad records; throw an exception.</a:t>
            </a:r>
          </a:p>
          <a:p>
            <a:pPr marL="342900" lvl="1" indent="-342900">
              <a:lnSpc>
                <a:spcPct val="120000"/>
              </a:lnSpc>
              <a:spcBef>
                <a:spcPts val="9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3200" kern="1200" dirty="0">
                <a:ea typeface="+mn-ea"/>
                <a:cs typeface="+mn-cs"/>
              </a:rPr>
              <a:t>Using Hadoop’s skipping </a:t>
            </a:r>
            <a:r>
              <a:rPr lang="en-US" altLang="ko-KR" sz="3200" kern="1200" dirty="0" smtClean="0">
                <a:ea typeface="+mn-ea"/>
                <a:cs typeface="+mn-cs"/>
              </a:rPr>
              <a:t>mode – w</a:t>
            </a:r>
            <a:r>
              <a:rPr lang="en-US" altLang="ko-KR" sz="3200" dirty="0" smtClean="0"/>
              <a:t>hen you can’t handle them because there is a bug in a third party library. Skipping process:</a:t>
            </a:r>
          </a:p>
          <a:p>
            <a:pPr lvl="1" eaLnBrk="1" hangingPunct="1">
              <a:lnSpc>
                <a:spcPct val="120000"/>
              </a:lnSpc>
              <a:spcBef>
                <a:spcPts val="600"/>
              </a:spcBef>
              <a:buClr>
                <a:schemeClr val="accent2"/>
              </a:buClr>
              <a:buSzPct val="60000"/>
              <a:buBlip>
                <a:blip r:embed="rId2"/>
              </a:buBlip>
              <a:defRPr/>
            </a:pPr>
            <a:r>
              <a:rPr lang="en-US" altLang="ko-KR" sz="2700" dirty="0"/>
              <a:t>Task fails</a:t>
            </a:r>
          </a:p>
          <a:p>
            <a:pPr lvl="1" eaLnBrk="1" hangingPunct="1">
              <a:lnSpc>
                <a:spcPct val="120000"/>
              </a:lnSpc>
              <a:spcBef>
                <a:spcPts val="600"/>
              </a:spcBef>
              <a:buClr>
                <a:schemeClr val="accent2"/>
              </a:buClr>
              <a:buSzPct val="60000"/>
              <a:buBlip>
                <a:blip r:embed="rId2"/>
              </a:buBlip>
              <a:defRPr/>
            </a:pPr>
            <a:r>
              <a:rPr lang="en-US" altLang="ko-KR" sz="2700" dirty="0"/>
              <a:t>Task fails</a:t>
            </a:r>
          </a:p>
          <a:p>
            <a:pPr lvl="1" eaLnBrk="1" hangingPunct="1">
              <a:lnSpc>
                <a:spcPct val="120000"/>
              </a:lnSpc>
              <a:spcBef>
                <a:spcPts val="600"/>
              </a:spcBef>
              <a:buClr>
                <a:schemeClr val="accent2"/>
              </a:buClr>
              <a:buSzPct val="60000"/>
              <a:buBlip>
                <a:blip r:embed="rId2"/>
              </a:buBlip>
              <a:defRPr/>
            </a:pPr>
            <a:r>
              <a:rPr lang="en-US" altLang="ko-KR" sz="2700" dirty="0"/>
              <a:t>Skipping mode is </a:t>
            </a:r>
            <a:r>
              <a:rPr lang="en-US" altLang="ko-KR" sz="2700" dirty="0" smtClean="0"/>
              <a:t>enabled</a:t>
            </a:r>
            <a:br>
              <a:rPr lang="en-US" altLang="ko-KR" sz="2700" dirty="0" smtClean="0"/>
            </a:br>
            <a:r>
              <a:rPr lang="en-US" altLang="ko-KR" sz="2700" dirty="0" smtClean="0"/>
              <a:t>Task </a:t>
            </a:r>
            <a:r>
              <a:rPr lang="en-US" altLang="ko-KR" sz="2700" dirty="0"/>
              <a:t>fails but failed record is stored by the </a:t>
            </a:r>
            <a:r>
              <a:rPr lang="en-US" altLang="ko-KR" sz="2700" dirty="0" err="1" smtClean="0"/>
              <a:t>tasktracker</a:t>
            </a:r>
            <a:r>
              <a:rPr lang="en-US" altLang="ko-KR" sz="2700" dirty="0" smtClean="0"/>
              <a:t>;</a:t>
            </a:r>
            <a:endParaRPr lang="en-US" altLang="ko-KR" sz="2700" dirty="0"/>
          </a:p>
          <a:p>
            <a:pPr lvl="1" eaLnBrk="1" hangingPunct="1">
              <a:lnSpc>
                <a:spcPct val="120000"/>
              </a:lnSpc>
              <a:spcBef>
                <a:spcPts val="600"/>
              </a:spcBef>
              <a:buClr>
                <a:schemeClr val="accent2"/>
              </a:buClr>
              <a:buSzPct val="60000"/>
              <a:buBlip>
                <a:blip r:embed="rId2"/>
              </a:buBlip>
              <a:defRPr/>
            </a:pPr>
            <a:r>
              <a:rPr lang="en-US" altLang="ko-KR" sz="2700" dirty="0"/>
              <a:t>Skipping mode is still enabled</a:t>
            </a:r>
            <a:br>
              <a:rPr lang="en-US" altLang="ko-KR" sz="2700" dirty="0"/>
            </a:br>
            <a:r>
              <a:rPr lang="en-US" altLang="ko-KR" sz="2700" dirty="0"/>
              <a:t>Task succeeds by skipping the bad record that failed in the previous </a:t>
            </a:r>
            <a:r>
              <a:rPr lang="en-US" altLang="ko-KR" sz="2700" dirty="0" smtClean="0"/>
              <a:t>attempt.</a:t>
            </a:r>
            <a:endParaRPr lang="en-US" altLang="ko-KR" sz="2700" dirty="0"/>
          </a:p>
          <a:p>
            <a:pPr marL="342900" lvl="1" indent="-342900">
              <a:lnSpc>
                <a:spcPct val="120000"/>
              </a:lnSpc>
              <a:spcBef>
                <a:spcPts val="900"/>
              </a:spcBef>
              <a:buClr>
                <a:schemeClr val="accent2"/>
              </a:buClr>
              <a:buSzPct val="100000"/>
              <a:buFont typeface="Wingdings" pitchFamily="2" charset="2"/>
              <a:buChar char="§"/>
              <a:defRPr/>
            </a:pPr>
            <a:r>
              <a:rPr lang="en-US" altLang="ko-KR" sz="3200" kern="1200" dirty="0">
                <a:ea typeface="+mn-ea"/>
                <a:cs typeface="+mn-cs"/>
              </a:rPr>
              <a:t>Skipping mode can detect only one bad record per task attempt.</a:t>
            </a:r>
          </a:p>
          <a:p>
            <a:pPr marL="342900" lvl="1" indent="-342900">
              <a:lnSpc>
                <a:spcPct val="120000"/>
              </a:lnSpc>
              <a:spcBef>
                <a:spcPts val="9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3200" kern="1200" dirty="0">
                <a:ea typeface="+mn-ea"/>
                <a:cs typeface="+mn-cs"/>
              </a:rPr>
              <a:t>This mechanism is appropriate only for detecting occasional bad records.</a:t>
            </a:r>
          </a:p>
        </p:txBody>
      </p:sp>
    </p:spTree>
    <p:extLst>
      <p:ext uri="{BB962C8B-B14F-4D97-AF65-F5344CB8AC3E}">
        <p14:creationId xmlns:p14="http://schemas.microsoft.com/office/powerpoint/2010/main" val="78687867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Custom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000000"/>
      </a:hlink>
      <a:folHlink>
        <a:srgbClr val="000000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7221</TotalTime>
  <Words>1450</Words>
  <Application>Microsoft Office PowerPoint</Application>
  <PresentationFormat>On-screen Show (4:3)</PresentationFormat>
  <Paragraphs>138</Paragraphs>
  <Slides>27</Slides>
  <Notes>0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  <vt:variant>
        <vt:lpstr>Custom Shows</vt:lpstr>
      </vt:variant>
      <vt:variant>
        <vt:i4>1</vt:i4>
      </vt:variant>
    </vt:vector>
  </HeadingPairs>
  <TitlesOfParts>
    <vt:vector size="29" baseType="lpstr">
      <vt:lpstr>Default Design</vt:lpstr>
      <vt:lpstr>How MapReduce Works</vt:lpstr>
      <vt:lpstr>PowerPoint Presentation</vt:lpstr>
      <vt:lpstr>Entities in Classic MapReduce (MapReduce 1)</vt:lpstr>
      <vt:lpstr>Classic MapReduce Framework</vt:lpstr>
      <vt:lpstr>Job Submission</vt:lpstr>
      <vt:lpstr>Job Initialization</vt:lpstr>
      <vt:lpstr>Job Assignment</vt:lpstr>
      <vt:lpstr>Task Execution</vt:lpstr>
      <vt:lpstr>Progress and Status Updates</vt:lpstr>
      <vt:lpstr>Job Completion</vt:lpstr>
      <vt:lpstr>YARN (MapReduce 2) – 1</vt:lpstr>
      <vt:lpstr>YARN (MapReduce 2) – 2</vt:lpstr>
      <vt:lpstr>YARN Framework</vt:lpstr>
      <vt:lpstr>Failures</vt:lpstr>
      <vt:lpstr>Task Failure – 1</vt:lpstr>
      <vt:lpstr>PowerPoint Presentation</vt:lpstr>
      <vt:lpstr>TaskTracker Failure</vt:lpstr>
      <vt:lpstr>Jobtracker Failure</vt:lpstr>
      <vt:lpstr>Failures in YARN</vt:lpstr>
      <vt:lpstr>Job Scheduling</vt:lpstr>
      <vt:lpstr>Shuffle and Sort</vt:lpstr>
      <vt:lpstr>The Map Side</vt:lpstr>
      <vt:lpstr>The Reduce Side</vt:lpstr>
      <vt:lpstr>Configuration Tuning</vt:lpstr>
      <vt:lpstr>Speculative Execution</vt:lpstr>
      <vt:lpstr>Task JVM Reuse</vt:lpstr>
      <vt:lpstr>Skipping Bad Records</vt:lpstr>
      <vt:lpstr>Custom Show 1</vt:lpstr>
    </vt:vector>
  </TitlesOfParts>
  <Company>Azimuth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KL</dc:creator>
  <cp:lastModifiedBy>Jiming</cp:lastModifiedBy>
  <cp:revision>540</cp:revision>
  <dcterms:created xsi:type="dcterms:W3CDTF">2005-03-05T09:57:46Z</dcterms:created>
  <dcterms:modified xsi:type="dcterms:W3CDTF">2016-04-29T22:07:53Z</dcterms:modified>
</cp:coreProperties>
</file>