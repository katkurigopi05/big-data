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573" r:id="rId2"/>
    <p:sldId id="574" r:id="rId3"/>
    <p:sldId id="575" r:id="rId4"/>
    <p:sldId id="605" r:id="rId5"/>
    <p:sldId id="606" r:id="rId6"/>
    <p:sldId id="607" r:id="rId7"/>
    <p:sldId id="608" r:id="rId8"/>
    <p:sldId id="609" r:id="rId9"/>
    <p:sldId id="580" r:id="rId10"/>
    <p:sldId id="581" r:id="rId11"/>
    <p:sldId id="583" r:id="rId12"/>
    <p:sldId id="585" r:id="rId13"/>
    <p:sldId id="586" r:id="rId14"/>
    <p:sldId id="587" r:id="rId15"/>
    <p:sldId id="590" r:id="rId16"/>
    <p:sldId id="591" r:id="rId17"/>
    <p:sldId id="592" r:id="rId18"/>
    <p:sldId id="593" r:id="rId19"/>
    <p:sldId id="610" r:id="rId20"/>
    <p:sldId id="594" r:id="rId21"/>
    <p:sldId id="596" r:id="rId22"/>
    <p:sldId id="597" r:id="rId23"/>
    <p:sldId id="599" r:id="rId24"/>
    <p:sldId id="600" r:id="rId25"/>
    <p:sldId id="601" r:id="rId26"/>
    <p:sldId id="602" r:id="rId27"/>
    <p:sldId id="611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267200" y="6521450"/>
            <a:ext cx="6953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r>
              <a:rPr lang="en-US" sz="1600" b="1" dirty="0" smtClean="0">
                <a:solidFill>
                  <a:srgbClr val="FFFFFF"/>
                </a:solidFill>
              </a:rPr>
              <a:t>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7: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MapReduce Types and Formats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5400" y="2743200"/>
            <a:ext cx="6477000" cy="1470025"/>
          </a:xfrm>
        </p:spPr>
        <p:txBody>
          <a:bodyPr>
            <a:noAutofit/>
          </a:bodyPr>
          <a:lstStyle/>
          <a:p>
            <a:r>
              <a:rPr lang="en-US" altLang="ko-KR" sz="4800" b="1" dirty="0"/>
              <a:t>MapReduce </a:t>
            </a: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en-US" altLang="ko-KR" sz="4800" b="1" dirty="0" smtClean="0"/>
              <a:t>Types </a:t>
            </a:r>
            <a:r>
              <a:rPr lang="en-US" altLang="ko-KR" sz="4800" b="1" dirty="0"/>
              <a:t>and Formats</a:t>
            </a:r>
            <a:endParaRPr lang="ko-KR" altLang="en-US" sz="4800" b="1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7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527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71800" y="2667000"/>
            <a:ext cx="3124200" cy="22098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err="1"/>
              <a:t>MapReduce</a:t>
            </a:r>
            <a:r>
              <a:rPr lang="en-US" altLang="ko-KR" sz="2600" dirty="0"/>
              <a:t> Types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Input Formats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Output Formats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429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772973" y="1676400"/>
            <a:ext cx="2691864" cy="457200"/>
          </a:xfrm>
        </p:spPr>
        <p:txBody>
          <a:bodyPr>
            <a:noAutofit/>
          </a:bodyPr>
          <a:lstStyle/>
          <a:p>
            <a:pPr marL="342900" lvl="1" indent="-342900">
              <a:lnSpc>
                <a:spcPts val="24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>
                <a:ea typeface="+mn-ea"/>
                <a:cs typeface="+mn-cs"/>
              </a:rPr>
              <a:t>General </a:t>
            </a:r>
            <a:r>
              <a:rPr lang="en-US" altLang="ko-KR" kern="1200" dirty="0" smtClean="0">
                <a:ea typeface="+mn-ea"/>
                <a:cs typeface="+mn-cs"/>
              </a:rPr>
              <a:t>form:</a:t>
            </a:r>
            <a:endParaRPr lang="en-US" altLang="ko-KR" sz="1800" b="1" i="1" dirty="0" smtClean="0"/>
          </a:p>
          <a:p>
            <a:pPr lvl="1">
              <a:lnSpc>
                <a:spcPts val="2400"/>
              </a:lnSpc>
              <a:spcAft>
                <a:spcPts val="600"/>
              </a:spcAft>
            </a:pPr>
            <a:endParaRPr lang="en-US" altLang="ko-KR" sz="1800" dirty="0" smtClean="0"/>
          </a:p>
          <a:p>
            <a:pPr>
              <a:lnSpc>
                <a:spcPts val="2400"/>
              </a:lnSpc>
              <a:spcAft>
                <a:spcPts val="600"/>
              </a:spcAft>
              <a:buNone/>
            </a:pPr>
            <a:endParaRPr lang="en-US" altLang="ko-KR" sz="2200" dirty="0" smtClean="0"/>
          </a:p>
          <a:p>
            <a:pPr>
              <a:lnSpc>
                <a:spcPts val="2400"/>
              </a:lnSpc>
              <a:spcAft>
                <a:spcPts val="600"/>
              </a:spcAft>
            </a:pPr>
            <a:endParaRPr lang="en-US" altLang="ko-KR" sz="2200" dirty="0" smtClean="0"/>
          </a:p>
          <a:p>
            <a:pPr>
              <a:lnSpc>
                <a:spcPts val="2400"/>
              </a:lnSpc>
              <a:spcAft>
                <a:spcPts val="600"/>
              </a:spcAft>
            </a:pPr>
            <a:endParaRPr lang="en-US" altLang="ko-KR" sz="2200" dirty="0" smtClean="0"/>
          </a:p>
          <a:p>
            <a:pPr>
              <a:lnSpc>
                <a:spcPts val="2400"/>
              </a:lnSpc>
              <a:spcAft>
                <a:spcPts val="600"/>
              </a:spcAft>
            </a:pPr>
            <a:endParaRPr lang="en-US" altLang="ko-KR" sz="2200" dirty="0" smtClean="0"/>
          </a:p>
        </p:txBody>
      </p:sp>
      <p:sp>
        <p:nvSpPr>
          <p:cNvPr id="24" name="직사각형 23"/>
          <p:cNvSpPr/>
          <p:nvPr/>
        </p:nvSpPr>
        <p:spPr>
          <a:xfrm>
            <a:off x="1835936" y="2697300"/>
            <a:ext cx="5257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M</a:t>
            </a:r>
            <a:r>
              <a:rPr lang="en-US" altLang="ko-KR" dirty="0" smtClean="0"/>
              <a:t>ap: (K1, V1) → list(K2, V2)</a:t>
            </a:r>
          </a:p>
          <a:p>
            <a:endParaRPr lang="en-US" altLang="ko-KR" dirty="0" smtClean="0"/>
          </a:p>
          <a:p>
            <a:r>
              <a:rPr lang="en-US" altLang="ko-KR" dirty="0"/>
              <a:t>R</a:t>
            </a:r>
            <a:r>
              <a:rPr lang="en-US" altLang="ko-KR" dirty="0" smtClean="0"/>
              <a:t>educe: (K2, list(V2)) → list(K3, V3)</a:t>
            </a:r>
            <a:endParaRPr lang="ko-KR" altLang="en-US" dirty="0"/>
          </a:p>
        </p:txBody>
      </p:sp>
      <p:sp>
        <p:nvSpPr>
          <p:cNvPr id="30" name="왼쪽 중괄호 29"/>
          <p:cNvSpPr/>
          <p:nvPr/>
        </p:nvSpPr>
        <p:spPr>
          <a:xfrm rot="5400000">
            <a:off x="4057645" y="1637647"/>
            <a:ext cx="285752" cy="1976430"/>
          </a:xfrm>
          <a:prstGeom prst="leftBrac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3664736" y="3054490"/>
            <a:ext cx="976330" cy="440971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9136" y="3054490"/>
            <a:ext cx="42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=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69537" y="2040189"/>
            <a:ext cx="49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≠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7338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General Form of MapReduce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4876800"/>
            <a:ext cx="5312229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내용 개체 틀 2"/>
          <p:cNvSpPr txBox="1">
            <a:spLocks/>
          </p:cNvSpPr>
          <p:nvPr/>
        </p:nvSpPr>
        <p:spPr>
          <a:xfrm>
            <a:off x="1835936" y="4343400"/>
            <a:ext cx="3890970" cy="4572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lnSpc>
                <a:spcPts val="24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Combine function:</a:t>
            </a:r>
            <a:endParaRPr lang="en-US" altLang="ko-KR" sz="1800" b="1" i="1" kern="0" dirty="0" smtClean="0"/>
          </a:p>
          <a:p>
            <a:pPr lvl="1">
              <a:lnSpc>
                <a:spcPts val="2400"/>
              </a:lnSpc>
              <a:spcAft>
                <a:spcPts val="600"/>
              </a:spcAft>
            </a:pPr>
            <a:endParaRPr lang="en-US" altLang="ko-KR" sz="1800" kern="0" dirty="0" smtClean="0"/>
          </a:p>
          <a:p>
            <a:pPr>
              <a:lnSpc>
                <a:spcPts val="2400"/>
              </a:lnSpc>
              <a:spcAft>
                <a:spcPts val="600"/>
              </a:spcAft>
              <a:buFontTx/>
              <a:buNone/>
            </a:pPr>
            <a:endParaRPr lang="en-US" altLang="ko-KR" sz="2200" kern="0" dirty="0" smtClean="0"/>
          </a:p>
          <a:p>
            <a:pPr>
              <a:lnSpc>
                <a:spcPts val="2400"/>
              </a:lnSpc>
              <a:spcAft>
                <a:spcPts val="600"/>
              </a:spcAft>
            </a:pPr>
            <a:endParaRPr lang="en-US" altLang="ko-KR" sz="2200" kern="0" dirty="0" smtClean="0"/>
          </a:p>
          <a:p>
            <a:pPr>
              <a:lnSpc>
                <a:spcPts val="2400"/>
              </a:lnSpc>
              <a:spcAft>
                <a:spcPts val="600"/>
              </a:spcAft>
            </a:pPr>
            <a:endParaRPr lang="en-US" altLang="ko-KR" sz="2200" kern="0" dirty="0" smtClean="0"/>
          </a:p>
          <a:p>
            <a:pPr>
              <a:lnSpc>
                <a:spcPts val="2400"/>
              </a:lnSpc>
              <a:spcAft>
                <a:spcPts val="600"/>
              </a:spcAft>
            </a:pPr>
            <a:endParaRPr lang="en-US" altLang="ko-KR" sz="2200" kern="0" dirty="0" smtClean="0"/>
          </a:p>
        </p:txBody>
      </p:sp>
    </p:spTree>
    <p:extLst>
      <p:ext uri="{BB962C8B-B14F-4D97-AF65-F5344CB8AC3E}">
        <p14:creationId xmlns:p14="http://schemas.microsoft.com/office/powerpoint/2010/main" val="1824669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Configuration of MapReduce Types – 1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00200"/>
            <a:ext cx="88582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250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Configuration of MapReduce Types – 2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57866"/>
            <a:ext cx="8678333" cy="487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496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3434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Without Setting a Mapper or a Reducer – 1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199"/>
            <a:ext cx="7772400" cy="487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49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3434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Without Setting a Mapper or a Reducer – 2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2600"/>
            <a:ext cx="824576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119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76600" y="1066800"/>
            <a:ext cx="43434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MapReduce Default Settings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98600"/>
            <a:ext cx="76200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026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48000" y="1066800"/>
            <a:ext cx="4648200" cy="381000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Choosing the Number of Reducers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2057400"/>
            <a:ext cx="7239000" cy="3505199"/>
          </a:xfrm>
        </p:spPr>
        <p:txBody>
          <a:bodyPr/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The single reducer default is no good and needs to be set to a larger number.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The </a:t>
            </a:r>
            <a:r>
              <a:rPr lang="en-US" altLang="ko-KR" sz="2400" kern="1200" dirty="0">
                <a:ea typeface="+mn-ea"/>
                <a:cs typeface="+mn-cs"/>
              </a:rPr>
              <a:t>optimal number of reducers is related to the total number of available reducer </a:t>
            </a:r>
            <a:r>
              <a:rPr lang="en-US" altLang="ko-KR" sz="2400" kern="1200" dirty="0" smtClean="0">
                <a:ea typeface="+mn-ea"/>
                <a:cs typeface="+mn-cs"/>
              </a:rPr>
              <a:t>slots, which can be calculated as: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457200" lvl="1" indent="0" eaLnBrk="1" hangingPunct="1">
              <a:spcBef>
                <a:spcPts val="900"/>
              </a:spcBef>
              <a:buClr>
                <a:schemeClr val="accent2"/>
              </a:buClr>
              <a:buSzPct val="60000"/>
              <a:buNone/>
              <a:defRPr/>
            </a:pPr>
            <a:r>
              <a:rPr lang="en-US" altLang="ko-KR" sz="2100" dirty="0" smtClean="0"/>
              <a:t>Total </a:t>
            </a:r>
            <a:r>
              <a:rPr lang="en-US" altLang="ko-KR" sz="2100" dirty="0"/>
              <a:t>nodes * </a:t>
            </a:r>
            <a:r>
              <a:rPr lang="en-US" altLang="ko-KR" sz="2100" dirty="0" err="1" smtClean="0"/>
              <a:t>tasktracker.reduce.tasks.maximum</a:t>
            </a:r>
            <a:r>
              <a:rPr lang="en-US" altLang="ko-KR" sz="2100" dirty="0" smtClean="0"/>
              <a:t> (default 2)</a:t>
            </a:r>
            <a:endParaRPr lang="en-US" altLang="ko-KR" dirty="0" smtClean="0"/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To have slightly fewer reducers than total slots.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Tolerate a few failures without extending job execution </a:t>
            </a:r>
            <a:r>
              <a:rPr lang="en-US" altLang="ko-KR" sz="2000" dirty="0" smtClean="0"/>
              <a:t>time.</a:t>
            </a:r>
            <a:endParaRPr lang="en-US" altLang="ko-KR" sz="2000" dirty="0"/>
          </a:p>
          <a:p>
            <a:pPr lvl="1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269090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00400" y="1066800"/>
            <a:ext cx="44196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Keys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and values in Streaming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710267"/>
            <a:ext cx="7772400" cy="2209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sz="3700" kern="1200" dirty="0"/>
              <a:t>A streaming application can control the </a:t>
            </a:r>
            <a:r>
              <a:rPr lang="en-US" altLang="ko-KR" sz="3700" kern="1200" dirty="0" smtClean="0"/>
              <a:t>separator.</a:t>
            </a:r>
            <a:endParaRPr lang="en-US" altLang="ko-KR" sz="3700" kern="1200" dirty="0"/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kern="1200" dirty="0">
                <a:ea typeface="+mn-ea"/>
                <a:cs typeface="+mn-cs"/>
              </a:rPr>
              <a:t>Default separator: tab </a:t>
            </a:r>
            <a:r>
              <a:rPr lang="en-US" altLang="ko-KR" sz="3400" kern="1200" dirty="0" smtClean="0">
                <a:ea typeface="+mn-ea"/>
                <a:cs typeface="+mn-cs"/>
              </a:rPr>
              <a:t>character;</a:t>
            </a:r>
            <a:endParaRPr lang="en-US" altLang="ko-KR" sz="34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kern="1200" dirty="0">
                <a:ea typeface="+mn-ea"/>
                <a:cs typeface="+mn-cs"/>
              </a:rPr>
              <a:t>Separators may be configured independently for maps and </a:t>
            </a:r>
            <a:r>
              <a:rPr lang="en-US" altLang="ko-KR" sz="3400" kern="1200" dirty="0" smtClean="0">
                <a:ea typeface="+mn-ea"/>
                <a:cs typeface="+mn-cs"/>
              </a:rPr>
              <a:t>reduces;</a:t>
            </a:r>
            <a:endParaRPr lang="en-US" altLang="ko-KR" sz="34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kern="1200" dirty="0" smtClean="0">
                <a:ea typeface="+mn-ea"/>
                <a:cs typeface="+mn-cs"/>
              </a:rPr>
              <a:t>A key can be made up of the first n fields: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900" dirty="0"/>
              <a:t>Ex) Output was </a:t>
            </a:r>
            <a:r>
              <a:rPr lang="en-US" altLang="ko-KR" sz="2900" dirty="0" err="1"/>
              <a:t>a,b,c</a:t>
            </a:r>
            <a:r>
              <a:rPr lang="en-US" altLang="ko-KR" sz="2900" dirty="0"/>
              <a:t> (and separator is a comma), n=2</a:t>
            </a:r>
          </a:p>
          <a:p>
            <a:pPr lvl="3"/>
            <a:r>
              <a:rPr lang="en-US" altLang="ko-KR" sz="2700" dirty="0" smtClean="0"/>
              <a:t>Key: </a:t>
            </a:r>
            <a:r>
              <a:rPr lang="en-US" altLang="ko-KR" sz="2700" dirty="0" err="1" smtClean="0"/>
              <a:t>a,b</a:t>
            </a:r>
            <a:r>
              <a:rPr lang="en-US" altLang="ko-KR" sz="2700" dirty="0" smtClean="0"/>
              <a:t>	</a:t>
            </a:r>
            <a:r>
              <a:rPr lang="en-US" altLang="ko-KR" sz="2700" dirty="0" err="1" smtClean="0"/>
              <a:t>Value:c</a:t>
            </a:r>
            <a:endParaRPr lang="ko-KR" altLang="en-US" sz="2700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979333"/>
            <a:ext cx="7762852" cy="2277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51468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Input Splits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2286000"/>
            <a:ext cx="7315200" cy="26670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err="1">
                <a:ea typeface="+mn-ea"/>
                <a:cs typeface="+mn-cs"/>
              </a:rPr>
              <a:t>InputSplit</a:t>
            </a:r>
            <a:r>
              <a:rPr lang="en-US" altLang="ko-KR" sz="2600" kern="1200" dirty="0">
                <a:ea typeface="+mn-ea"/>
                <a:cs typeface="+mn-cs"/>
              </a:rPr>
              <a:t> 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A chunk of the input processed by a single map;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Each split is divided into records;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The map processes each record—a key-value </a:t>
            </a:r>
            <a:r>
              <a:rPr lang="en-US" altLang="ko-KR" sz="2200" dirty="0" smtClean="0"/>
              <a:t>pair;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Process the largest split first to minimize the job </a:t>
            </a:r>
            <a:r>
              <a:rPr lang="en-US" altLang="ko-KR" sz="2200" dirty="0" smtClean="0"/>
              <a:t>runtime</a:t>
            </a:r>
            <a:r>
              <a:rPr lang="en-US" altLang="ko-KR" sz="2200" dirty="0"/>
              <a:t>;</a:t>
            </a:r>
            <a:endParaRPr lang="en-US" altLang="ko-KR" sz="2200" dirty="0" smtClean="0"/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The client sends the calculated splits to the </a:t>
            </a:r>
            <a:r>
              <a:rPr lang="en-US" altLang="ko-KR" sz="2200" dirty="0" err="1" smtClean="0"/>
              <a:t>JobTracker</a:t>
            </a:r>
            <a:r>
              <a:rPr lang="en-US" altLang="ko-KR" sz="2200" dirty="0" smtClean="0"/>
              <a:t>.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299459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InputFormat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Class Hierarchy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66332"/>
            <a:ext cx="7772400" cy="498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94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1142999" y="1828800"/>
            <a:ext cx="6791331" cy="3048000"/>
          </a:xfrm>
        </p:spPr>
        <p:txBody>
          <a:bodyPr>
            <a:normAutofit fontScale="47500" lnSpcReduction="20000"/>
          </a:bodyPr>
          <a:lstStyle/>
          <a:p>
            <a:pPr marL="0" lvl="1" indent="0">
              <a:spcBef>
                <a:spcPts val="900"/>
              </a:spcBef>
              <a:buClr>
                <a:schemeClr val="accent2"/>
              </a:buClr>
              <a:buNone/>
              <a:defRPr/>
            </a:pPr>
            <a:r>
              <a:rPr lang="en-US" altLang="ko-KR" sz="3700" kern="1200" dirty="0" err="1" smtClean="0">
                <a:ea typeface="+mn-ea"/>
                <a:cs typeface="+mn-cs"/>
              </a:rPr>
              <a:t>FileInputFormat</a:t>
            </a:r>
            <a:r>
              <a:rPr lang="en-US" altLang="ko-KR" sz="3700" kern="1200" dirty="0" smtClean="0">
                <a:ea typeface="+mn-ea"/>
                <a:cs typeface="+mn-cs"/>
              </a:rPr>
              <a:t> </a:t>
            </a:r>
            <a:r>
              <a:rPr lang="en-US" altLang="ko-KR" sz="3700" kern="1200" dirty="0">
                <a:ea typeface="+mn-ea"/>
                <a:cs typeface="+mn-cs"/>
              </a:rPr>
              <a:t>offers 4 static methods for setting a </a:t>
            </a:r>
            <a:r>
              <a:rPr lang="en-US" altLang="ko-KR" sz="3700" kern="1200" dirty="0" smtClean="0">
                <a:ea typeface="+mn-ea"/>
                <a:cs typeface="+mn-cs"/>
              </a:rPr>
              <a:t>Job’s </a:t>
            </a:r>
            <a:r>
              <a:rPr lang="en-US" altLang="ko-KR" sz="3700" kern="1200" dirty="0">
                <a:ea typeface="+mn-ea"/>
                <a:cs typeface="+mn-cs"/>
              </a:rPr>
              <a:t>input </a:t>
            </a:r>
            <a:r>
              <a:rPr lang="en-US" altLang="ko-KR" sz="3700" kern="1200" dirty="0" smtClean="0">
                <a:ea typeface="+mn-ea"/>
                <a:cs typeface="+mn-cs"/>
              </a:rPr>
              <a:t>paths:</a:t>
            </a:r>
            <a:endParaRPr lang="en-US" altLang="ko-KR" sz="37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kern="1200" dirty="0" err="1">
                <a:ea typeface="+mn-ea"/>
                <a:cs typeface="+mn-cs"/>
              </a:rPr>
              <a:t>addInputPath</a:t>
            </a:r>
            <a:r>
              <a:rPr lang="en-US" altLang="ko-KR" sz="3400" kern="1200" dirty="0">
                <a:ea typeface="+mn-ea"/>
                <a:cs typeface="+mn-cs"/>
              </a:rPr>
              <a:t>() and </a:t>
            </a:r>
            <a:r>
              <a:rPr lang="en-US" altLang="ko-KR" sz="3400" kern="1200" dirty="0" err="1">
                <a:ea typeface="+mn-ea"/>
                <a:cs typeface="+mn-cs"/>
              </a:rPr>
              <a:t>addInputPaths</a:t>
            </a:r>
            <a:r>
              <a:rPr lang="en-US" altLang="ko-KR" sz="3400" kern="1200" dirty="0">
                <a:ea typeface="+mn-ea"/>
                <a:cs typeface="+mn-cs"/>
              </a:rPr>
              <a:t>()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100" dirty="0"/>
              <a:t>Add a path or paths to the list of inputs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100" dirty="0"/>
              <a:t>Can call these methods repeatedly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kern="1200" dirty="0">
                <a:ea typeface="+mn-ea"/>
                <a:cs typeface="+mn-cs"/>
              </a:rPr>
              <a:t>Two </a:t>
            </a:r>
            <a:r>
              <a:rPr lang="en-US" altLang="ko-KR" sz="3400" kern="1200" dirty="0" err="1">
                <a:ea typeface="+mn-ea"/>
                <a:cs typeface="+mn-cs"/>
              </a:rPr>
              <a:t>setInputPaths</a:t>
            </a:r>
            <a:r>
              <a:rPr lang="en-US" altLang="ko-KR" sz="3400" kern="1200" dirty="0" smtClean="0">
                <a:ea typeface="+mn-ea"/>
                <a:cs typeface="+mn-cs"/>
              </a:rPr>
              <a:t>()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200" dirty="0"/>
              <a:t>Set entire list of paths in one time (Replacing any paths that were set in previous calls)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kern="1200" dirty="0">
                <a:ea typeface="+mn-ea"/>
                <a:cs typeface="+mn-cs"/>
              </a:rPr>
              <a:t>A path may represent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200" dirty="0"/>
              <a:t>A file or a directory (consider all files in the directory as input)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3200" dirty="0"/>
              <a:t>A collection of files and directories by using a glob</a:t>
            </a:r>
            <a:endParaRPr lang="ko-KR" altLang="en-US" sz="3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4983162"/>
            <a:ext cx="7134225" cy="904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Input Paths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7675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4290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FileInputFormat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43000" y="2286000"/>
            <a:ext cx="7010400" cy="2895600"/>
          </a:xfrm>
        </p:spPr>
        <p:txBody>
          <a:bodyPr/>
          <a:lstStyle/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err="1">
                <a:ea typeface="+mn-ea"/>
                <a:cs typeface="+mn-cs"/>
              </a:rPr>
              <a:t>FileInputFormat</a:t>
            </a:r>
            <a:r>
              <a:rPr lang="en-US" altLang="ko-KR" sz="2400" kern="1200" dirty="0">
                <a:ea typeface="+mn-ea"/>
                <a:cs typeface="+mn-cs"/>
              </a:rPr>
              <a:t> uses a default filter that excludes hidden files.</a:t>
            </a:r>
          </a:p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err="1">
                <a:ea typeface="+mn-ea"/>
                <a:cs typeface="+mn-cs"/>
              </a:rPr>
              <a:t>FileInputFormat</a:t>
            </a:r>
            <a:r>
              <a:rPr lang="en-US" altLang="ko-KR" sz="2400" kern="1200" dirty="0">
                <a:ea typeface="+mn-ea"/>
                <a:cs typeface="+mn-cs"/>
              </a:rPr>
              <a:t> splits only large files that larger than an HDFS block.</a:t>
            </a:r>
          </a:p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The split size is normally the size of an HDFS block.</a:t>
            </a:r>
          </a:p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The minimum split size is usually 1 </a:t>
            </a:r>
            <a:r>
              <a:rPr lang="en-US" altLang="ko-KR" sz="2400" kern="1200" dirty="0" smtClean="0">
                <a:ea typeface="+mn-ea"/>
                <a:cs typeface="+mn-cs"/>
              </a:rPr>
              <a:t>byte.</a:t>
            </a:r>
          </a:p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The </a:t>
            </a:r>
            <a:r>
              <a:rPr lang="en-US" altLang="ko-KR" sz="2400" kern="1200" dirty="0">
                <a:ea typeface="+mn-ea"/>
                <a:cs typeface="+mn-cs"/>
              </a:rPr>
              <a:t>maximum split size defaults to the maximum value of Java long type.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73559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19400" y="1066800"/>
            <a:ext cx="51816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Small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Files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and </a:t>
            </a:r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CombineFileInputFormat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2057400"/>
            <a:ext cx="7315200" cy="38100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Hadoop works better with a small number of large files than a large number of small </a:t>
            </a:r>
            <a:r>
              <a:rPr lang="en-US" altLang="ko-KR" sz="2200" kern="1200" dirty="0" smtClean="0">
                <a:ea typeface="+mn-ea"/>
                <a:cs typeface="+mn-cs"/>
              </a:rPr>
              <a:t>files.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600" dirty="0" err="1"/>
              <a:t>FileInputFormat</a:t>
            </a:r>
            <a:r>
              <a:rPr lang="en-US" altLang="ko-KR" sz="1600" dirty="0"/>
              <a:t> generates splits that each split is all or part of a single file</a:t>
            </a:r>
          </a:p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Use </a:t>
            </a:r>
            <a:r>
              <a:rPr lang="en-US" altLang="ko-KR" sz="2200" kern="1200" dirty="0" err="1">
                <a:ea typeface="+mn-ea"/>
                <a:cs typeface="+mn-cs"/>
              </a:rPr>
              <a:t>CombineFileInputFormat</a:t>
            </a:r>
            <a:r>
              <a:rPr lang="en-US" altLang="ko-KR" sz="2200" kern="1200" dirty="0">
                <a:ea typeface="+mn-ea"/>
                <a:cs typeface="+mn-cs"/>
              </a:rPr>
              <a:t> to pack many files into </a:t>
            </a:r>
            <a:r>
              <a:rPr lang="en-US" altLang="ko-KR" sz="2200" kern="1200" dirty="0" smtClean="0">
                <a:ea typeface="+mn-ea"/>
                <a:cs typeface="+mn-cs"/>
              </a:rPr>
              <a:t>splits.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600" dirty="0"/>
              <a:t>Designed to work well with small files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600" dirty="0"/>
              <a:t>Take node and rack locality when packing blocks into split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600" dirty="0"/>
              <a:t>Worth when already have a large number of small files in HDFS</a:t>
            </a:r>
          </a:p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Avoiding the many small files is a good </a:t>
            </a:r>
            <a:r>
              <a:rPr lang="en-US" altLang="ko-KR" sz="2200" kern="1200" dirty="0" smtClean="0">
                <a:ea typeface="+mn-ea"/>
                <a:cs typeface="+mn-cs"/>
              </a:rPr>
              <a:t>idea.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600" dirty="0"/>
              <a:t>Reduce the number of seeks 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600" dirty="0"/>
              <a:t>Merge small files into larger files by using a </a:t>
            </a:r>
            <a:r>
              <a:rPr lang="en-US" altLang="ko-KR" sz="1600" dirty="0" err="1"/>
              <a:t>SequenceFile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6876393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3124200" cy="381000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Preventing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Splitting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2514601"/>
            <a:ext cx="6934200" cy="2286000"/>
          </a:xfrm>
        </p:spPr>
        <p:txBody>
          <a:bodyPr/>
          <a:lstStyle/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Some application don’t want files to be </a:t>
            </a:r>
            <a:r>
              <a:rPr lang="en-US" altLang="ko-KR" sz="2400" kern="1200" dirty="0" smtClean="0">
                <a:ea typeface="+mn-ea"/>
                <a:cs typeface="+mn-cs"/>
              </a:rPr>
              <a:t>split.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Want to process entire data by a single </a:t>
            </a:r>
            <a:r>
              <a:rPr lang="en-US" altLang="ko-KR" sz="2000" dirty="0" smtClean="0"/>
              <a:t>mapper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Two ways of ensuring an existing file is not </a:t>
            </a:r>
            <a:r>
              <a:rPr lang="en-US" altLang="ko-KR" sz="2400" kern="1200" dirty="0" smtClean="0">
                <a:ea typeface="+mn-ea"/>
                <a:cs typeface="+mn-cs"/>
              </a:rPr>
              <a:t>split: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Set the minimum split size larger than the largest file size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Override the </a:t>
            </a:r>
            <a:r>
              <a:rPr lang="en-US" altLang="ko-KR" sz="2000" dirty="0" err="1"/>
              <a:t>isSplitable</a:t>
            </a:r>
            <a:r>
              <a:rPr lang="en-US" altLang="ko-KR" sz="2000" dirty="0"/>
              <a:t>() method to return </a:t>
            </a:r>
            <a:r>
              <a:rPr lang="en-US" altLang="ko-KR" sz="2000" b="1" dirty="0"/>
              <a:t>false</a:t>
            </a:r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434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48000" y="1066800"/>
            <a:ext cx="4648200" cy="350838"/>
          </a:xfrm>
        </p:spPr>
        <p:txBody>
          <a:bodyPr>
            <a:normAutofit fontScale="90000"/>
          </a:bodyPr>
          <a:lstStyle/>
          <a:p>
            <a:r>
              <a:rPr lang="en-US" altLang="ko-KR" sz="18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Processing </a:t>
            </a:r>
            <a:r>
              <a:rPr lang="en-US" altLang="ko-KR" sz="18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</a:t>
            </a:r>
            <a:r>
              <a:rPr lang="en-US" altLang="ko-KR" sz="18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Whole File As </a:t>
            </a:r>
            <a:r>
              <a:rPr lang="en-US" altLang="ko-KR" sz="18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</a:t>
            </a:r>
            <a:r>
              <a:rPr lang="en-US" altLang="ko-KR" sz="18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Record – p.242</a:t>
            </a:r>
            <a:endParaRPr lang="ko-KR" altLang="en-US" sz="18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95966"/>
            <a:ext cx="7633656" cy="481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39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91000" y="1066800"/>
            <a:ext cx="2362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TextInputFormat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47800" y="2133600"/>
            <a:ext cx="6172200" cy="1676400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lnSpc>
                <a:spcPct val="8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err="1">
                <a:ea typeface="+mn-ea"/>
                <a:cs typeface="+mn-cs"/>
              </a:rPr>
              <a:t>TextInputFormat</a:t>
            </a:r>
            <a:r>
              <a:rPr lang="en-US" altLang="ko-KR" kern="1200" dirty="0">
                <a:ea typeface="+mn-ea"/>
                <a:cs typeface="+mn-cs"/>
              </a:rPr>
              <a:t> is the default </a:t>
            </a:r>
            <a:r>
              <a:rPr lang="en-US" altLang="ko-KR" kern="1200" dirty="0" err="1">
                <a:ea typeface="+mn-ea"/>
                <a:cs typeface="+mn-cs"/>
              </a:rPr>
              <a:t>InputFormat</a:t>
            </a:r>
            <a:endParaRPr lang="en-US" altLang="ko-KR" kern="1200" dirty="0">
              <a:ea typeface="+mn-ea"/>
              <a:cs typeface="+mn-cs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Key: The byte offset of the beginning of the line (</a:t>
            </a:r>
            <a:r>
              <a:rPr lang="en-US" altLang="ko-KR" sz="2400" dirty="0" err="1">
                <a:solidFill>
                  <a:srgbClr val="FF0000"/>
                </a:solidFill>
              </a:rPr>
              <a:t>LongWritable</a:t>
            </a:r>
            <a:r>
              <a:rPr lang="en-US" altLang="ko-KR" sz="2400" dirty="0"/>
              <a:t>) ; Not line number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Value: The contents of the line excluding any line terminators (</a:t>
            </a:r>
            <a:r>
              <a:rPr lang="en-US" altLang="ko-KR" sz="2400" dirty="0">
                <a:solidFill>
                  <a:srgbClr val="FF0000"/>
                </a:solidFill>
              </a:rPr>
              <a:t>Text</a:t>
            </a:r>
            <a:r>
              <a:rPr lang="en-US" altLang="ko-KR" sz="2400" dirty="0"/>
              <a:t>)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615" y="4171958"/>
            <a:ext cx="2962275" cy="923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95333" y="4171958"/>
            <a:ext cx="3462867" cy="876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톱니 모양의 오른쪽 화살표 17"/>
          <p:cNvSpPr/>
          <p:nvPr/>
        </p:nvSpPr>
        <p:spPr>
          <a:xfrm>
            <a:off x="3780887" y="4457710"/>
            <a:ext cx="1071570" cy="35719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181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91000" y="1066800"/>
            <a:ext cx="2362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TextInputFormat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47800" y="1905000"/>
            <a:ext cx="6248400" cy="2133599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200" kern="1200" dirty="0">
                <a:ea typeface="+mn-ea"/>
                <a:cs typeface="+mn-cs"/>
              </a:rPr>
              <a:t>T</a:t>
            </a:r>
            <a:r>
              <a:rPr lang="en-US" sz="2200" kern="1200" dirty="0" smtClean="0">
                <a:ea typeface="+mn-ea"/>
                <a:cs typeface="+mn-cs"/>
              </a:rPr>
              <a:t>he </a:t>
            </a:r>
            <a:r>
              <a:rPr lang="en-US" sz="2200" kern="1200" dirty="0">
                <a:ea typeface="+mn-ea"/>
                <a:cs typeface="+mn-cs"/>
              </a:rPr>
              <a:t>offset within the file of each line is known by each split independently of the other splits;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Each split knows the size of the preceding </a:t>
            </a:r>
            <a:r>
              <a:rPr lang="en-US" altLang="ko-KR" sz="2200" kern="1200" dirty="0" smtClean="0">
                <a:ea typeface="+mn-ea"/>
                <a:cs typeface="+mn-cs"/>
              </a:rPr>
              <a:t>splits;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Add previous split size onto the offsets within the split to produce a global file offset</a:t>
            </a:r>
            <a:r>
              <a:rPr lang="en-US" altLang="ko-KR" sz="2200" kern="1200" dirty="0" smtClean="0">
                <a:ea typeface="+mn-ea"/>
                <a:cs typeface="+mn-cs"/>
              </a:rPr>
              <a:t>.</a:t>
            </a:r>
            <a:endParaRPr lang="en-US" altLang="ko-KR" sz="2200" kern="1200" dirty="0">
              <a:ea typeface="+mn-ea"/>
              <a:cs typeface="+mn-cs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1" y="4191000"/>
            <a:ext cx="8026902" cy="1647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42114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814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NLineInputFormat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2362200"/>
            <a:ext cx="7620000" cy="2590800"/>
          </a:xfrm>
        </p:spPr>
        <p:txBody>
          <a:bodyPr>
            <a:normAutofit fontScale="92500"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b="1" kern="1200" dirty="0" err="1">
                <a:ea typeface="+mn-ea"/>
                <a:cs typeface="+mn-cs"/>
              </a:rPr>
              <a:t>TextInputFormat</a:t>
            </a:r>
            <a:r>
              <a:rPr lang="en-US" altLang="ko-KR" sz="2400" b="1" kern="1200" dirty="0">
                <a:ea typeface="+mn-ea"/>
                <a:cs typeface="+mn-cs"/>
              </a:rPr>
              <a:t>, </a:t>
            </a:r>
            <a:r>
              <a:rPr lang="en-US" altLang="ko-KR" sz="2400" b="1" kern="1200" dirty="0" err="1">
                <a:ea typeface="+mn-ea"/>
                <a:cs typeface="+mn-cs"/>
              </a:rPr>
              <a:t>KeyValueTextInputFormat</a:t>
            </a:r>
            <a:r>
              <a:rPr lang="en-US" altLang="ko-KR" sz="2400" b="1" kern="1200" dirty="0">
                <a:ea typeface="+mn-ea"/>
                <a:cs typeface="+mn-cs"/>
              </a:rPr>
              <a:t> – </a:t>
            </a:r>
            <a:r>
              <a:rPr lang="en-US" altLang="ko-KR" sz="2400" kern="1200" dirty="0" smtClean="0">
                <a:ea typeface="+mn-ea"/>
                <a:cs typeface="+mn-cs"/>
              </a:rPr>
              <a:t>each </a:t>
            </a:r>
            <a:r>
              <a:rPr lang="en-US" altLang="ko-KR" sz="2400" kern="1200" dirty="0">
                <a:ea typeface="+mn-ea"/>
                <a:cs typeface="+mn-cs"/>
              </a:rPr>
              <a:t>mapper receives a variable number of lines of </a:t>
            </a:r>
            <a:r>
              <a:rPr lang="en-US" altLang="ko-KR" sz="2400" kern="1200" dirty="0" smtClean="0">
                <a:ea typeface="+mn-ea"/>
                <a:cs typeface="+mn-cs"/>
              </a:rPr>
              <a:t>input.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b="1" dirty="0" err="1" smtClean="0"/>
              <a:t>NLineInputFormat</a:t>
            </a:r>
            <a:r>
              <a:rPr lang="en-US" altLang="ko-KR" sz="2400" b="1" dirty="0" smtClean="0"/>
              <a:t> – </a:t>
            </a:r>
            <a:r>
              <a:rPr lang="en-US" altLang="ko-KR" sz="2400" kern="1200" dirty="0" smtClean="0">
                <a:ea typeface="+mn-ea"/>
                <a:cs typeface="+mn-cs"/>
              </a:rPr>
              <a:t>receive </a:t>
            </a:r>
            <a:r>
              <a:rPr lang="en-US" altLang="ko-KR" sz="2400" kern="1200" dirty="0">
                <a:ea typeface="+mn-ea"/>
                <a:cs typeface="+mn-cs"/>
              </a:rPr>
              <a:t>a fixed number of lines of </a:t>
            </a:r>
            <a:r>
              <a:rPr lang="en-US" altLang="ko-KR" sz="2400" kern="1200" dirty="0" smtClean="0">
                <a:ea typeface="+mn-ea"/>
                <a:cs typeface="+mn-cs"/>
              </a:rPr>
              <a:t>input.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lnSpc>
                <a:spcPct val="110000"/>
              </a:lnSpc>
              <a:spcBef>
                <a:spcPts val="12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N: The number of lines of </a:t>
            </a:r>
            <a:r>
              <a:rPr lang="en-US" altLang="ko-KR" sz="2000" dirty="0" smtClean="0"/>
              <a:t>input. </a:t>
            </a:r>
            <a:endParaRPr lang="en-US" altLang="ko-KR" sz="2000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Control N in </a:t>
            </a:r>
            <a:r>
              <a:rPr lang="en-US" altLang="ko-KR" sz="2000" dirty="0" err="1"/>
              <a:t>Mapred.line.input.format.linespermap</a:t>
            </a:r>
            <a:r>
              <a:rPr lang="en-US" altLang="ko-KR" sz="2000" dirty="0"/>
              <a:t> property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With N set to one, each mapper receives exactly one line of input.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62734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505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Binary Input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43000" y="1752600"/>
            <a:ext cx="6858000" cy="42672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SequenceFileInputFormat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Hadoop’s sequence file format stores sequences of binary key-value pairs</a:t>
            </a: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Data is </a:t>
            </a:r>
            <a:r>
              <a:rPr lang="en-US" altLang="ko-KR" sz="1900" dirty="0" err="1"/>
              <a:t>splittable</a:t>
            </a:r>
            <a:r>
              <a:rPr lang="en-US" altLang="ko-KR" sz="1900" dirty="0"/>
              <a:t> (Data has sync points)</a:t>
            </a: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Use </a:t>
            </a:r>
            <a:r>
              <a:rPr lang="en-US" altLang="ko-KR" sz="1900" dirty="0" err="1"/>
              <a:t>SequenceFileInputFormat</a:t>
            </a:r>
            <a:endParaRPr lang="en-US" altLang="ko-KR" sz="1900" dirty="0"/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SequenceFileAsTextInputFormat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Convert the sequence file’s keys and values to Text objects </a:t>
            </a: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Use </a:t>
            </a:r>
            <a:r>
              <a:rPr lang="en-US" altLang="ko-KR" sz="1900" dirty="0" err="1"/>
              <a:t>toString</a:t>
            </a:r>
            <a:r>
              <a:rPr lang="en-US" altLang="ko-KR" sz="1900" dirty="0"/>
              <a:t>() method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SequenceFileAsBinaryInputFormat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Retrieve the sequence file’s keys and values as opaque binary </a:t>
            </a:r>
            <a:r>
              <a:rPr lang="en-US" altLang="ko-KR" sz="1900" dirty="0" smtClean="0"/>
              <a:t>objects</a:t>
            </a:r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1772053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004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Multiple Inputs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1752600"/>
            <a:ext cx="7162800" cy="30480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Use </a:t>
            </a:r>
            <a:r>
              <a:rPr lang="en-US" altLang="ko-KR" sz="2200" kern="1200" dirty="0" err="1">
                <a:ea typeface="+mn-ea"/>
                <a:cs typeface="+mn-cs"/>
              </a:rPr>
              <a:t>MultipleInput</a:t>
            </a:r>
            <a:r>
              <a:rPr lang="en-US" altLang="ko-KR" sz="2200" kern="1200" dirty="0">
                <a:ea typeface="+mn-ea"/>
                <a:cs typeface="+mn-cs"/>
              </a:rPr>
              <a:t> when have data sources that provide the same type of data but in different formats, for </a:t>
            </a:r>
            <a:r>
              <a:rPr lang="en-US" altLang="ko-KR" sz="2200" kern="1200" dirty="0" smtClean="0">
                <a:ea typeface="+mn-ea"/>
                <a:cs typeface="+mn-cs"/>
              </a:rPr>
              <a:t>example: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One might be tab-separated plain text, the other a binary sequence </a:t>
            </a:r>
            <a:r>
              <a:rPr lang="en-US" altLang="ko-KR" sz="1900" dirty="0" smtClean="0"/>
              <a:t>file;</a:t>
            </a:r>
            <a:endParaRPr lang="en-US" altLang="ko-KR" sz="1900" dirty="0"/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Need to be parsed </a:t>
            </a:r>
            <a:r>
              <a:rPr lang="en-US" altLang="ko-KR" sz="1900" dirty="0" smtClean="0"/>
              <a:t>differently;</a:t>
            </a:r>
            <a:endParaRPr lang="en-US" altLang="ko-KR" sz="1900" dirty="0"/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Use different </a:t>
            </a:r>
            <a:r>
              <a:rPr lang="en-US" altLang="ko-KR" sz="1900" dirty="0" smtClean="0"/>
              <a:t>mappers;</a:t>
            </a:r>
            <a:endParaRPr lang="en-US" altLang="ko-KR" sz="1900" dirty="0"/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The map outputs have the same </a:t>
            </a:r>
            <a:r>
              <a:rPr lang="en-US" altLang="ko-KR" sz="1900" dirty="0" smtClean="0"/>
              <a:t>types;</a:t>
            </a:r>
            <a:endParaRPr lang="en-US" altLang="ko-KR" sz="1900" dirty="0"/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900" dirty="0"/>
              <a:t>Reducers are not aware of the different </a:t>
            </a:r>
            <a:r>
              <a:rPr lang="en-US" altLang="ko-KR" sz="1900" dirty="0" smtClean="0"/>
              <a:t>mappers.</a:t>
            </a:r>
            <a:endParaRPr lang="en-US" altLang="ko-KR" sz="1900" dirty="0"/>
          </a:p>
          <a:p>
            <a:pPr lvl="2"/>
            <a:endParaRPr lang="en-US" altLang="ko-KR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953000"/>
            <a:ext cx="7086600" cy="106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203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7338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Output Formats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6096000"/>
            <a:ext cx="4038600" cy="38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 smtClean="0"/>
              <a:t>Figure 7-4. The </a:t>
            </a:r>
            <a:r>
              <a:rPr lang="en-US" altLang="ko-KR" sz="1600" dirty="0" err="1" smtClean="0"/>
              <a:t>OutputFormat</a:t>
            </a:r>
            <a:r>
              <a:rPr lang="en-US" altLang="ko-KR" sz="1600" dirty="0" smtClean="0"/>
              <a:t> class hierarchy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3999"/>
            <a:ext cx="7467600" cy="4484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83199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29718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Text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Output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24000" y="2286000"/>
            <a:ext cx="6248400" cy="2819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2800" dirty="0" err="1" smtClean="0"/>
              <a:t>TextOutputFormat</a:t>
            </a:r>
            <a:r>
              <a:rPr lang="en-US" altLang="ko-KR" sz="2800" dirty="0" smtClean="0"/>
              <a:t> (default) 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Write records as lines of text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Keys and Values may be of any type </a:t>
            </a: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It calls </a:t>
            </a:r>
            <a:r>
              <a:rPr lang="en-US" altLang="ko-KR" sz="2200" dirty="0" err="1"/>
              <a:t>toString</a:t>
            </a:r>
            <a:r>
              <a:rPr lang="en-US" altLang="ko-KR" sz="2200" dirty="0"/>
              <a:t>() method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Each key-value pair is separated by a tab character</a:t>
            </a:r>
          </a:p>
          <a:p>
            <a:pPr lvl="1" eaLnBrk="1" hangingPunct="1">
              <a:lnSpc>
                <a:spcPct val="11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Set the separator in </a:t>
            </a:r>
            <a:r>
              <a:rPr lang="en-US" altLang="ko-KR" sz="2200" b="1" dirty="0" err="1"/>
              <a:t>mapred.textoutputformat.separator</a:t>
            </a:r>
            <a:r>
              <a:rPr lang="en-US" altLang="ko-KR" sz="2200" dirty="0"/>
              <a:t> property</a:t>
            </a:r>
          </a:p>
        </p:txBody>
      </p:sp>
    </p:spTree>
    <p:extLst>
      <p:ext uri="{BB962C8B-B14F-4D97-AF65-F5344CB8AC3E}">
        <p14:creationId xmlns:p14="http://schemas.microsoft.com/office/powerpoint/2010/main" val="3467480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2004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Binary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Output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76400" y="2057400"/>
            <a:ext cx="5791200" cy="35052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SequenceFileOutputFormat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Write sequence files for its </a:t>
            </a:r>
            <a:r>
              <a:rPr lang="en-US" altLang="ko-KR" sz="1800" dirty="0" smtClean="0"/>
              <a:t>output.</a:t>
            </a:r>
            <a:endParaRPr lang="en-US" altLang="ko-KR" sz="18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Compact, readily compressed (Useful for a further MapReduce job</a:t>
            </a:r>
            <a:r>
              <a:rPr lang="en-US" altLang="ko-KR" sz="1800" dirty="0" smtClean="0"/>
              <a:t>). </a:t>
            </a:r>
            <a:endParaRPr lang="en-US" altLang="ko-KR" sz="1800" dirty="0"/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SequenceFileAsBinaryOutputFormat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Write keys and values in raw binary format into a </a:t>
            </a:r>
            <a:r>
              <a:rPr lang="en-US" altLang="ko-KR" sz="1800" dirty="0" err="1"/>
              <a:t>SequenceFile</a:t>
            </a:r>
            <a:r>
              <a:rPr lang="en-US" altLang="ko-KR" sz="1800" dirty="0"/>
              <a:t> container.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MapFileOutputFormat</a:t>
            </a:r>
            <a:endParaRPr lang="en-US" altLang="ko-KR" sz="2200" kern="1200" dirty="0">
              <a:ea typeface="+mn-ea"/>
              <a:cs typeface="+mn-cs"/>
            </a:endParaRPr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Write </a:t>
            </a:r>
            <a:r>
              <a:rPr lang="en-US" altLang="ko-KR" sz="1800" dirty="0" err="1"/>
              <a:t>MapFiles</a:t>
            </a:r>
            <a:r>
              <a:rPr lang="en-US" altLang="ko-KR" sz="1800" dirty="0"/>
              <a:t> as </a:t>
            </a:r>
            <a:r>
              <a:rPr lang="en-US" altLang="ko-KR" sz="1800" dirty="0" smtClean="0"/>
              <a:t>output.</a:t>
            </a:r>
            <a:endParaRPr lang="en-US" altLang="ko-KR" sz="1800" dirty="0"/>
          </a:p>
          <a:p>
            <a:pPr lvl="1" eaLnBrk="1" hangingPunct="1"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1800" dirty="0"/>
              <a:t>The keys in </a:t>
            </a:r>
            <a:r>
              <a:rPr lang="en-US" altLang="ko-KR" sz="1800" dirty="0" err="1"/>
              <a:t>MapFile</a:t>
            </a:r>
            <a:r>
              <a:rPr lang="en-US" altLang="ko-KR" sz="1800" dirty="0"/>
              <a:t> must be added in </a:t>
            </a:r>
            <a:r>
              <a:rPr lang="en-US" altLang="ko-KR" sz="1800" dirty="0" smtClean="0"/>
              <a:t>order.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5920284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05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MultipleOutputs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1981200"/>
            <a:ext cx="70866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600" dirty="0" err="1" smtClean="0"/>
              <a:t>MultipleOutputs</a:t>
            </a:r>
            <a:endParaRPr lang="en-US" altLang="ko-KR" sz="2600" dirty="0" smtClean="0"/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Output file names </a:t>
            </a:r>
            <a:r>
              <a:rPr lang="en-US" altLang="ko-KR" sz="2200" kern="1200" dirty="0">
                <a:ea typeface="+mn-ea"/>
                <a:cs typeface="+mn-cs"/>
              </a:rPr>
              <a:t>are derived from the output keys and values, or </a:t>
            </a:r>
            <a:r>
              <a:rPr lang="en-US" altLang="ko-KR" sz="2200" kern="1200" dirty="0" smtClean="0">
                <a:ea typeface="+mn-ea"/>
                <a:cs typeface="+mn-cs"/>
              </a:rPr>
              <a:t>from </a:t>
            </a:r>
            <a:r>
              <a:rPr lang="en-US" altLang="ko-KR" sz="2200" kern="1200" dirty="0">
                <a:ea typeface="+mn-ea"/>
                <a:cs typeface="+mn-cs"/>
              </a:rPr>
              <a:t>an arbitrary </a:t>
            </a:r>
            <a:r>
              <a:rPr lang="en-US" altLang="ko-KR" sz="2200" kern="1200" dirty="0" smtClean="0">
                <a:ea typeface="+mn-ea"/>
                <a:cs typeface="+mn-cs"/>
              </a:rPr>
              <a:t>string</a:t>
            </a:r>
            <a:r>
              <a:rPr lang="en-US" altLang="ko-KR" sz="2200" kern="1200" dirty="0">
                <a:ea typeface="+mn-ea"/>
                <a:cs typeface="+mn-cs"/>
              </a:rPr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A</a:t>
            </a:r>
            <a:r>
              <a:rPr lang="en-US" altLang="ko-KR" sz="2200" kern="1200" dirty="0" smtClean="0">
                <a:ea typeface="+mn-ea"/>
                <a:cs typeface="+mn-cs"/>
              </a:rPr>
              <a:t>llows </a:t>
            </a:r>
            <a:r>
              <a:rPr lang="en-US" altLang="ko-KR" sz="2200" kern="1200" dirty="0">
                <a:ea typeface="+mn-ea"/>
                <a:cs typeface="+mn-cs"/>
              </a:rPr>
              <a:t>each reducer (or mapper in a map-only job) to create more than a single </a:t>
            </a:r>
            <a:r>
              <a:rPr lang="en-US" altLang="ko-KR" sz="2200" kern="1200" dirty="0" smtClean="0">
                <a:ea typeface="+mn-ea"/>
                <a:cs typeface="+mn-cs"/>
              </a:rPr>
              <a:t>file</a:t>
            </a:r>
            <a:r>
              <a:rPr lang="en-US" altLang="ko-KR" sz="2200" kern="1200" dirty="0">
                <a:ea typeface="+mn-ea"/>
                <a:cs typeface="+mn-cs"/>
              </a:rPr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>
                <a:ea typeface="+mn-ea"/>
                <a:cs typeface="+mn-cs"/>
              </a:rPr>
              <a:t>Filenames are of the form name-m-</a:t>
            </a:r>
            <a:r>
              <a:rPr lang="en-US" altLang="ko-KR" sz="2200" kern="1200" dirty="0" err="1">
                <a:ea typeface="+mn-ea"/>
                <a:cs typeface="+mn-cs"/>
              </a:rPr>
              <a:t>nnnnn</a:t>
            </a:r>
            <a:r>
              <a:rPr lang="en-US" altLang="ko-KR" sz="2200" kern="1200" dirty="0">
                <a:ea typeface="+mn-ea"/>
                <a:cs typeface="+mn-cs"/>
              </a:rPr>
              <a:t> for map outputs and name-r-</a:t>
            </a:r>
            <a:r>
              <a:rPr lang="en-US" altLang="ko-KR" sz="2200" kern="1200" dirty="0" err="1">
                <a:ea typeface="+mn-ea"/>
                <a:cs typeface="+mn-cs"/>
              </a:rPr>
              <a:t>nnnnn</a:t>
            </a:r>
            <a:r>
              <a:rPr lang="en-US" altLang="ko-KR" sz="2200" kern="1200" dirty="0">
                <a:ea typeface="+mn-ea"/>
                <a:cs typeface="+mn-cs"/>
              </a:rPr>
              <a:t> for reduce </a:t>
            </a:r>
            <a:r>
              <a:rPr lang="en-US" altLang="ko-KR" sz="2200" kern="1200" dirty="0" smtClean="0">
                <a:ea typeface="+mn-ea"/>
                <a:cs typeface="+mn-cs"/>
              </a:rPr>
              <a:t>outputs. </a:t>
            </a:r>
            <a:endParaRPr lang="en-US" altLang="ko-KR" sz="22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Name </a:t>
            </a:r>
            <a:r>
              <a:rPr lang="en-US" altLang="ko-KR" sz="2200" kern="1200" dirty="0">
                <a:ea typeface="+mn-ea"/>
                <a:cs typeface="+mn-cs"/>
              </a:rPr>
              <a:t>is </a:t>
            </a:r>
            <a:r>
              <a:rPr lang="en-US" altLang="ko-KR" sz="2200" kern="1200" dirty="0" smtClean="0">
                <a:ea typeface="+mn-ea"/>
                <a:cs typeface="+mn-cs"/>
              </a:rPr>
              <a:t>arbitrary and set </a:t>
            </a:r>
            <a:r>
              <a:rPr lang="en-US" altLang="ko-KR" sz="2200" kern="1200" dirty="0">
                <a:ea typeface="+mn-ea"/>
                <a:cs typeface="+mn-cs"/>
              </a:rPr>
              <a:t>by the program, and </a:t>
            </a:r>
            <a:r>
              <a:rPr lang="en-US" altLang="ko-KR" sz="2200" kern="1200" dirty="0" err="1">
                <a:ea typeface="+mn-ea"/>
                <a:cs typeface="+mn-cs"/>
              </a:rPr>
              <a:t>nnnnn</a:t>
            </a:r>
            <a:r>
              <a:rPr lang="en-US" altLang="ko-KR" sz="2200" kern="1200" dirty="0">
                <a:ea typeface="+mn-ea"/>
                <a:cs typeface="+mn-cs"/>
              </a:rPr>
              <a:t> is an integer designating the part number, starting from zero.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20191896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05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MultipleOutputs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90800" y="3048000"/>
            <a:ext cx="3962400" cy="838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3200" kern="1200" dirty="0">
                <a:ea typeface="+mn-ea"/>
                <a:cs typeface="+mn-cs"/>
              </a:rPr>
              <a:t>P. 255 Example 7-5</a:t>
            </a:r>
          </a:p>
        </p:txBody>
      </p:sp>
    </p:spTree>
    <p:extLst>
      <p:ext uri="{BB962C8B-B14F-4D97-AF65-F5344CB8AC3E}">
        <p14:creationId xmlns:p14="http://schemas.microsoft.com/office/powerpoint/2010/main" val="32898154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9718</TotalTime>
  <Words>1010</Words>
  <Application>Microsoft Office PowerPoint</Application>
  <PresentationFormat>On-screen Show (4:3)</PresentationFormat>
  <Paragraphs>138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Default Design</vt:lpstr>
      <vt:lpstr>MapReduce  Types and Formats</vt:lpstr>
      <vt:lpstr>PowerPoint Presentation</vt:lpstr>
      <vt:lpstr>General Form of MapReduce</vt:lpstr>
      <vt:lpstr>Configuration of MapReduce Types – 1</vt:lpstr>
      <vt:lpstr>Configuration of MapReduce Types – 2</vt:lpstr>
      <vt:lpstr>Without Setting a Mapper or a Reducer – 1</vt:lpstr>
      <vt:lpstr>Without Setting a Mapper or a Reducer – 2</vt:lpstr>
      <vt:lpstr>MapReduce Default Settings</vt:lpstr>
      <vt:lpstr>Choosing the Number of Reducers</vt:lpstr>
      <vt:lpstr>Keys and values in Streaming</vt:lpstr>
      <vt:lpstr>Input Splits</vt:lpstr>
      <vt:lpstr>InputFormat Class Hierarchy</vt:lpstr>
      <vt:lpstr>Input Paths</vt:lpstr>
      <vt:lpstr>FileInputFormat</vt:lpstr>
      <vt:lpstr>Small Files and CombineFileInputFormat</vt:lpstr>
      <vt:lpstr>Preventing Splitting</vt:lpstr>
      <vt:lpstr>Processing a Whole File As a Record – p.242</vt:lpstr>
      <vt:lpstr>TextInputFormat – 1</vt:lpstr>
      <vt:lpstr>TextInputFormat – 2</vt:lpstr>
      <vt:lpstr>NLineInputFormat</vt:lpstr>
      <vt:lpstr>Binary Input</vt:lpstr>
      <vt:lpstr>Multiple Inputs</vt:lpstr>
      <vt:lpstr>Output Formats</vt:lpstr>
      <vt:lpstr>Text Output</vt:lpstr>
      <vt:lpstr>Binary Output</vt:lpstr>
      <vt:lpstr>MultipleOutputs – 1</vt:lpstr>
      <vt:lpstr>MultipleOutputs – 2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572</cp:revision>
  <dcterms:created xsi:type="dcterms:W3CDTF">2005-03-05T09:57:46Z</dcterms:created>
  <dcterms:modified xsi:type="dcterms:W3CDTF">2017-05-06T02:14:20Z</dcterms:modified>
</cp:coreProperties>
</file>