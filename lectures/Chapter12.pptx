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670" r:id="rId2"/>
    <p:sldId id="671" r:id="rId3"/>
    <p:sldId id="642" r:id="rId4"/>
    <p:sldId id="643" r:id="rId5"/>
    <p:sldId id="644" r:id="rId6"/>
    <p:sldId id="645" r:id="rId7"/>
    <p:sldId id="672" r:id="rId8"/>
    <p:sldId id="646" r:id="rId9"/>
    <p:sldId id="673" r:id="rId10"/>
    <p:sldId id="647" r:id="rId11"/>
    <p:sldId id="648" r:id="rId12"/>
    <p:sldId id="674" r:id="rId13"/>
    <p:sldId id="675" r:id="rId14"/>
    <p:sldId id="676" r:id="rId15"/>
    <p:sldId id="677" r:id="rId16"/>
    <p:sldId id="678" r:id="rId17"/>
    <p:sldId id="679" r:id="rId18"/>
    <p:sldId id="680" r:id="rId19"/>
    <p:sldId id="681" r:id="rId20"/>
    <p:sldId id="682" r:id="rId21"/>
    <p:sldId id="683" r:id="rId22"/>
    <p:sldId id="684" r:id="rId23"/>
    <p:sldId id="685" r:id="rId24"/>
    <p:sldId id="686" r:id="rId25"/>
    <p:sldId id="687" r:id="rId26"/>
    <p:sldId id="688" r:id="rId27"/>
    <p:sldId id="689" r:id="rId28"/>
    <p:sldId id="690" r:id="rId29"/>
    <p:sldId id="691" r:id="rId30"/>
    <p:sldId id="692" r:id="rId31"/>
    <p:sldId id="693" r:id="rId32"/>
    <p:sldId id="695" r:id="rId33"/>
    <p:sldId id="694" r:id="rId34"/>
    <p:sldId id="696" r:id="rId35"/>
    <p:sldId id="697" r:id="rId36"/>
    <p:sldId id="698" r:id="rId37"/>
    <p:sldId id="699" r:id="rId38"/>
    <p:sldId id="700" r:id="rId39"/>
    <p:sldId id="701" r:id="rId40"/>
    <p:sldId id="702" r:id="rId41"/>
    <p:sldId id="703" r:id="rId42"/>
    <p:sldId id="704" r:id="rId43"/>
    <p:sldId id="705" r:id="rId44"/>
    <p:sldId id="706" r:id="rId45"/>
    <p:sldId id="707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152900" y="6523567"/>
            <a:ext cx="83820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 smtClean="0">
                <a:solidFill>
                  <a:srgbClr val="FFFFFF"/>
                </a:solidFill>
              </a:rPr>
              <a:t>12.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12: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Hive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124200"/>
            <a:ext cx="6705600" cy="1162050"/>
          </a:xfrm>
        </p:spPr>
        <p:txBody>
          <a:bodyPr/>
          <a:lstStyle/>
          <a:p>
            <a:r>
              <a:rPr lang="en-US" altLang="ko-KR" sz="4800" b="1" dirty="0" smtClean="0"/>
              <a:t>Hive</a:t>
            </a:r>
            <a:endParaRPr lang="ko-KR" altLang="en-US" sz="4800" b="1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12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297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57400" y="1981200"/>
            <a:ext cx="5257800" cy="3810000"/>
          </a:xfrm>
        </p:spPr>
        <p:txBody>
          <a:bodyPr/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Defining and Running Hive</a:t>
            </a:r>
            <a:endParaRPr lang="en-US" altLang="ko-KR" sz="30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Hive vs. Traditional Databases</a:t>
            </a:r>
            <a:endParaRPr lang="en-US" altLang="ko-KR" sz="30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err="1" smtClean="0"/>
              <a:t>HiveQL</a:t>
            </a:r>
            <a:endParaRPr lang="en-US" altLang="ko-KR" sz="30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Tables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Querying Data</a:t>
            </a:r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000" dirty="0" smtClean="0"/>
              <a:t>User-Defined Functions</a:t>
            </a:r>
            <a:endParaRPr lang="en-US" altLang="ko-KR" sz="3000" dirty="0"/>
          </a:p>
          <a:p>
            <a:pPr>
              <a:buNone/>
            </a:pPr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3471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1905000"/>
            <a:ext cx="7086600" cy="40386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Hive is </a:t>
            </a:r>
            <a:r>
              <a:rPr lang="en-US" altLang="ko-KR" sz="2500" kern="1200" dirty="0">
                <a:ea typeface="+mn-ea"/>
                <a:cs typeface="+mn-cs"/>
              </a:rPr>
              <a:t>a framework for data warehousing on top of Hadoop. </a:t>
            </a:r>
            <a:endParaRPr lang="en-US" altLang="ko-KR" sz="25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Hive </a:t>
            </a:r>
            <a:r>
              <a:rPr lang="en-US" altLang="ko-KR" sz="2500" kern="1200" dirty="0">
                <a:ea typeface="+mn-ea"/>
                <a:cs typeface="+mn-cs"/>
              </a:rPr>
              <a:t>grew </a:t>
            </a:r>
            <a:r>
              <a:rPr lang="en-US" altLang="ko-KR" sz="2500" kern="1200" dirty="0" smtClean="0">
                <a:ea typeface="+mn-ea"/>
                <a:cs typeface="+mn-cs"/>
              </a:rPr>
              <a:t>from a </a:t>
            </a:r>
            <a:r>
              <a:rPr lang="en-US" altLang="ko-KR" sz="2500" kern="1200" dirty="0">
                <a:ea typeface="+mn-ea"/>
                <a:cs typeface="+mn-cs"/>
              </a:rPr>
              <a:t>need to manage and learn from the huge volumes of data that Facebook was </a:t>
            </a:r>
            <a:r>
              <a:rPr lang="en-US" altLang="ko-KR" sz="2500" kern="1200" dirty="0" smtClean="0">
                <a:ea typeface="+mn-ea"/>
                <a:cs typeface="+mn-cs"/>
              </a:rPr>
              <a:t>producing every day.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>
                <a:ea typeface="+mn-ea"/>
                <a:cs typeface="+mn-cs"/>
              </a:rPr>
              <a:t>Hive </a:t>
            </a:r>
            <a:r>
              <a:rPr lang="en-US" altLang="ko-KR" sz="2500" kern="1200" dirty="0" smtClean="0">
                <a:ea typeface="+mn-ea"/>
                <a:cs typeface="+mn-cs"/>
              </a:rPr>
              <a:t>allows analysts </a:t>
            </a:r>
            <a:r>
              <a:rPr lang="en-US" altLang="ko-KR" sz="2500" kern="1200" dirty="0">
                <a:ea typeface="+mn-ea"/>
                <a:cs typeface="+mn-cs"/>
              </a:rPr>
              <a:t>with strong SQL skills </a:t>
            </a:r>
            <a:r>
              <a:rPr lang="en-US" altLang="ko-KR" sz="2500" kern="1200" dirty="0" smtClean="0">
                <a:ea typeface="+mn-ea"/>
                <a:cs typeface="+mn-cs"/>
              </a:rPr>
              <a:t>to </a:t>
            </a:r>
            <a:r>
              <a:rPr lang="en-US" altLang="ko-KR" sz="2500" kern="1200" dirty="0">
                <a:ea typeface="+mn-ea"/>
                <a:cs typeface="+mn-cs"/>
              </a:rPr>
              <a:t>run queries on the huge volumes of </a:t>
            </a:r>
            <a:r>
              <a:rPr lang="en-US" altLang="ko-KR" sz="2500" kern="1200" dirty="0" smtClean="0">
                <a:ea typeface="+mn-ea"/>
                <a:cs typeface="+mn-cs"/>
              </a:rPr>
              <a:t>data. 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Today</a:t>
            </a:r>
            <a:r>
              <a:rPr lang="en-US" altLang="ko-KR" sz="2500" kern="1200" dirty="0">
                <a:ea typeface="+mn-ea"/>
                <a:cs typeface="+mn-cs"/>
              </a:rPr>
              <a:t>, Hive is a successful Apache project used by many </a:t>
            </a:r>
            <a:r>
              <a:rPr lang="en-US" altLang="ko-KR" sz="2500" kern="1200" dirty="0" smtClean="0">
                <a:ea typeface="+mn-ea"/>
                <a:cs typeface="+mn-cs"/>
              </a:rPr>
              <a:t>organizations as </a:t>
            </a:r>
            <a:r>
              <a:rPr lang="en-US" altLang="ko-KR" sz="2500" kern="1200" dirty="0">
                <a:ea typeface="+mn-ea"/>
                <a:cs typeface="+mn-cs"/>
              </a:rPr>
              <a:t>a general-purpose, scalable data processing platform</a:t>
            </a:r>
            <a:r>
              <a:rPr lang="en-US" altLang="ko-KR" sz="2500" kern="1200" dirty="0" smtClean="0">
                <a:ea typeface="+mn-ea"/>
                <a:cs typeface="+mn-cs"/>
              </a:rPr>
              <a:t>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What Is Hive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45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1981200"/>
            <a:ext cx="7315200" cy="3962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The shell is the primary way that we will interact with Hive, by issuing commands </a:t>
            </a:r>
            <a:r>
              <a:rPr lang="en-US" altLang="ko-KR" sz="2400" kern="1200" dirty="0" smtClean="0">
                <a:ea typeface="+mn-ea"/>
                <a:cs typeface="+mn-cs"/>
              </a:rPr>
              <a:t>in </a:t>
            </a:r>
            <a:r>
              <a:rPr lang="en-US" altLang="ko-KR" sz="2400" kern="1200" dirty="0" err="1" smtClean="0">
                <a:ea typeface="+mn-ea"/>
                <a:cs typeface="+mn-cs"/>
              </a:rPr>
              <a:t>HiveQL</a:t>
            </a:r>
            <a:r>
              <a:rPr lang="en-US" altLang="ko-KR" sz="2400" kern="1200" dirty="0">
                <a:ea typeface="+mn-ea"/>
                <a:cs typeface="+mn-cs"/>
              </a:rPr>
              <a:t>. </a:t>
            </a:r>
            <a:endParaRPr lang="en-US" altLang="ko-KR" sz="24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err="1" smtClean="0">
                <a:ea typeface="+mn-ea"/>
                <a:cs typeface="+mn-cs"/>
              </a:rPr>
              <a:t>HiveQL</a:t>
            </a:r>
            <a:r>
              <a:rPr lang="en-US" altLang="ko-KR" sz="2400" kern="1200" dirty="0" smtClean="0">
                <a:ea typeface="+mn-ea"/>
                <a:cs typeface="+mn-cs"/>
              </a:rPr>
              <a:t> </a:t>
            </a:r>
            <a:r>
              <a:rPr lang="en-US" altLang="ko-KR" sz="2400" kern="1200" dirty="0">
                <a:ea typeface="+mn-ea"/>
                <a:cs typeface="+mn-cs"/>
              </a:rPr>
              <a:t>is Hive’s query language, a dialect of SQL. </a:t>
            </a:r>
            <a:endParaRPr lang="en-US" altLang="ko-KR" sz="24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Like SQL, </a:t>
            </a:r>
            <a:r>
              <a:rPr lang="en-US" altLang="ko-KR" sz="2400" kern="1200" dirty="0" err="1">
                <a:ea typeface="+mn-ea"/>
                <a:cs typeface="+mn-cs"/>
              </a:rPr>
              <a:t>HiveQL</a:t>
            </a:r>
            <a:r>
              <a:rPr lang="en-US" altLang="ko-KR" sz="2400" kern="1200" dirty="0">
                <a:ea typeface="+mn-ea"/>
                <a:cs typeface="+mn-cs"/>
              </a:rPr>
              <a:t> is generally case-insensitive (except for string comparisons</a:t>
            </a:r>
            <a:r>
              <a:rPr lang="en-US" altLang="ko-KR" sz="2400" kern="1200" dirty="0" smtClean="0">
                <a:ea typeface="+mn-ea"/>
                <a:cs typeface="+mn-cs"/>
              </a:rPr>
              <a:t>).</a:t>
            </a:r>
            <a:endParaRPr lang="en-US" altLang="ko-KR" sz="2400" kern="1200" dirty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When </a:t>
            </a:r>
            <a:r>
              <a:rPr lang="en-US" altLang="ko-KR" sz="2400" kern="1200" dirty="0">
                <a:ea typeface="+mn-ea"/>
                <a:cs typeface="+mn-cs"/>
              </a:rPr>
              <a:t>starting Hive for the first time, we can check that it is working by listing its </a:t>
            </a:r>
            <a:r>
              <a:rPr lang="en-US" altLang="ko-KR" sz="2400" kern="1200" dirty="0" smtClean="0">
                <a:ea typeface="+mn-ea"/>
                <a:cs typeface="+mn-cs"/>
              </a:rPr>
              <a:t>tables: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600" dirty="0" smtClean="0">
              <a:latin typeface="TheSansMonoCd-W5Regular"/>
            </a:endParaRPr>
          </a:p>
          <a:p>
            <a:pPr marL="800100" lvl="2" indent="0">
              <a:spcBef>
                <a:spcPts val="0"/>
              </a:spcBef>
              <a:buNone/>
            </a:pPr>
            <a:r>
              <a:rPr lang="en-US" sz="2000" dirty="0" smtClean="0">
                <a:latin typeface="TheSansMonoCd-W5Regular"/>
              </a:rPr>
              <a:t>hive</a:t>
            </a:r>
            <a:r>
              <a:rPr lang="en-US" sz="2000" dirty="0">
                <a:latin typeface="TheSansMonoCd-W5Regular"/>
              </a:rPr>
              <a:t>&gt; </a:t>
            </a:r>
            <a:r>
              <a:rPr lang="en-US" sz="2000" b="1" dirty="0">
                <a:latin typeface="TheSansMonoCd-W7Bold"/>
              </a:rPr>
              <a:t>SHOW TABLES;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2000" dirty="0">
                <a:latin typeface="TheSansMonoCd-W5Regular"/>
              </a:rPr>
              <a:t>OK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2000" dirty="0">
                <a:latin typeface="TheSansMonoCd-W5Regular"/>
              </a:rPr>
              <a:t>Time taken: 10.425 seconds</a:t>
            </a:r>
            <a:endParaRPr lang="en-US" altLang="ko-KR" sz="2000" kern="1200" dirty="0" smtClean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The Hive Shell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701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Hive –f and –e Options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65867"/>
            <a:ext cx="836239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86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Hive Example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33" y="2133600"/>
            <a:ext cx="8620439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368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Hive Example –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81200"/>
            <a:ext cx="85344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5380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Configuring Hive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57400"/>
            <a:ext cx="86868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352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Configuring Hive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133600"/>
            <a:ext cx="8686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263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2057400"/>
            <a:ext cx="7010400" cy="3505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Schema on read </a:t>
            </a:r>
            <a:r>
              <a:rPr lang="en-US" altLang="ko-KR" sz="2400" kern="1200" dirty="0" smtClean="0"/>
              <a:t>– doesn’t </a:t>
            </a:r>
            <a:r>
              <a:rPr lang="en-US" altLang="ko-KR" sz="2400" kern="1200" dirty="0"/>
              <a:t>verify the data when it is loaded, but rather when a query is issued. 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Makes </a:t>
            </a:r>
            <a:r>
              <a:rPr lang="en-US" altLang="ko-KR" sz="2000" dirty="0"/>
              <a:t>for a very fast initial load, since the data does not have to be read, parsed, and serialized to disk in the database’s internal format</a:t>
            </a:r>
            <a:r>
              <a:rPr lang="en-US" altLang="ko-KR" sz="2000" dirty="0" smtClean="0"/>
              <a:t>.</a:t>
            </a:r>
            <a:endParaRPr lang="en-US" altLang="ko-KR" sz="20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Schema on write – data is checked against the schema when it is written into the database.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Makes query time performance faster because the database can index columns and perform compression on the data. 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Takes </a:t>
            </a:r>
            <a:r>
              <a:rPr lang="en-US" altLang="ko-KR" sz="2100" kern="1200" dirty="0" smtClean="0">
                <a:ea typeface="+mn-ea"/>
                <a:cs typeface="+mn-cs"/>
              </a:rPr>
              <a:t>longer to load data into the database.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Schema on Read vs. Schema on Write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13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Hive Data Types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00200"/>
            <a:ext cx="7239000" cy="468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773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Hive Data Types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553914"/>
            <a:ext cx="8077200" cy="484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220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1752600"/>
            <a:ext cx="7239000" cy="2362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Hive comes with a large number of built-in functions. 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Mathematical </a:t>
            </a:r>
            <a:r>
              <a:rPr lang="en-US" altLang="ko-KR" sz="2000" dirty="0"/>
              <a:t>and statistical </a:t>
            </a:r>
            <a:r>
              <a:rPr lang="en-US" altLang="ko-KR" sz="2000" dirty="0" smtClean="0"/>
              <a:t>functions 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S</a:t>
            </a:r>
            <a:r>
              <a:rPr lang="en-US" altLang="ko-KR" sz="2000" dirty="0" smtClean="0"/>
              <a:t>tring functions</a:t>
            </a:r>
            <a:endParaRPr lang="en-US" altLang="ko-KR" sz="2000" dirty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Date </a:t>
            </a:r>
            <a:r>
              <a:rPr lang="en-US" altLang="ko-KR" sz="2000" dirty="0"/>
              <a:t>functions </a:t>
            </a:r>
            <a:endParaRPr lang="en-US" altLang="ko-KR" sz="2000" dirty="0" smtClean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Conditional functions</a:t>
            </a:r>
            <a:endParaRPr lang="en-US" altLang="ko-KR" sz="2000" dirty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Aggregate functions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 smtClean="0"/>
              <a:t>Functions </a:t>
            </a:r>
            <a:r>
              <a:rPr lang="en-US" altLang="ko-KR" sz="2000" dirty="0"/>
              <a:t>for working with XML</a:t>
            </a:r>
            <a:r>
              <a:rPr lang="en-US" altLang="ko-KR" sz="2000" dirty="0" smtClean="0"/>
              <a:t>.</a:t>
            </a:r>
            <a:endParaRPr lang="en-US" altLang="ko-KR" sz="2000" kern="1200" dirty="0" smtClean="0">
              <a:ea typeface="+mn-ea"/>
              <a:cs typeface="+mn-cs"/>
            </a:endParaRP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Functions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34" y="4343400"/>
            <a:ext cx="7983954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772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4969" y="1905000"/>
            <a:ext cx="7924800" cy="838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smtClean="0"/>
              <a:t>Managed table is in Hive’s warehouse directory, whereas external table </a:t>
            </a:r>
            <a:r>
              <a:rPr lang="en-US" altLang="ko-KR" sz="2200" kern="1200" dirty="0" smtClean="0"/>
              <a:t>is </a:t>
            </a:r>
            <a:r>
              <a:rPr lang="en-US" altLang="ko-KR" sz="2200" kern="1200" dirty="0" smtClean="0"/>
              <a:t>at an existing location outside the warehouse directory. </a:t>
            </a:r>
            <a:endParaRPr lang="en-US" altLang="ko-KR" sz="2200" kern="1200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Managed Table vs. External Table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949754"/>
            <a:ext cx="8220338" cy="1187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4343399"/>
            <a:ext cx="8194938" cy="131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06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34999" y="1752600"/>
            <a:ext cx="7924800" cy="23622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kern="1200" dirty="0"/>
              <a:t>Hive organizes tables into partitions, a way of dividing a table into </a:t>
            </a:r>
            <a:r>
              <a:rPr lang="en-US" altLang="ko-KR" sz="2000" kern="1200" dirty="0" smtClean="0"/>
              <a:t>parts based </a:t>
            </a:r>
            <a:r>
              <a:rPr lang="en-US" altLang="ko-KR" sz="2000" kern="1200" dirty="0"/>
              <a:t>on the value of a partition column, such as a date</a:t>
            </a:r>
            <a:r>
              <a:rPr lang="en-US" altLang="ko-KR" sz="2000" kern="1200" dirty="0" smtClean="0"/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kern="1200" dirty="0"/>
              <a:t>A table may be partitioned in multiple dimensions</a:t>
            </a:r>
            <a:r>
              <a:rPr lang="en-US" altLang="ko-KR" sz="2000" kern="1200" dirty="0" smtClean="0"/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kern="1200" dirty="0"/>
              <a:t>Tables or partitions may be subdivided further into buckets to give extra structure </a:t>
            </a:r>
            <a:r>
              <a:rPr lang="en-US" altLang="ko-KR" sz="2000" kern="1200" dirty="0" smtClean="0"/>
              <a:t>to the </a:t>
            </a:r>
            <a:r>
              <a:rPr lang="en-US" altLang="ko-KR" sz="2000" kern="1200" dirty="0"/>
              <a:t>data </a:t>
            </a:r>
            <a:r>
              <a:rPr lang="en-US" altLang="ko-KR" sz="2000" kern="1200" dirty="0" smtClean="0"/>
              <a:t>for </a:t>
            </a:r>
            <a:r>
              <a:rPr lang="en-US" altLang="ko-KR" sz="2000" kern="1200" dirty="0"/>
              <a:t>more efficient queries.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kern="1200" dirty="0" smtClean="0"/>
              <a:t>Partitions </a:t>
            </a:r>
            <a:r>
              <a:rPr lang="en-US" altLang="ko-KR" sz="2000" kern="1200" dirty="0"/>
              <a:t>are defined at table creation time using the PARTITIONED BY </a:t>
            </a:r>
            <a:r>
              <a:rPr lang="en-US" altLang="ko-KR" sz="2000" kern="1200" dirty="0" smtClean="0"/>
              <a:t>clause.</a:t>
            </a:r>
            <a:endParaRPr lang="en-US" altLang="ko-KR" sz="2000" kern="1200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Partitions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99" y="4191000"/>
            <a:ext cx="853440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178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641172"/>
            <a:ext cx="6324600" cy="4738615"/>
          </a:xfrm>
          <a:prstGeom prst="rect">
            <a:avLst/>
          </a:prstGeom>
        </p:spPr>
      </p:pic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Partitions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218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Partitions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28800"/>
            <a:ext cx="806125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715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Bucket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2209800"/>
            <a:ext cx="8686801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433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Bucket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37" y="1981200"/>
            <a:ext cx="8338726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171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Bucket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200"/>
            <a:ext cx="840039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94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Bucket – 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98" y="2133600"/>
            <a:ext cx="843380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38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Bucket – 5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8458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46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2057400"/>
            <a:ext cx="7924800" cy="3581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There are two dimensions that govern table storage in Hive: the row format and </a:t>
            </a:r>
            <a:r>
              <a:rPr lang="en-US" altLang="ko-KR" sz="2400" kern="1200" dirty="0" smtClean="0"/>
              <a:t>the file </a:t>
            </a:r>
            <a:r>
              <a:rPr lang="en-US" altLang="ko-KR" sz="2400" kern="1200" dirty="0"/>
              <a:t>format. </a:t>
            </a:r>
            <a:endParaRPr lang="en-US" altLang="ko-KR" sz="2400" kern="1200" dirty="0" smtClean="0"/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/>
              <a:t>The </a:t>
            </a:r>
            <a:r>
              <a:rPr lang="en-US" altLang="ko-KR" sz="2400" kern="1200" dirty="0"/>
              <a:t>row format dictates how rows, and the fields in a particular row, </a:t>
            </a:r>
            <a:r>
              <a:rPr lang="en-US" altLang="ko-KR" sz="2400" kern="1200" dirty="0" smtClean="0"/>
              <a:t>are stored</a:t>
            </a:r>
            <a:r>
              <a:rPr lang="en-US" altLang="ko-KR" sz="2400" kern="1200" dirty="0"/>
              <a:t>. </a:t>
            </a:r>
            <a:endParaRPr lang="en-US" altLang="ko-KR" sz="2400" kern="1200" dirty="0" smtClean="0"/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/>
              <a:t>In </a:t>
            </a:r>
            <a:r>
              <a:rPr lang="en-US" altLang="ko-KR" sz="2400" kern="1200" dirty="0"/>
              <a:t>Hive parlance, the row format is defined by a </a:t>
            </a:r>
            <a:r>
              <a:rPr lang="en-US" altLang="ko-KR" sz="2400" kern="1200" dirty="0" err="1">
                <a:solidFill>
                  <a:srgbClr val="FF0000"/>
                </a:solidFill>
              </a:rPr>
              <a:t>SerDe</a:t>
            </a:r>
            <a:r>
              <a:rPr lang="en-US" altLang="ko-KR" sz="2400" kern="1200" dirty="0"/>
              <a:t>, a portmanteau </a:t>
            </a:r>
            <a:r>
              <a:rPr lang="en-US" altLang="ko-KR" sz="2400" kern="1200" dirty="0" smtClean="0"/>
              <a:t>word for </a:t>
            </a:r>
            <a:r>
              <a:rPr lang="en-US" altLang="ko-KR" sz="2400" kern="1200" dirty="0"/>
              <a:t>a </a:t>
            </a:r>
            <a:r>
              <a:rPr lang="en-US" altLang="ko-KR" sz="2400" kern="1200" dirty="0" err="1">
                <a:solidFill>
                  <a:srgbClr val="FF0000"/>
                </a:solidFill>
              </a:rPr>
              <a:t>Serializer-Deserializer</a:t>
            </a:r>
            <a:r>
              <a:rPr lang="en-US" altLang="ko-KR" sz="2400" kern="1200" dirty="0" smtClean="0"/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When you create a table with no ROW FORMAT or STORED AS clauses, the default format </a:t>
            </a:r>
            <a:r>
              <a:rPr lang="en-US" altLang="ko-KR" sz="2400" kern="1200" dirty="0" smtClean="0"/>
              <a:t>is delimited </a:t>
            </a:r>
            <a:r>
              <a:rPr lang="en-US" altLang="ko-KR" sz="2400" kern="1200" dirty="0"/>
              <a:t>text with one row per line.</a:t>
            </a:r>
            <a:endParaRPr lang="en-US" altLang="ko-KR" sz="2400" kern="1200" dirty="0" smtClean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Storage Formats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2427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057400"/>
            <a:ext cx="7391400" cy="3200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When acting as a </a:t>
            </a:r>
            <a:r>
              <a:rPr lang="en-US" altLang="ko-KR" sz="2400" b="1" kern="1200" dirty="0" err="1">
                <a:solidFill>
                  <a:srgbClr val="FF0000"/>
                </a:solidFill>
              </a:rPr>
              <a:t>deserializer</a:t>
            </a:r>
            <a:r>
              <a:rPr lang="en-US" altLang="ko-KR" sz="2400" kern="1200" dirty="0"/>
              <a:t>, which is the case when querying a table, a </a:t>
            </a:r>
            <a:r>
              <a:rPr lang="en-US" altLang="ko-KR" sz="2400" kern="1200" dirty="0" err="1"/>
              <a:t>SerDe</a:t>
            </a:r>
            <a:r>
              <a:rPr lang="en-US" altLang="ko-KR" sz="2400" kern="1200" dirty="0"/>
              <a:t> </a:t>
            </a:r>
            <a:r>
              <a:rPr lang="en-US" altLang="ko-KR" sz="2400" kern="1200" dirty="0" smtClean="0"/>
              <a:t>will </a:t>
            </a:r>
            <a:r>
              <a:rPr lang="en-US" altLang="ko-KR" sz="2400" kern="1200" dirty="0" err="1" smtClean="0"/>
              <a:t>deserialize</a:t>
            </a:r>
            <a:r>
              <a:rPr lang="en-US" altLang="ko-KR" sz="2400" kern="1200" dirty="0" smtClean="0"/>
              <a:t> </a:t>
            </a:r>
            <a:r>
              <a:rPr lang="en-US" altLang="ko-KR" sz="2400" kern="1200" dirty="0"/>
              <a:t>a row of data from the bytes in the file to objects used internally by Hive </a:t>
            </a:r>
            <a:r>
              <a:rPr lang="en-US" altLang="ko-KR" sz="2400" kern="1200" dirty="0" smtClean="0"/>
              <a:t>to operate </a:t>
            </a:r>
            <a:r>
              <a:rPr lang="en-US" altLang="ko-KR" sz="2400" kern="1200" dirty="0"/>
              <a:t>on that row of data</a:t>
            </a:r>
            <a:r>
              <a:rPr lang="en-US" altLang="ko-KR" sz="2400" kern="1200" dirty="0" smtClean="0"/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When used as a </a:t>
            </a:r>
            <a:r>
              <a:rPr lang="en-US" altLang="ko-KR" sz="2400" b="1" kern="1200" dirty="0" err="1">
                <a:solidFill>
                  <a:srgbClr val="FF0000"/>
                </a:solidFill>
              </a:rPr>
              <a:t>serializer</a:t>
            </a:r>
            <a:r>
              <a:rPr lang="en-US" altLang="ko-KR" sz="2400" kern="1200" dirty="0"/>
              <a:t>, which is the case when </a:t>
            </a:r>
            <a:r>
              <a:rPr lang="en-US" altLang="ko-KR" sz="2400" kern="1200" dirty="0" smtClean="0"/>
              <a:t>performing an </a:t>
            </a:r>
            <a:r>
              <a:rPr lang="en-US" altLang="ko-KR" sz="2400" kern="1200" dirty="0"/>
              <a:t>INSERT or CTAS (see “Importing Data” on page 441), the table’s </a:t>
            </a:r>
            <a:r>
              <a:rPr lang="en-US" altLang="ko-KR" sz="2400" kern="1200" dirty="0" err="1"/>
              <a:t>SerDe</a:t>
            </a:r>
            <a:r>
              <a:rPr lang="en-US" altLang="ko-KR" sz="2400" kern="1200" dirty="0"/>
              <a:t> </a:t>
            </a:r>
            <a:r>
              <a:rPr lang="en-US" altLang="ko-KR" sz="2400" kern="1200" dirty="0" smtClean="0"/>
              <a:t>will serialize </a:t>
            </a:r>
            <a:r>
              <a:rPr lang="en-US" altLang="ko-KR" sz="2400" kern="1200" dirty="0"/>
              <a:t>Hive’s internal representation of a row of data into the bytes that are </a:t>
            </a:r>
            <a:r>
              <a:rPr lang="en-US" altLang="ko-KR" sz="2400" kern="1200" dirty="0" smtClean="0"/>
              <a:t>written to </a:t>
            </a:r>
            <a:r>
              <a:rPr lang="en-US" altLang="ko-KR" sz="2400" kern="1200" dirty="0"/>
              <a:t>the </a:t>
            </a:r>
            <a:r>
              <a:rPr lang="en-US" altLang="ko-KR" sz="2400" kern="1200" dirty="0" smtClean="0"/>
              <a:t>table.</a:t>
            </a:r>
            <a:endParaRPr lang="en-US" altLang="ko-KR" sz="2400" kern="1200" dirty="0" smtClean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Storage Formats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281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00" y="2133600"/>
            <a:ext cx="7620000" cy="3581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Hadoop’s sequence file format (see “</a:t>
            </a:r>
            <a:r>
              <a:rPr lang="en-US" altLang="ko-KR" sz="2400" kern="1200" dirty="0" err="1"/>
              <a:t>SequenceFile</a:t>
            </a:r>
            <a:r>
              <a:rPr lang="en-US" altLang="ko-KR" sz="2400" kern="1200" dirty="0"/>
              <a:t>” on page 130) is a </a:t>
            </a:r>
            <a:r>
              <a:rPr lang="en-US" altLang="ko-KR" sz="2400" kern="1200" dirty="0" smtClean="0"/>
              <a:t>general-purpose binary </a:t>
            </a:r>
            <a:r>
              <a:rPr lang="en-US" altLang="ko-KR" sz="2400" kern="1200" dirty="0"/>
              <a:t>format for sequences of records (key-value pairs</a:t>
            </a:r>
            <a:r>
              <a:rPr lang="en-US" altLang="ko-KR" sz="2400" kern="1200" dirty="0" smtClean="0"/>
              <a:t>).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/>
              <a:t>Sequence </a:t>
            </a:r>
            <a:r>
              <a:rPr lang="en-US" altLang="ko-KR" sz="2400" kern="1200" dirty="0"/>
              <a:t>files </a:t>
            </a:r>
            <a:r>
              <a:rPr lang="en-US" altLang="ko-KR" sz="2400" kern="1200" dirty="0" smtClean="0"/>
              <a:t>in Hive can be declared using STORED </a:t>
            </a:r>
            <a:r>
              <a:rPr lang="en-US" altLang="ko-KR" sz="2400" kern="1200" dirty="0"/>
              <a:t>AS SEQUENCEFILE in the CREATE TABLE statement</a:t>
            </a:r>
            <a:r>
              <a:rPr lang="en-US" altLang="ko-KR" sz="2400" kern="1200" dirty="0" smtClean="0"/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/>
              <a:t>Sequence </a:t>
            </a:r>
            <a:r>
              <a:rPr lang="en-US" altLang="ko-KR" sz="2400" kern="1200" dirty="0"/>
              <a:t>files </a:t>
            </a:r>
            <a:r>
              <a:rPr lang="en-US" altLang="ko-KR" sz="2400" kern="1200" dirty="0" smtClean="0"/>
              <a:t>support </a:t>
            </a:r>
            <a:r>
              <a:rPr lang="en-US" altLang="ko-KR" sz="2400" kern="1200" dirty="0"/>
              <a:t>for </a:t>
            </a:r>
            <a:r>
              <a:rPr lang="en-US" altLang="ko-KR" sz="2400" kern="1200" dirty="0" err="1"/>
              <a:t>splittable</a:t>
            </a:r>
            <a:r>
              <a:rPr lang="en-US" altLang="ko-KR" sz="2400" kern="1200" dirty="0"/>
              <a:t> compression</a:t>
            </a:r>
            <a:r>
              <a:rPr lang="en-US" altLang="ko-KR" sz="2400" kern="1200" dirty="0" smtClean="0"/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/>
              <a:t>Sequence files are </a:t>
            </a:r>
            <a:r>
              <a:rPr lang="en-US" altLang="ko-KR" sz="2400" kern="1200" dirty="0" smtClean="0"/>
              <a:t>row-oriented, that is, the </a:t>
            </a:r>
            <a:r>
              <a:rPr lang="en-US" altLang="ko-KR" sz="2400" kern="1200" dirty="0"/>
              <a:t>fields in each row are stored </a:t>
            </a:r>
            <a:r>
              <a:rPr lang="en-US" altLang="ko-KR" sz="2400" kern="1200" dirty="0" smtClean="0"/>
              <a:t>together as </a:t>
            </a:r>
            <a:r>
              <a:rPr lang="en-US" altLang="ko-KR" sz="2400" kern="1200" dirty="0"/>
              <a:t>the contents of a single sequence-file record.</a:t>
            </a:r>
            <a:endParaRPr lang="en-US" altLang="ko-KR" sz="2400" kern="1200" dirty="0" smtClean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Sequence Files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244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00" y="1981200"/>
            <a:ext cx="7620000" cy="37338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b="1" kern="1200" dirty="0">
                <a:solidFill>
                  <a:srgbClr val="FF0000"/>
                </a:solidFill>
              </a:rPr>
              <a:t>Avro</a:t>
            </a:r>
            <a:r>
              <a:rPr lang="en-US" altLang="ko-KR" sz="2200" kern="1200" dirty="0"/>
              <a:t> </a:t>
            </a:r>
            <a:r>
              <a:rPr lang="en-US" altLang="ko-KR" sz="2200" kern="1200" dirty="0" err="1"/>
              <a:t>datafiles</a:t>
            </a:r>
            <a:r>
              <a:rPr lang="en-US" altLang="ko-KR" sz="2200" kern="1200" dirty="0"/>
              <a:t> are like sequence files (</a:t>
            </a:r>
            <a:r>
              <a:rPr lang="en-US" altLang="ko-KR" sz="2200" kern="1200" dirty="0" err="1"/>
              <a:t>splittable</a:t>
            </a:r>
            <a:r>
              <a:rPr lang="en-US" altLang="ko-KR" sz="2200" kern="1200" dirty="0"/>
              <a:t>, compressible, row-oriented), </a:t>
            </a:r>
            <a:r>
              <a:rPr lang="en-US" altLang="ko-KR" sz="2200" kern="1200" dirty="0" smtClean="0"/>
              <a:t>except they </a:t>
            </a:r>
            <a:r>
              <a:rPr lang="en-US" altLang="ko-KR" sz="2200" kern="1200" dirty="0"/>
              <a:t>have support for schema evolution and bindings in multiple languages (</a:t>
            </a:r>
            <a:r>
              <a:rPr lang="en-US" altLang="ko-KR" sz="2200" kern="1200" dirty="0" smtClean="0"/>
              <a:t>see “Avro</a:t>
            </a:r>
            <a:r>
              <a:rPr lang="en-US" altLang="ko-KR" sz="2200" kern="1200" dirty="0"/>
              <a:t>” on page 110</a:t>
            </a:r>
            <a:r>
              <a:rPr lang="en-US" altLang="ko-KR" sz="2200" kern="1200" dirty="0" smtClean="0"/>
              <a:t>).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/>
              <a:t>Hive provides another binary storage format called </a:t>
            </a:r>
            <a:r>
              <a:rPr lang="en-US" altLang="ko-KR" sz="2200" b="1" i="1" kern="1200" dirty="0" err="1">
                <a:solidFill>
                  <a:srgbClr val="FF0000"/>
                </a:solidFill>
              </a:rPr>
              <a:t>RCFile</a:t>
            </a:r>
            <a:r>
              <a:rPr lang="en-US" altLang="ko-KR" sz="2200" kern="1200" dirty="0"/>
              <a:t>, short for </a:t>
            </a:r>
            <a:r>
              <a:rPr lang="en-US" altLang="ko-KR" sz="2200" i="1" kern="1200" dirty="0"/>
              <a:t>Record </a:t>
            </a:r>
            <a:r>
              <a:rPr lang="en-US" altLang="ko-KR" sz="2200" i="1" kern="1200" dirty="0" smtClean="0"/>
              <a:t>Columnar File</a:t>
            </a:r>
            <a:r>
              <a:rPr lang="en-US" altLang="ko-KR" sz="2200" kern="1200" dirty="0"/>
              <a:t>. </a:t>
            </a:r>
            <a:endParaRPr lang="en-US" altLang="ko-KR" sz="2200" kern="1200" dirty="0" smtClean="0"/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 smtClean="0"/>
              <a:t>RCFiles</a:t>
            </a:r>
            <a:r>
              <a:rPr lang="en-US" altLang="ko-KR" sz="2200" kern="1200" dirty="0" smtClean="0"/>
              <a:t> </a:t>
            </a:r>
            <a:r>
              <a:rPr lang="en-US" altLang="ko-KR" sz="2200" kern="1200" dirty="0"/>
              <a:t>are similar to sequence files, except that they store data in a </a:t>
            </a:r>
            <a:r>
              <a:rPr lang="en-US" altLang="ko-KR" sz="2200" kern="1200" dirty="0" smtClean="0"/>
              <a:t>column-oriented fashion</a:t>
            </a:r>
            <a:r>
              <a:rPr lang="en-US" altLang="ko-KR" sz="2200" kern="1200" dirty="0"/>
              <a:t>. </a:t>
            </a:r>
            <a:endParaRPr lang="en-US" altLang="ko-KR" sz="2200" kern="1200" dirty="0" smtClean="0"/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 smtClean="0"/>
              <a:t>RCFile</a:t>
            </a:r>
            <a:r>
              <a:rPr lang="en-US" altLang="ko-KR" sz="2200" kern="1200" dirty="0" smtClean="0"/>
              <a:t> </a:t>
            </a:r>
            <a:r>
              <a:rPr lang="en-US" altLang="ko-KR" sz="2200" kern="1200" dirty="0"/>
              <a:t>breaks up the table into row splits, then within each split </a:t>
            </a:r>
            <a:r>
              <a:rPr lang="en-US" altLang="ko-KR" sz="2200" kern="1200" dirty="0" smtClean="0"/>
              <a:t>stores the </a:t>
            </a:r>
            <a:r>
              <a:rPr lang="en-US" altLang="ko-KR" sz="2200" kern="1200" dirty="0"/>
              <a:t>values for each row in the first column, followed by the values for each row in </a:t>
            </a:r>
            <a:r>
              <a:rPr lang="en-US" altLang="ko-KR" sz="2200" kern="1200" dirty="0" smtClean="0"/>
              <a:t>the second </a:t>
            </a:r>
            <a:r>
              <a:rPr lang="en-US" altLang="ko-KR" sz="2200" kern="1200" dirty="0"/>
              <a:t>column, and so on</a:t>
            </a:r>
            <a:r>
              <a:rPr lang="en-US" altLang="ko-KR" sz="2200" kern="1200" dirty="0" smtClean="0"/>
              <a:t>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Avro Files and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RCFile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18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048000" y="1066800"/>
            <a:ext cx="4724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Row-Oriented vs. Column-Oriented Storage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781800" cy="499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8114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048000" y="1066800"/>
            <a:ext cx="4724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RegexSerDe</a:t>
            </a:r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133600"/>
            <a:ext cx="836083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522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048000" y="1066800"/>
            <a:ext cx="4724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RegexSerDe</a:t>
            </a:r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57400"/>
            <a:ext cx="8531162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734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048000" y="1066800"/>
            <a:ext cx="4724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Insert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33" y="2057400"/>
            <a:ext cx="862915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159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048000" y="1066800"/>
            <a:ext cx="4724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Insert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33600"/>
            <a:ext cx="8813758" cy="319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9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048000" y="1066800"/>
            <a:ext cx="4724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Insert Statement Turn-Around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65866"/>
            <a:ext cx="8366890" cy="326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013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048000" y="1066800"/>
            <a:ext cx="4724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Multitable</a:t>
            </a:r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Insert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33" y="1981200"/>
            <a:ext cx="8273626" cy="34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2682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Create and Alter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67" y="2057400"/>
            <a:ext cx="8534399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4870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Drop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and Select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00200"/>
            <a:ext cx="86868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789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Inner Join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4102"/>
            <a:ext cx="7467600" cy="40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158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Outer Join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22350"/>
            <a:ext cx="7924800" cy="409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97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Outer Join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1" y="2362200"/>
            <a:ext cx="8610599" cy="29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932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Subqueries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09800"/>
            <a:ext cx="836919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099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Views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15014"/>
            <a:ext cx="8686800" cy="463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552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Views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09800"/>
            <a:ext cx="866687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730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User-Defined Functions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05000"/>
            <a:ext cx="8686799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974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User-Defined Functions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57400"/>
            <a:ext cx="83534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976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User-Defined Functions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23999"/>
            <a:ext cx="7315200" cy="51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768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352800" y="1066800"/>
            <a:ext cx="4114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86200" y="1066800"/>
            <a:ext cx="3048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User-Defined Functions – 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2133600" y="2743200"/>
            <a:ext cx="4800600" cy="1371600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kern="1200" dirty="0" smtClean="0">
                <a:ea typeface="+mn-ea"/>
                <a:cs typeface="+mn-cs"/>
              </a:rPr>
              <a:t>Two User-Defined Aggregate Functions: P. 454 and P. 457</a:t>
            </a:r>
          </a:p>
        </p:txBody>
      </p:sp>
    </p:spTree>
    <p:extLst>
      <p:ext uri="{BB962C8B-B14F-4D97-AF65-F5344CB8AC3E}">
        <p14:creationId xmlns:p14="http://schemas.microsoft.com/office/powerpoint/2010/main" val="2952453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12111</TotalTime>
  <Words>905</Words>
  <Application>Microsoft Office PowerPoint</Application>
  <PresentationFormat>On-screen Show (4:3)</PresentationFormat>
  <Paragraphs>96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Default Design</vt:lpstr>
      <vt:lpstr>Hive</vt:lpstr>
      <vt:lpstr>PowerPoint Presentation</vt:lpstr>
      <vt:lpstr>What Is Hive</vt:lpstr>
      <vt:lpstr>The Hive Shell</vt:lpstr>
      <vt:lpstr>Hive –f and –e Options</vt:lpstr>
      <vt:lpstr>A Hive Example – 1</vt:lpstr>
      <vt:lpstr>A Hive Example – 2</vt:lpstr>
      <vt:lpstr>Configuring Hive – 1</vt:lpstr>
      <vt:lpstr>Configuring Hive – 2</vt:lpstr>
      <vt:lpstr>Schema on Read vs. Schema on Write</vt:lpstr>
      <vt:lpstr>Hive Data Types – 1</vt:lpstr>
      <vt:lpstr>Hive Data Types – 2</vt:lpstr>
      <vt:lpstr>Functions</vt:lpstr>
      <vt:lpstr>Managed Table vs. External Table</vt:lpstr>
      <vt:lpstr>Partitions –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Storage Formats – 1</vt:lpstr>
      <vt:lpstr>Storage Formats – 2</vt:lpstr>
      <vt:lpstr>Sequence Files</vt:lpstr>
      <vt:lpstr>Avro Files and RCFile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677</cp:revision>
  <dcterms:created xsi:type="dcterms:W3CDTF">2005-03-05T09:57:46Z</dcterms:created>
  <dcterms:modified xsi:type="dcterms:W3CDTF">2016-05-28T05:12:12Z</dcterms:modified>
</cp:coreProperties>
</file>