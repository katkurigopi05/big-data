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670" r:id="rId2"/>
    <p:sldId id="671" r:id="rId3"/>
    <p:sldId id="642" r:id="rId4"/>
    <p:sldId id="643" r:id="rId5"/>
    <p:sldId id="644" r:id="rId6"/>
    <p:sldId id="645" r:id="rId7"/>
    <p:sldId id="646" r:id="rId8"/>
    <p:sldId id="647" r:id="rId9"/>
    <p:sldId id="648" r:id="rId10"/>
    <p:sldId id="649" r:id="rId11"/>
    <p:sldId id="651" r:id="rId12"/>
    <p:sldId id="652" r:id="rId13"/>
    <p:sldId id="653" r:id="rId14"/>
    <p:sldId id="654" r:id="rId15"/>
    <p:sldId id="655" r:id="rId16"/>
    <p:sldId id="656" r:id="rId17"/>
    <p:sldId id="657" r:id="rId18"/>
    <p:sldId id="658" r:id="rId19"/>
    <p:sldId id="659" r:id="rId20"/>
    <p:sldId id="660" r:id="rId21"/>
    <p:sldId id="661" r:id="rId22"/>
    <p:sldId id="662" r:id="rId23"/>
    <p:sldId id="663" r:id="rId24"/>
    <p:sldId id="664" r:id="rId25"/>
    <p:sldId id="665" r:id="rId26"/>
    <p:sldId id="666" r:id="rId27"/>
    <p:sldId id="667" r:id="rId28"/>
    <p:sldId id="668" r:id="rId29"/>
    <p:sldId id="669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0F10"/>
    <a:srgbClr val="FFB060"/>
    <a:srgbClr val="FF0000"/>
    <a:srgbClr val="A50021"/>
    <a:srgbClr val="FF6600"/>
    <a:srgbClr val="F9E9B5"/>
    <a:srgbClr val="E8CE9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1" autoAdjust="0"/>
    <p:restoredTop sz="99734" autoAdjust="0"/>
  </p:normalViewPr>
  <p:slideViewPr>
    <p:cSldViewPr>
      <p:cViewPr>
        <p:scale>
          <a:sx n="75" d="100"/>
          <a:sy n="75" d="100"/>
        </p:scale>
        <p:origin x="-620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2280" y="-8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D0812615-5710-4348-85EC-BB3F7D419A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2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5" descr="main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6" name="Rectangle 42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rgbClr val="9F0F1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0" name="Text Box 36"/>
          <p:cNvSpPr txBox="1">
            <a:spLocks noChangeArrowheads="1"/>
          </p:cNvSpPr>
          <p:nvPr userDrawn="1"/>
        </p:nvSpPr>
        <p:spPr bwMode="auto">
          <a:xfrm>
            <a:off x="4267200" y="6521450"/>
            <a:ext cx="76200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 dirty="0" smtClean="0">
                <a:solidFill>
                  <a:srgbClr val="FFFFFF"/>
                </a:solidFill>
              </a:rPr>
              <a:t>11.</a:t>
            </a:r>
            <a:fld id="{EC98DED3-7B70-48B6-8413-854EF57C18FA}" type="slidenum">
              <a:rPr lang="en-US" sz="1600" b="1" smtClean="0">
                <a:solidFill>
                  <a:srgbClr val="FFFFFF"/>
                </a:solidFill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063" name="Text Box 39"/>
          <p:cNvSpPr txBox="1">
            <a:spLocks noChangeArrowheads="1"/>
          </p:cNvSpPr>
          <p:nvPr userDrawn="1"/>
        </p:nvSpPr>
        <p:spPr bwMode="auto">
          <a:xfrm>
            <a:off x="1752600" y="990600"/>
            <a:ext cx="601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1752600" y="200025"/>
            <a:ext cx="7315200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Hadoop – The Definitive Guide</a:t>
            </a:r>
            <a:endParaRPr lang="en-US" sz="2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0" hangingPunct="0">
              <a:spcBef>
                <a:spcPts val="600"/>
              </a:spcBef>
              <a:defRPr/>
            </a:pPr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11:</a:t>
            </a:r>
            <a:r>
              <a:rPr lang="en-US" sz="1600" b="1" baseline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Pig</a:t>
            </a:r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3124200"/>
            <a:ext cx="6705600" cy="1162050"/>
          </a:xfrm>
        </p:spPr>
        <p:txBody>
          <a:bodyPr/>
          <a:lstStyle/>
          <a:p>
            <a:r>
              <a:rPr lang="en-US" altLang="ko-KR" sz="4800" b="1" dirty="0" smtClean="0"/>
              <a:t>Pig</a:t>
            </a:r>
            <a:endParaRPr lang="ko-KR" altLang="en-US" sz="4800" b="1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100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Chapter 11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6297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09800" y="2133600"/>
            <a:ext cx="4800600" cy="3429000"/>
          </a:xfrm>
        </p:spPr>
        <p:txBody>
          <a:bodyPr/>
          <a:lstStyle/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 smtClean="0"/>
              <a:t>Defining and Running Pig</a:t>
            </a:r>
            <a:endParaRPr lang="en-US" altLang="ko-KR" sz="3000" dirty="0"/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 smtClean="0"/>
              <a:t>Pig Latin</a:t>
            </a:r>
            <a:endParaRPr lang="en-US" altLang="ko-KR" sz="3000" dirty="0"/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 smtClean="0"/>
              <a:t>User-Defined Functions</a:t>
            </a:r>
            <a:endParaRPr lang="en-US" altLang="ko-KR" sz="3000" dirty="0"/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 smtClean="0"/>
              <a:t>Data Processing Operators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 smtClean="0"/>
              <a:t>Pig in Practice</a:t>
            </a:r>
            <a:endParaRPr lang="en-US" altLang="ko-KR" sz="3000" dirty="0"/>
          </a:p>
          <a:p>
            <a:pPr>
              <a:buNone/>
            </a:pPr>
            <a:endParaRPr lang="ko-KR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3886200" y="1066800"/>
            <a:ext cx="30484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 b="1" dirty="0" smtClean="0">
                <a:cs typeface="Times New Roman" pitchFamily="18" charset="0"/>
              </a:rPr>
              <a:t>Learning Objectives</a:t>
            </a:r>
            <a:endParaRPr lang="en-US" sz="1600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3471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2057400"/>
            <a:ext cx="7543800" cy="35814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Pig is a scripting language for exploring large datasets.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Pig is made up of two pieces: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The </a:t>
            </a:r>
            <a:r>
              <a:rPr lang="en-US" altLang="ko-KR" sz="2200" dirty="0"/>
              <a:t>language used to express data flows, called Pig Latin.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The </a:t>
            </a:r>
            <a:r>
              <a:rPr lang="en-US" altLang="ko-KR" sz="2200" dirty="0"/>
              <a:t>execution environment to run Pig Latin programs. 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kern="1200" dirty="0">
                <a:ea typeface="+mn-ea"/>
                <a:cs typeface="+mn-cs"/>
              </a:rPr>
              <a:t>There are currently </a:t>
            </a:r>
            <a:r>
              <a:rPr lang="en-US" altLang="ko-KR" sz="2600" kern="1200" dirty="0" smtClean="0">
                <a:ea typeface="+mn-ea"/>
                <a:cs typeface="+mn-cs"/>
              </a:rPr>
              <a:t>two environments: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Local </a:t>
            </a:r>
            <a:r>
              <a:rPr lang="en-US" altLang="ko-KR" sz="2200" dirty="0"/>
              <a:t>execution in a single JVM </a:t>
            </a:r>
          </a:p>
          <a:p>
            <a:pPr lvl="1" eaLnBrk="1" hangingPunct="1">
              <a:lnSpc>
                <a:spcPct val="90000"/>
              </a:lnSpc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200" dirty="0" smtClean="0"/>
              <a:t>Distributed </a:t>
            </a:r>
            <a:r>
              <a:rPr lang="en-US" altLang="ko-KR" sz="2200" dirty="0"/>
              <a:t>execution on a </a:t>
            </a:r>
            <a:r>
              <a:rPr lang="en-US" altLang="ko-KR" sz="2200" dirty="0" smtClean="0"/>
              <a:t>Hadoop cluster</a:t>
            </a:r>
            <a:r>
              <a:rPr lang="en-US" altLang="ko-KR" sz="2200" dirty="0"/>
              <a:t>.</a:t>
            </a: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What Is Pig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458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00" y="2209800"/>
            <a:ext cx="7315200" cy="29718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Pig </a:t>
            </a:r>
            <a:r>
              <a:rPr lang="en-US" altLang="ko-KR" sz="2400" kern="1200" dirty="0" smtClean="0">
                <a:ea typeface="+mn-ea"/>
                <a:cs typeface="+mn-cs"/>
              </a:rPr>
              <a:t>can </a:t>
            </a:r>
            <a:r>
              <a:rPr lang="en-US" altLang="ko-KR" sz="2400" kern="1200" dirty="0">
                <a:ea typeface="+mn-ea"/>
                <a:cs typeface="+mn-cs"/>
              </a:rPr>
              <a:t>process </a:t>
            </a:r>
            <a:r>
              <a:rPr lang="en-US" altLang="ko-KR" sz="2400" kern="1200" dirty="0" smtClean="0">
                <a:ea typeface="+mn-ea"/>
                <a:cs typeface="+mn-cs"/>
              </a:rPr>
              <a:t>terabytes of </a:t>
            </a:r>
            <a:r>
              <a:rPr lang="en-US" altLang="ko-KR" sz="2400" kern="1200" dirty="0">
                <a:ea typeface="+mn-ea"/>
                <a:cs typeface="+mn-cs"/>
              </a:rPr>
              <a:t>data simply by issuing a half-dozen lines of Pig Latin from the </a:t>
            </a:r>
            <a:r>
              <a:rPr lang="en-US" altLang="ko-KR" sz="2400" kern="1200" dirty="0" smtClean="0">
                <a:ea typeface="+mn-ea"/>
                <a:cs typeface="+mn-cs"/>
              </a:rPr>
              <a:t>console.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Pig is very supportive of a programmer writing a </a:t>
            </a:r>
            <a:r>
              <a:rPr lang="en-US" altLang="ko-KR" sz="2400" kern="1200" dirty="0" smtClean="0">
                <a:ea typeface="+mn-ea"/>
                <a:cs typeface="+mn-cs"/>
              </a:rPr>
              <a:t>query.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/>
              <a:t>Pig </a:t>
            </a:r>
            <a:r>
              <a:rPr lang="en-US" altLang="ko-KR" sz="2400" dirty="0" smtClean="0"/>
              <a:t>is </a:t>
            </a:r>
            <a:r>
              <a:rPr lang="en-US" altLang="ko-KR" sz="2400" dirty="0"/>
              <a:t>designed to be extensible</a:t>
            </a:r>
            <a:r>
              <a:rPr lang="en-US" altLang="ko-KR" sz="2400" dirty="0" smtClean="0"/>
              <a:t>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 smtClean="0"/>
              <a:t>Pig is designed </a:t>
            </a:r>
            <a:r>
              <a:rPr lang="en-US" altLang="ko-KR" sz="2400" dirty="0"/>
              <a:t>to process large </a:t>
            </a:r>
            <a:r>
              <a:rPr lang="en-US" altLang="ko-KR" sz="2400" dirty="0" smtClean="0"/>
              <a:t>portions of a large dataset.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 smtClean="0"/>
              <a:t>The </a:t>
            </a:r>
            <a:r>
              <a:rPr lang="en-US" altLang="ko-KR" sz="2400" dirty="0"/>
              <a:t>execution environment to run Pig Latin programs. </a:t>
            </a: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What Is Pig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7015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Run Pig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76400"/>
            <a:ext cx="8086429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4868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Pig Example – p. </a:t>
            </a:r>
            <a:r>
              <a:rPr lang="en-US" altLang="ko-KR" sz="1600" b="1" kern="120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371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21" y="2091267"/>
            <a:ext cx="8709312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368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Illustrate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0"/>
            <a:ext cx="82296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352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00" y="1905000"/>
            <a:ext cx="7315200" cy="3886200"/>
          </a:xfrm>
        </p:spPr>
        <p:txBody>
          <a:bodyPr/>
          <a:lstStyle/>
          <a:p>
            <a:pPr marL="0" lvl="1" indent="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None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Difference between Pig Latin and SQL: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100" kern="1200" dirty="0" smtClean="0">
                <a:ea typeface="+mn-ea"/>
                <a:cs typeface="+mn-cs"/>
              </a:rPr>
              <a:t>Pig </a:t>
            </a:r>
            <a:r>
              <a:rPr lang="en-US" altLang="ko-KR" sz="2100" kern="1200" dirty="0">
                <a:ea typeface="+mn-ea"/>
                <a:cs typeface="+mn-cs"/>
              </a:rPr>
              <a:t>Latin is a data flow programming </a:t>
            </a:r>
            <a:r>
              <a:rPr lang="en-US" altLang="ko-KR" sz="2100" kern="1200" dirty="0" smtClean="0">
                <a:ea typeface="+mn-ea"/>
                <a:cs typeface="+mn-cs"/>
              </a:rPr>
              <a:t>language, whereas </a:t>
            </a:r>
            <a:r>
              <a:rPr lang="en-US" altLang="ko-KR" sz="2100" kern="1200" dirty="0">
                <a:ea typeface="+mn-ea"/>
                <a:cs typeface="+mn-cs"/>
              </a:rPr>
              <a:t>SQL is a declarative programming </a:t>
            </a:r>
            <a:r>
              <a:rPr lang="en-US" altLang="ko-KR" sz="2100" kern="1200" dirty="0" smtClean="0">
                <a:ea typeface="+mn-ea"/>
                <a:cs typeface="+mn-cs"/>
              </a:rPr>
              <a:t>language.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100" kern="1200" dirty="0">
                <a:ea typeface="+mn-ea"/>
                <a:cs typeface="+mn-cs"/>
              </a:rPr>
              <a:t>RDBMSs store data in tables, with tightly predefined </a:t>
            </a:r>
            <a:r>
              <a:rPr lang="en-US" altLang="ko-KR" sz="2100" kern="1200" dirty="0" smtClean="0">
                <a:ea typeface="+mn-ea"/>
                <a:cs typeface="+mn-cs"/>
              </a:rPr>
              <a:t>schemas; Pig </a:t>
            </a:r>
            <a:r>
              <a:rPr lang="en-US" altLang="ko-KR" sz="2100" kern="1200" dirty="0">
                <a:ea typeface="+mn-ea"/>
                <a:cs typeface="+mn-cs"/>
              </a:rPr>
              <a:t>is more relaxed </a:t>
            </a:r>
            <a:r>
              <a:rPr lang="en-US" altLang="ko-KR" sz="2100" kern="1200" dirty="0" smtClean="0">
                <a:ea typeface="+mn-ea"/>
                <a:cs typeface="+mn-cs"/>
              </a:rPr>
              <a:t>about the </a:t>
            </a:r>
            <a:r>
              <a:rPr lang="en-US" altLang="ko-KR" sz="2100" kern="1200" dirty="0">
                <a:ea typeface="+mn-ea"/>
                <a:cs typeface="+mn-cs"/>
              </a:rPr>
              <a:t>data that it processes: you can define a schema at </a:t>
            </a:r>
            <a:r>
              <a:rPr lang="en-US" altLang="ko-KR" sz="2100" kern="1200" dirty="0" smtClean="0">
                <a:ea typeface="+mn-ea"/>
                <a:cs typeface="+mn-cs"/>
              </a:rPr>
              <a:t>runtime.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100" dirty="0"/>
              <a:t>Pig’s support for complex, nested data structures differentiates it from SQL, </a:t>
            </a:r>
            <a:r>
              <a:rPr lang="en-US" altLang="ko-KR" sz="2100" dirty="0" smtClean="0"/>
              <a:t>which operates </a:t>
            </a:r>
            <a:r>
              <a:rPr lang="en-US" altLang="ko-KR" sz="2100" dirty="0"/>
              <a:t>on flatter data </a:t>
            </a:r>
            <a:r>
              <a:rPr lang="en-US" altLang="ko-KR" sz="2100" dirty="0" smtClean="0"/>
              <a:t>structures.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100" dirty="0" smtClean="0"/>
              <a:t>RDBMSs </a:t>
            </a:r>
            <a:r>
              <a:rPr lang="en-US" altLang="ko-KR" sz="2100" dirty="0"/>
              <a:t>have several features to support online, low-latency queries, such as </a:t>
            </a:r>
            <a:r>
              <a:rPr lang="en-US" altLang="ko-KR" sz="2100" dirty="0" smtClean="0"/>
              <a:t>transactions and </a:t>
            </a:r>
            <a:r>
              <a:rPr lang="en-US" altLang="ko-KR" sz="2100" dirty="0"/>
              <a:t>indexes, that are absent in Pig.</a:t>
            </a: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Pig/Pig Latin vs. Relational/SQL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131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Pig Latin – Structure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55749"/>
            <a:ext cx="7772400" cy="491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773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Pig Latin Commands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7619999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250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Pig Latin Schemas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52600"/>
            <a:ext cx="8348348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062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Pig Latin Schemas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24000"/>
            <a:ext cx="80772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6392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Validation and Nulls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1600200"/>
            <a:ext cx="8686800" cy="472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864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Validation and Nulls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54310"/>
            <a:ext cx="8534400" cy="488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419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Validation and Nulls –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23999"/>
            <a:ext cx="8001000" cy="489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6288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Validation and Nulls – 4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81200"/>
            <a:ext cx="839617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465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Macros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752600"/>
            <a:ext cx="850655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49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Macros –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17132"/>
            <a:ext cx="8382000" cy="455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63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User-Defined Filter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752600"/>
            <a:ext cx="856141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6458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User-Defined Filter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2743200" y="3200400"/>
            <a:ext cx="3581400" cy="7620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P. 392: Example 11-1</a:t>
            </a:r>
          </a:p>
        </p:txBody>
      </p:sp>
    </p:spTree>
    <p:extLst>
      <p:ext uri="{BB962C8B-B14F-4D97-AF65-F5344CB8AC3E}">
        <p14:creationId xmlns:p14="http://schemas.microsoft.com/office/powerpoint/2010/main" val="36149215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User-Defined Filter –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828800"/>
            <a:ext cx="856236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568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Three User-Defined Functions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2743200" y="2895600"/>
            <a:ext cx="4267200" cy="22860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P. 394: An </a:t>
            </a:r>
            <a:r>
              <a:rPr lang="en-US" altLang="ko-KR" kern="1200" dirty="0" err="1" smtClean="0">
                <a:ea typeface="+mn-ea"/>
                <a:cs typeface="+mn-cs"/>
              </a:rPr>
              <a:t>Eval</a:t>
            </a:r>
            <a:r>
              <a:rPr lang="en-US" altLang="ko-KR" kern="1200" dirty="0" smtClean="0">
                <a:ea typeface="+mn-ea"/>
                <a:cs typeface="+mn-cs"/>
              </a:rPr>
              <a:t> UDF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P. 396: A Load UDF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P. 400: Filtering Data</a:t>
            </a:r>
          </a:p>
        </p:txBody>
      </p:sp>
    </p:spTree>
    <p:extLst>
      <p:ext uri="{BB962C8B-B14F-4D97-AF65-F5344CB8AC3E}">
        <p14:creationId xmlns:p14="http://schemas.microsoft.com/office/powerpoint/2010/main" val="23408464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Loading and Storing Data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73" y="2057400"/>
            <a:ext cx="8519254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1431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JOIN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14" y="1752600"/>
            <a:ext cx="784234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215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JOIN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1676400"/>
            <a:ext cx="840596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494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JOIN –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86000"/>
            <a:ext cx="8183652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95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More Features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1828800" y="2438400"/>
            <a:ext cx="6096000" cy="25908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P. 404: More Examples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P. 405: Cross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P. 406: Group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P. 407: Sorting Data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P. 408: Combining and Splitting data</a:t>
            </a:r>
          </a:p>
        </p:txBody>
      </p:sp>
    </p:spTree>
    <p:extLst>
      <p:ext uri="{BB962C8B-B14F-4D97-AF65-F5344CB8AC3E}">
        <p14:creationId xmlns:p14="http://schemas.microsoft.com/office/powerpoint/2010/main" val="29943210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Parallelism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76399"/>
            <a:ext cx="8488142" cy="434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72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Parameter Substitution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00200"/>
            <a:ext cx="869401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2074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10742</TotalTime>
  <Words>392</Words>
  <Application>Microsoft Office PowerPoint</Application>
  <PresentationFormat>On-screen Show (4:3)</PresentationFormat>
  <Paragraphs>61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Default Design</vt:lpstr>
      <vt:lpstr>Pig</vt:lpstr>
      <vt:lpstr>PowerPoint Presentation</vt:lpstr>
      <vt:lpstr>What Is Pig – 1</vt:lpstr>
      <vt:lpstr>What Is Pig – 2</vt:lpstr>
      <vt:lpstr>Run Pig</vt:lpstr>
      <vt:lpstr>A Pig Example – p. 371</vt:lpstr>
      <vt:lpstr>Illustrate</vt:lpstr>
      <vt:lpstr>Pig/Pig Latin vs. Relational/SQL</vt:lpstr>
      <vt:lpstr>Pig Latin – Structure</vt:lpstr>
      <vt:lpstr>Pig Latin Commands</vt:lpstr>
      <vt:lpstr>Pig Latin Schemas – 1</vt:lpstr>
      <vt:lpstr>Pig Latin Schemas – 2</vt:lpstr>
      <vt:lpstr>Validation and Nulls – 1</vt:lpstr>
      <vt:lpstr>Validation and Nulls – 2</vt:lpstr>
      <vt:lpstr>Validation and Nulls – 3</vt:lpstr>
      <vt:lpstr>Validation and Nulls – 4</vt:lpstr>
      <vt:lpstr>Macros – 1</vt:lpstr>
      <vt:lpstr>Macros – 2</vt:lpstr>
      <vt:lpstr>A User-Defined Filter – 1</vt:lpstr>
      <vt:lpstr>A User-Defined Filter – 2</vt:lpstr>
      <vt:lpstr>A User-Defined Filter – 3</vt:lpstr>
      <vt:lpstr>Three User-Defined Functions</vt:lpstr>
      <vt:lpstr>Loading and Storing Data</vt:lpstr>
      <vt:lpstr>JOIN – 1</vt:lpstr>
      <vt:lpstr>JOIN – 2</vt:lpstr>
      <vt:lpstr>JOIN – 3</vt:lpstr>
      <vt:lpstr>More Features</vt:lpstr>
      <vt:lpstr>Parallelism</vt:lpstr>
      <vt:lpstr>Parameter Substitution</vt:lpstr>
    </vt:vector>
  </TitlesOfParts>
  <Company>Azimuth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</dc:creator>
  <cp:lastModifiedBy>Jiming</cp:lastModifiedBy>
  <cp:revision>626</cp:revision>
  <dcterms:created xsi:type="dcterms:W3CDTF">2005-03-05T09:57:46Z</dcterms:created>
  <dcterms:modified xsi:type="dcterms:W3CDTF">2016-05-21T00:51:59Z</dcterms:modified>
</cp:coreProperties>
</file>