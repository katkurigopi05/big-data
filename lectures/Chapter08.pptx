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612" r:id="rId2"/>
    <p:sldId id="613" r:id="rId3"/>
    <p:sldId id="614" r:id="rId4"/>
    <p:sldId id="629" r:id="rId5"/>
    <p:sldId id="630" r:id="rId6"/>
    <p:sldId id="615" r:id="rId7"/>
    <p:sldId id="631" r:id="rId8"/>
    <p:sldId id="632" r:id="rId9"/>
    <p:sldId id="633" r:id="rId10"/>
    <p:sldId id="634" r:id="rId11"/>
    <p:sldId id="635" r:id="rId12"/>
    <p:sldId id="636" r:id="rId13"/>
    <p:sldId id="618" r:id="rId14"/>
    <p:sldId id="619" r:id="rId15"/>
    <p:sldId id="638" r:id="rId16"/>
    <p:sldId id="621" r:id="rId17"/>
    <p:sldId id="639" r:id="rId18"/>
    <p:sldId id="622" r:id="rId19"/>
    <p:sldId id="640" r:id="rId20"/>
    <p:sldId id="623" r:id="rId21"/>
    <p:sldId id="624" r:id="rId22"/>
    <p:sldId id="625" r:id="rId23"/>
    <p:sldId id="626" r:id="rId24"/>
    <p:sldId id="627" r:id="rId25"/>
    <p:sldId id="641" r:id="rId26"/>
    <p:sldId id="628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3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6953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 smtClean="0">
                <a:solidFill>
                  <a:srgbClr val="FFFFFF"/>
                </a:solidFill>
              </a:rPr>
              <a:t>8.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8: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MapReduce Features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124200"/>
            <a:ext cx="6705600" cy="1162050"/>
          </a:xfrm>
        </p:spPr>
        <p:txBody>
          <a:bodyPr/>
          <a:lstStyle/>
          <a:p>
            <a:r>
              <a:rPr lang="en-US" altLang="ko-KR" sz="4800" b="1" dirty="0"/>
              <a:t>MapReduce Features</a:t>
            </a:r>
            <a:endParaRPr lang="ko-KR" altLang="en-US" sz="4800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8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5622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90800" y="2286000"/>
            <a:ext cx="4495800" cy="2667000"/>
          </a:xfrm>
        </p:spPr>
        <p:txBody>
          <a:bodyPr/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/>
              <a:t>Counters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/>
              <a:t>Sorting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/>
              <a:t>Joins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/>
              <a:t>Side Data Distribution</a:t>
            </a:r>
          </a:p>
          <a:p>
            <a:pPr>
              <a:buNone/>
            </a:pP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1914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62400" y="1066800"/>
            <a:ext cx="2819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Counters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19200" y="2286000"/>
            <a:ext cx="6705600" cy="2743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600" kern="1200" dirty="0" smtClean="0">
                <a:ea typeface="+mn-ea"/>
                <a:cs typeface="+mn-cs"/>
              </a:rPr>
              <a:t>Counters </a:t>
            </a:r>
            <a:r>
              <a:rPr lang="en-US" sz="2600" kern="1200" dirty="0">
                <a:ea typeface="+mn-ea"/>
                <a:cs typeface="+mn-cs"/>
              </a:rPr>
              <a:t>are a useful channel for gathering statistics about the job: 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sz="2200" dirty="0"/>
              <a:t>for quality </a:t>
            </a:r>
            <a:r>
              <a:rPr lang="en-US" sz="2200" dirty="0" smtClean="0"/>
              <a:t>control;</a:t>
            </a:r>
            <a:endParaRPr lang="en-US" sz="22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sz="2200" dirty="0"/>
              <a:t>for application-level </a:t>
            </a:r>
            <a:r>
              <a:rPr lang="en-US" sz="2200" dirty="0" smtClean="0"/>
              <a:t>statistics;</a:t>
            </a:r>
            <a:endParaRPr lang="en-US" sz="22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for problem diagnosis (# of invalid records</a:t>
            </a:r>
            <a:r>
              <a:rPr lang="en-US" altLang="ko-KR" sz="2200" dirty="0" smtClean="0"/>
              <a:t>);</a:t>
            </a:r>
            <a:endParaRPr lang="en-US" altLang="ko-KR" sz="22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Easier to use and to retrieve than </a:t>
            </a:r>
            <a:r>
              <a:rPr lang="en-US" altLang="ko-KR" sz="2200" dirty="0" smtClean="0"/>
              <a:t>log output.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4596634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1599" y="1600200"/>
            <a:ext cx="6657975" cy="11430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Built-in counters for every job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Report various metrics for Map-Reduce jobs.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Counters for the number of bytes and records processed.</a:t>
            </a:r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3962400" y="1066800"/>
            <a:ext cx="2819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Built-In Counters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2743199"/>
            <a:ext cx="8105776" cy="401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16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62400" y="1066800"/>
            <a:ext cx="2819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Task and Job Counters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19200" y="2133600"/>
            <a:ext cx="6553200" cy="3733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b="1" kern="1200" dirty="0">
                <a:ea typeface="+mn-ea"/>
                <a:cs typeface="+mn-cs"/>
              </a:rPr>
              <a:t>Task counters </a:t>
            </a:r>
            <a:r>
              <a:rPr lang="en-US" sz="2400" kern="1200" dirty="0">
                <a:ea typeface="+mn-ea"/>
                <a:cs typeface="+mn-cs"/>
              </a:rPr>
              <a:t>gather information about tasks over the course of their </a:t>
            </a:r>
            <a:r>
              <a:rPr lang="en-US" sz="2400" kern="1200" dirty="0" smtClean="0">
                <a:ea typeface="+mn-ea"/>
                <a:cs typeface="+mn-cs"/>
              </a:rPr>
              <a:t>execution.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sz="1900" dirty="0"/>
              <a:t>MAP_INPUT_RECORDS counter counts the input records read by each map </a:t>
            </a:r>
            <a:r>
              <a:rPr lang="en-US" sz="1900" dirty="0" smtClean="0"/>
              <a:t>task;</a:t>
            </a:r>
            <a:endParaRPr lang="en-US" sz="1900" dirty="0"/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sz="1900" dirty="0" smtClean="0"/>
              <a:t>Then aggregates </a:t>
            </a:r>
            <a:r>
              <a:rPr lang="en-US" sz="1900" dirty="0"/>
              <a:t>over all map tasks in a </a:t>
            </a:r>
            <a:r>
              <a:rPr lang="en-US" sz="1900" dirty="0" smtClean="0"/>
              <a:t>job.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2400" b="1" kern="1200" dirty="0">
                <a:ea typeface="+mn-ea"/>
                <a:cs typeface="+mn-cs"/>
              </a:rPr>
              <a:t>Job counters </a:t>
            </a:r>
            <a:r>
              <a:rPr lang="en-US" sz="2400" kern="1200" dirty="0" smtClean="0">
                <a:ea typeface="+mn-ea"/>
                <a:cs typeface="+mn-cs"/>
              </a:rPr>
              <a:t>are </a:t>
            </a:r>
            <a:r>
              <a:rPr lang="en-US" sz="2400" kern="1200" dirty="0">
                <a:ea typeface="+mn-ea"/>
                <a:cs typeface="+mn-cs"/>
              </a:rPr>
              <a:t>maintained by the </a:t>
            </a:r>
            <a:r>
              <a:rPr lang="en-US" sz="2400" kern="1200" dirty="0" err="1">
                <a:ea typeface="+mn-ea"/>
                <a:cs typeface="+mn-cs"/>
              </a:rPr>
              <a:t>jobtracker</a:t>
            </a:r>
            <a:r>
              <a:rPr lang="en-US" sz="2400" kern="1200" dirty="0">
                <a:ea typeface="+mn-ea"/>
                <a:cs typeface="+mn-cs"/>
              </a:rPr>
              <a:t> (or application master </a:t>
            </a:r>
            <a:r>
              <a:rPr lang="en-US" sz="2400" kern="1200" dirty="0" smtClean="0">
                <a:ea typeface="+mn-ea"/>
                <a:cs typeface="+mn-cs"/>
              </a:rPr>
              <a:t>in YARN). 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sz="1900" dirty="0" smtClean="0"/>
              <a:t>Measure </a:t>
            </a:r>
            <a:r>
              <a:rPr lang="en-US" sz="1900" dirty="0"/>
              <a:t>job-level statistics, 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sz="1900" dirty="0"/>
              <a:t>TOTAL_LAUNCHED_MAPS counts the number of map tasks that were launched </a:t>
            </a:r>
            <a:r>
              <a:rPr lang="en-US" sz="1900" dirty="0" smtClean="0"/>
              <a:t>(</a:t>
            </a:r>
            <a:r>
              <a:rPr lang="en-US" sz="1900" dirty="0"/>
              <a:t>including tasks that failed).</a:t>
            </a:r>
          </a:p>
        </p:txBody>
      </p:sp>
    </p:spTree>
    <p:extLst>
      <p:ext uri="{BB962C8B-B14F-4D97-AF65-F5344CB8AC3E}">
        <p14:creationId xmlns:p14="http://schemas.microsoft.com/office/powerpoint/2010/main" val="50569342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3528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User-Defined Java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Counters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133600"/>
            <a:ext cx="7086600" cy="2971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MapReduce allows user code to define a set of counters, which are then incremented as desired in the mapper or reducer.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Counters are defined by a Java </a:t>
            </a:r>
            <a:r>
              <a:rPr lang="en-US" altLang="ko-KR" sz="2600" kern="1200" dirty="0" err="1">
                <a:ea typeface="+mn-ea"/>
                <a:cs typeface="+mn-cs"/>
              </a:rPr>
              <a:t>enum</a:t>
            </a:r>
            <a:r>
              <a:rPr lang="en-US" altLang="ko-KR" sz="2600" kern="1200" dirty="0">
                <a:ea typeface="+mn-ea"/>
                <a:cs typeface="+mn-cs"/>
              </a:rPr>
              <a:t>, which serves to group related counters.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The name of the </a:t>
            </a:r>
            <a:r>
              <a:rPr lang="en-US" altLang="ko-KR" sz="2200" dirty="0" err="1"/>
              <a:t>enum</a:t>
            </a:r>
            <a:r>
              <a:rPr lang="en-US" altLang="ko-KR" sz="2200" dirty="0"/>
              <a:t> is the group </a:t>
            </a:r>
            <a:r>
              <a:rPr lang="en-US" altLang="ko-KR" sz="2200" dirty="0" smtClean="0"/>
              <a:t>name.</a:t>
            </a:r>
            <a:endParaRPr lang="en-US" altLang="ko-KR" sz="22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The </a:t>
            </a:r>
            <a:r>
              <a:rPr lang="en-US" altLang="ko-KR" sz="2200" dirty="0" err="1"/>
              <a:t>enum’s</a:t>
            </a:r>
            <a:r>
              <a:rPr lang="en-US" altLang="ko-KR" sz="2200" dirty="0"/>
              <a:t> fields are the counter </a:t>
            </a:r>
            <a:r>
              <a:rPr lang="en-US" altLang="ko-KR" sz="2200" dirty="0" smtClean="0"/>
              <a:t>names.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6050514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3528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User-Defined Java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Counters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9400" y="3124200"/>
            <a:ext cx="3733800" cy="609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264: Example 8-1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64108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352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Retrieving Counters – P. 267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28749"/>
            <a:ext cx="73152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0112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352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Sorting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47800" y="2209800"/>
            <a:ext cx="6248400" cy="30480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The ability to sort data is at the heart of MapReduce. </a:t>
            </a:r>
            <a:endParaRPr lang="en-US" altLang="ko-KR" sz="26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Even </a:t>
            </a:r>
            <a:r>
              <a:rPr lang="en-US" altLang="ko-KR" sz="2600" kern="1200" dirty="0">
                <a:ea typeface="+mn-ea"/>
                <a:cs typeface="+mn-cs"/>
              </a:rPr>
              <a:t>if your application </a:t>
            </a:r>
            <a:r>
              <a:rPr lang="en-US" altLang="ko-KR" sz="2600" kern="1200" dirty="0" smtClean="0">
                <a:ea typeface="+mn-ea"/>
                <a:cs typeface="+mn-cs"/>
              </a:rPr>
              <a:t>isn’t concerned </a:t>
            </a:r>
            <a:r>
              <a:rPr lang="en-US" altLang="ko-KR" sz="2600" kern="1200" dirty="0">
                <a:ea typeface="+mn-ea"/>
                <a:cs typeface="+mn-cs"/>
              </a:rPr>
              <a:t>with sorting per se, it may be able to use the sorting stage that </a:t>
            </a:r>
            <a:r>
              <a:rPr lang="en-US" altLang="ko-KR" sz="2600" kern="1200" dirty="0" smtClean="0">
                <a:ea typeface="+mn-ea"/>
                <a:cs typeface="+mn-cs"/>
              </a:rPr>
              <a:t>MapReduce provides </a:t>
            </a:r>
            <a:r>
              <a:rPr lang="en-US" altLang="ko-KR" sz="2600" kern="1200" dirty="0">
                <a:ea typeface="+mn-ea"/>
                <a:cs typeface="+mn-cs"/>
              </a:rPr>
              <a:t>to organize its data</a:t>
            </a:r>
            <a:r>
              <a:rPr lang="en-US" altLang="ko-KR" sz="2600" kern="1200" dirty="0" smtClean="0">
                <a:ea typeface="+mn-ea"/>
                <a:cs typeface="+mn-cs"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P. 269: Example 8-3.</a:t>
            </a:r>
            <a:endParaRPr lang="en-US" altLang="ko-KR" sz="2600" dirty="0"/>
          </a:p>
        </p:txBody>
      </p:sp>
    </p:spTree>
    <p:extLst>
      <p:ext uri="{BB962C8B-B14F-4D97-AF65-F5344CB8AC3E}">
        <p14:creationId xmlns:p14="http://schemas.microsoft.com/office/powerpoint/2010/main" val="3766502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19400" y="1066800"/>
            <a:ext cx="5029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Sorting a Sequence File with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IntWritable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P. 270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4000"/>
            <a:ext cx="7772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8629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10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Produce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MapFiles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as Output – 271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3999"/>
            <a:ext cx="7924800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84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19400" y="1066800"/>
            <a:ext cx="5029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Retrieve the First Entry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11300"/>
            <a:ext cx="78486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668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62400" y="1066800"/>
            <a:ext cx="2743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Total Sort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2362199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Produce a set of sorted files that, if concatenated, would form a globally sorted </a:t>
            </a:r>
            <a:r>
              <a:rPr lang="en-US" altLang="ko-KR" sz="2400" kern="1200" dirty="0" smtClean="0">
                <a:ea typeface="+mn-ea"/>
                <a:cs typeface="+mn-cs"/>
              </a:rPr>
              <a:t>file.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Use a partitioner that respects the total order of the </a:t>
            </a:r>
            <a:r>
              <a:rPr lang="en-US" altLang="ko-KR" sz="2100" dirty="0" smtClean="0"/>
              <a:t>output.</a:t>
            </a:r>
            <a:endParaRPr lang="en-US" altLang="ko-KR" sz="2100" dirty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Although this approach works, you have to choose your partition sizes carefully to ensure that they are fairly even so that job times aren’t dominated by a single </a:t>
            </a:r>
            <a:r>
              <a:rPr lang="en-US" altLang="ko-KR" sz="2400" kern="1200" dirty="0" smtClean="0">
                <a:ea typeface="+mn-ea"/>
                <a:cs typeface="+mn-cs"/>
              </a:rPr>
              <a:t>reducer.</a:t>
            </a:r>
            <a:endParaRPr lang="en-US" altLang="ko-KR" sz="2400" kern="1200" dirty="0"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1799" y="4572000"/>
            <a:ext cx="561022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39947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38600" y="1066800"/>
            <a:ext cx="25908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Sampling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2133601"/>
            <a:ext cx="7010400" cy="3124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To construct more even partitions, we need to have a better understanding of the distribution for the whole </a:t>
            </a:r>
            <a:r>
              <a:rPr lang="en-US" altLang="ko-KR" sz="2400" kern="1200" dirty="0" smtClean="0">
                <a:ea typeface="+mn-ea"/>
                <a:cs typeface="+mn-cs"/>
              </a:rPr>
              <a:t>dataset.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It’s possible to get a fairly even set of partitions, by </a:t>
            </a:r>
            <a:r>
              <a:rPr lang="en-US" altLang="ko-KR" sz="2400" i="1" kern="1200" dirty="0">
                <a:ea typeface="+mn-ea"/>
                <a:cs typeface="+mn-cs"/>
              </a:rPr>
              <a:t>sampling </a:t>
            </a:r>
            <a:r>
              <a:rPr lang="en-US" altLang="ko-KR" sz="2400" kern="1200" dirty="0">
                <a:ea typeface="+mn-ea"/>
                <a:cs typeface="+mn-cs"/>
              </a:rPr>
              <a:t>the key </a:t>
            </a:r>
            <a:r>
              <a:rPr lang="en-US" altLang="ko-KR" sz="2400" kern="1200" dirty="0" smtClean="0">
                <a:ea typeface="+mn-ea"/>
                <a:cs typeface="+mn-cs"/>
              </a:rPr>
              <a:t>space.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The idea behind sampling is that you look at a small subset of the keys to approximate </a:t>
            </a:r>
            <a:r>
              <a:rPr lang="en-US" altLang="ko-KR" sz="2400" kern="1200" dirty="0" smtClean="0">
                <a:ea typeface="+mn-ea"/>
                <a:cs typeface="+mn-cs"/>
              </a:rPr>
              <a:t>key </a:t>
            </a:r>
            <a:r>
              <a:rPr lang="en-US" altLang="ko-KR" sz="2400" kern="1200" dirty="0">
                <a:ea typeface="+mn-ea"/>
                <a:cs typeface="+mn-cs"/>
              </a:rPr>
              <a:t>distribution, which is then used to construct partitions</a:t>
            </a:r>
            <a:r>
              <a:rPr lang="en-US" altLang="ko-KR" sz="2400" kern="1200" dirty="0" smtClean="0">
                <a:ea typeface="+mn-ea"/>
                <a:cs typeface="+mn-cs"/>
              </a:rPr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87320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352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Global Sort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9400" y="3124200"/>
            <a:ext cx="3733800" cy="609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276: Example 8-8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426903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399" y="4441029"/>
            <a:ext cx="1676401" cy="1825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422148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Secondary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Sort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1600200"/>
            <a:ext cx="7543800" cy="2743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Example: calculating the maximum temperature for each </a:t>
            </a:r>
            <a:r>
              <a:rPr lang="en-US" altLang="ko-KR" sz="2200" kern="1200" dirty="0" smtClean="0">
                <a:ea typeface="+mn-ea"/>
                <a:cs typeface="+mn-cs"/>
              </a:rPr>
              <a:t>year.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It is possible to impose an order on the values by sorting and grouping the keys in a particular </a:t>
            </a:r>
            <a:r>
              <a:rPr lang="en-US" altLang="ko-KR" sz="2200" kern="1200" dirty="0" smtClean="0">
                <a:ea typeface="+mn-ea"/>
                <a:cs typeface="+mn-cs"/>
              </a:rPr>
              <a:t>way.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3"/>
              </a:buBlip>
              <a:defRPr/>
            </a:pPr>
            <a:r>
              <a:rPr lang="en-US" altLang="ko-KR" sz="1800" dirty="0"/>
              <a:t>Make the key a composite of the natural key and the natural value.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3"/>
              </a:buBlip>
              <a:defRPr/>
            </a:pPr>
            <a:r>
              <a:rPr lang="en-US" altLang="ko-KR" sz="1800" dirty="0"/>
              <a:t>The key comparator should order by the composite key, that is, the natural key and natural value.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3"/>
              </a:buBlip>
              <a:defRPr/>
            </a:pPr>
            <a:r>
              <a:rPr lang="en-US" altLang="ko-KR" sz="1800" dirty="0"/>
              <a:t>The partitioner and grouping comparator for the composite key should consider only the natural key for partitioning and </a:t>
            </a:r>
            <a:r>
              <a:rPr lang="en-US" altLang="ko-KR" sz="1800" dirty="0" smtClean="0"/>
              <a:t>grouping.</a:t>
            </a:r>
            <a:endParaRPr lang="ko-KR" altLang="en-US"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4800600"/>
            <a:ext cx="938155" cy="1343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오른쪽 화살표 6"/>
          <p:cNvSpPr/>
          <p:nvPr/>
        </p:nvSpPr>
        <p:spPr>
          <a:xfrm>
            <a:off x="2438400" y="5285892"/>
            <a:ext cx="762000" cy="239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100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29000" y="4458842"/>
            <a:ext cx="1643074" cy="180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오른쪽 화살표 9"/>
          <p:cNvSpPr/>
          <p:nvPr/>
        </p:nvSpPr>
        <p:spPr>
          <a:xfrm>
            <a:off x="5257800" y="5306935"/>
            <a:ext cx="762000" cy="288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118344117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9400" y="3124200"/>
            <a:ext cx="3733800" cy="609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279: Example 8-9</a:t>
            </a:r>
            <a:endParaRPr lang="en-US" altLang="ko-KR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699933" y="1066800"/>
            <a:ext cx="3422148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Secondary Sort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13164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28956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Map-Side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1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	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209800"/>
            <a:ext cx="8153400" cy="3276600"/>
          </a:xfrm>
        </p:spPr>
        <p:txBody>
          <a:bodyPr>
            <a:normAutofit fontScale="55000" lnSpcReduction="20000"/>
          </a:bodyPr>
          <a:lstStyle/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4400" kern="1200" dirty="0">
                <a:ea typeface="+mn-ea"/>
                <a:cs typeface="+mn-cs"/>
              </a:rPr>
              <a:t>A map-side join works by performing the join before the data reaches the map function. Requirements: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600" dirty="0"/>
              <a:t>Each input dataset must be divided into the same number of partitions.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600" dirty="0"/>
              <a:t>It must be sorted by the same key (the join key) in each source.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4400" kern="1200" dirty="0" smtClean="0">
                <a:ea typeface="+mn-ea"/>
                <a:cs typeface="+mn-cs"/>
              </a:rPr>
              <a:t>Above </a:t>
            </a:r>
            <a:r>
              <a:rPr lang="en-US" altLang="ko-KR" sz="4400" kern="1200" dirty="0">
                <a:ea typeface="+mn-ea"/>
                <a:cs typeface="+mn-cs"/>
              </a:rPr>
              <a:t>requirements actually fit the description of the output of a MapReduce job: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600" dirty="0"/>
              <a:t>A map-side join can be used to join the outputs of several jobs that had the same number of reducers, the same keys, and output files that are not </a:t>
            </a:r>
            <a:r>
              <a:rPr lang="en-US" altLang="ko-KR" sz="3600" dirty="0" err="1"/>
              <a:t>splittable</a:t>
            </a:r>
            <a:r>
              <a:rPr lang="en-US" altLang="ko-K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79950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28956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Map-Side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2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	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07067"/>
            <a:ext cx="7086600" cy="5350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3622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Reduce-Side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1600" y="1905000"/>
            <a:ext cx="6477000" cy="39624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Reduce-side join is more general than a map-side </a:t>
            </a:r>
            <a:r>
              <a:rPr lang="en-US" altLang="ko-KR" sz="2600" kern="1200" dirty="0" smtClean="0">
                <a:ea typeface="+mn-ea"/>
                <a:cs typeface="+mn-cs"/>
              </a:rPr>
              <a:t>join: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Input datasets don’t have to be structured in any particular </a:t>
            </a:r>
            <a:r>
              <a:rPr lang="en-US" altLang="ko-KR" sz="2100" dirty="0" smtClean="0"/>
              <a:t>way.</a:t>
            </a:r>
            <a:endParaRPr lang="en-US" altLang="ko-KR" sz="21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Less efficient as both datasets have to go through the MapReduce </a:t>
            </a:r>
            <a:r>
              <a:rPr lang="en-US" altLang="ko-KR" sz="2100" dirty="0" smtClean="0"/>
              <a:t>shuffle.</a:t>
            </a:r>
            <a:endParaRPr lang="en-US" altLang="ko-KR" sz="21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The mapper tags each record with its </a:t>
            </a:r>
            <a:r>
              <a:rPr lang="en-US" altLang="ko-KR" sz="2100" dirty="0" smtClean="0"/>
              <a:t>source.</a:t>
            </a:r>
            <a:endParaRPr lang="en-US" altLang="ko-KR" sz="21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Uses the join key as the map output key so that the records with the same key are brought together in the </a:t>
            </a:r>
            <a:r>
              <a:rPr lang="en-US" altLang="ko-KR" sz="2100" dirty="0" smtClean="0"/>
              <a:t>reducer.</a:t>
            </a:r>
            <a:endParaRPr lang="en-US" altLang="ko-KR" sz="2100" dirty="0"/>
          </a:p>
          <a:p>
            <a:pPr lvl="1"/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57842977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오른쪽 화살표 9"/>
          <p:cNvSpPr/>
          <p:nvPr/>
        </p:nvSpPr>
        <p:spPr>
          <a:xfrm rot="1746565">
            <a:off x="4161023" y="2944547"/>
            <a:ext cx="642942" cy="214314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100" dirty="0" smtClean="0"/>
          </a:p>
        </p:txBody>
      </p:sp>
      <p:sp>
        <p:nvSpPr>
          <p:cNvPr id="11" name="오른쪽 화살표 10"/>
          <p:cNvSpPr/>
          <p:nvPr/>
        </p:nvSpPr>
        <p:spPr>
          <a:xfrm rot="19565177">
            <a:off x="4161024" y="4536289"/>
            <a:ext cx="642942" cy="214314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100" dirty="0" smtClean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406" y="4191000"/>
            <a:ext cx="4043394" cy="2133600"/>
          </a:xfrm>
          <a:prstGeom prst="roundRect">
            <a:avLst>
              <a:gd name="adj" fmla="val 53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100" dirty="0" smtClean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4876800" y="2438400"/>
            <a:ext cx="4195794" cy="2819400"/>
          </a:xfrm>
          <a:prstGeom prst="roundRect">
            <a:avLst>
              <a:gd name="adj" fmla="val 53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100" dirty="0" smtClean="0"/>
          </a:p>
        </p:txBody>
      </p:sp>
      <p:sp>
        <p:nvSpPr>
          <p:cNvPr id="17" name="모서리가 둥근 직사각형 12"/>
          <p:cNvSpPr/>
          <p:nvPr/>
        </p:nvSpPr>
        <p:spPr>
          <a:xfrm>
            <a:off x="71406" y="1676400"/>
            <a:ext cx="4043394" cy="2133600"/>
          </a:xfrm>
          <a:prstGeom prst="roundRect">
            <a:avLst>
              <a:gd name="adj" fmla="val 53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1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06" y="1710267"/>
            <a:ext cx="3967194" cy="2099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05" y="4258734"/>
            <a:ext cx="3967195" cy="2006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067" y="2463799"/>
            <a:ext cx="4119594" cy="2743200"/>
          </a:xfrm>
          <a:prstGeom prst="rect">
            <a:avLst/>
          </a:prstGeom>
        </p:spPr>
      </p:pic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Reduce-Side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4583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Side Data Distribution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1600" y="2133600"/>
            <a:ext cx="6477000" cy="3124200"/>
          </a:xfrm>
        </p:spPr>
        <p:txBody>
          <a:bodyPr/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Side data are extra read-only data needed by a job to process the main dataset.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The challenge is to make side data available to all the map or reduce tasks (which are spread across the cluster</a:t>
            </a:r>
            <a:r>
              <a:rPr lang="en-US" altLang="ko-KR" sz="2600" kern="1200" dirty="0" smtClean="0">
                <a:ea typeface="+mn-ea"/>
                <a:cs typeface="+mn-cs"/>
              </a:rPr>
              <a:t>).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Using </a:t>
            </a:r>
            <a:r>
              <a:rPr lang="en-US" altLang="ko-KR" sz="2200" dirty="0"/>
              <a:t>the Job Configuration</a:t>
            </a: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Distributed </a:t>
            </a:r>
            <a:r>
              <a:rPr lang="en-US" altLang="ko-KR" sz="2200" dirty="0" smtClean="0"/>
              <a:t>Cache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30433883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267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Using the Job Configuration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47800" y="2133600"/>
            <a:ext cx="6172200" cy="3200400"/>
          </a:xfrm>
        </p:spPr>
        <p:txBody>
          <a:bodyPr/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Set arbitrary key-value pairs in the job configuration using the various setter methods on </a:t>
            </a:r>
            <a:r>
              <a:rPr lang="en-US" altLang="ko-KR" sz="2600" b="1" kern="1200" dirty="0">
                <a:ea typeface="+mn-ea"/>
                <a:cs typeface="+mn-cs"/>
              </a:rPr>
              <a:t>Configuration</a:t>
            </a:r>
            <a:r>
              <a:rPr lang="en-US" altLang="ko-KR" sz="2600" kern="1200" dirty="0">
                <a:ea typeface="+mn-ea"/>
                <a:cs typeface="+mn-cs"/>
              </a:rPr>
              <a:t>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Useful if one needs to pass a small piece of metadata to tasks.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Don’t use this mechanism for transferring more than a few kilobytes of data.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272353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Using Distributed Cache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1910" y="2209800"/>
            <a:ext cx="7924800" cy="2057400"/>
          </a:xfrm>
        </p:spPr>
        <p:txBody>
          <a:bodyPr/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Distribute datasets using Hadoop’s distributed cache </a:t>
            </a:r>
            <a:r>
              <a:rPr lang="en-US" altLang="ko-KR" sz="2200" kern="1200" dirty="0" smtClean="0">
                <a:ea typeface="+mn-ea"/>
                <a:cs typeface="+mn-cs"/>
              </a:rPr>
              <a:t>mechanism.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Provides a service for copying files and archives to the task nodes in time for the tasks to use them when they run</a:t>
            </a:r>
            <a:r>
              <a:rPr lang="en-US" altLang="ko-KR" sz="2200" kern="1200" dirty="0" smtClean="0">
                <a:ea typeface="+mn-ea"/>
                <a:cs typeface="+mn-cs"/>
              </a:rPr>
              <a:t>.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GenericOptionsParser</a:t>
            </a:r>
            <a:r>
              <a:rPr lang="en-US" altLang="ko-KR" sz="2200" kern="1200" dirty="0">
                <a:ea typeface="+mn-ea"/>
                <a:cs typeface="+mn-cs"/>
              </a:rPr>
              <a:t> – specify the files to be distributed as a comma-separated list of URIs as the argument to the </a:t>
            </a:r>
            <a:r>
              <a:rPr lang="en-US" altLang="ko-KR" sz="2200" b="1" kern="1200" dirty="0">
                <a:ea typeface="+mn-ea"/>
                <a:cs typeface="+mn-cs"/>
              </a:rPr>
              <a:t>-files </a:t>
            </a:r>
            <a:r>
              <a:rPr lang="en-US" altLang="ko-KR" sz="2200" kern="1200" dirty="0" smtClean="0">
                <a:ea typeface="+mn-ea"/>
                <a:cs typeface="+mn-cs"/>
              </a:rPr>
              <a:t>option.</a:t>
            </a:r>
            <a:endParaRPr lang="en-US" altLang="ko-K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572000"/>
            <a:ext cx="8252730" cy="646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698288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9400" y="3124200"/>
            <a:ext cx="3733800" cy="609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290: Example 8-16</a:t>
            </a:r>
            <a:endParaRPr lang="en-US" altLang="ko-KR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Using Distributed Cache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3305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752600"/>
            <a:ext cx="7467600" cy="4343400"/>
          </a:xfrm>
        </p:spPr>
        <p:txBody>
          <a:bodyPr/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Hadoop copies the file specified by the –file and -archives options to the </a:t>
            </a:r>
            <a:r>
              <a:rPr lang="en-US" altLang="ko-KR" sz="2200" kern="1200" dirty="0" err="1">
                <a:ea typeface="+mn-ea"/>
                <a:cs typeface="+mn-cs"/>
              </a:rPr>
              <a:t>jobtracker’s</a:t>
            </a:r>
            <a:r>
              <a:rPr lang="en-US" altLang="ko-KR" sz="2200" kern="1200" dirty="0">
                <a:ea typeface="+mn-ea"/>
                <a:cs typeface="+mn-cs"/>
              </a:rPr>
              <a:t> filesystem (normally HDFS</a:t>
            </a:r>
            <a:r>
              <a:rPr lang="en-US" altLang="ko-KR" sz="2200" kern="1200" dirty="0" smtClean="0">
                <a:ea typeface="+mn-ea"/>
                <a:cs typeface="+mn-cs"/>
              </a:rPr>
              <a:t>).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Before a task is run, the </a:t>
            </a:r>
            <a:r>
              <a:rPr lang="en-US" altLang="ko-KR" sz="2200" kern="1200" dirty="0" err="1">
                <a:ea typeface="+mn-ea"/>
                <a:cs typeface="+mn-cs"/>
              </a:rPr>
              <a:t>tasktracker</a:t>
            </a:r>
            <a:r>
              <a:rPr lang="en-US" altLang="ko-KR" sz="2200" kern="1200" dirty="0">
                <a:ea typeface="+mn-ea"/>
                <a:cs typeface="+mn-cs"/>
              </a:rPr>
              <a:t> copies the files from the </a:t>
            </a:r>
            <a:r>
              <a:rPr lang="en-US" altLang="ko-KR" sz="2200" kern="1200" dirty="0" err="1">
                <a:ea typeface="+mn-ea"/>
                <a:cs typeface="+mn-cs"/>
              </a:rPr>
              <a:t>jobtracker’s</a:t>
            </a:r>
            <a:r>
              <a:rPr lang="en-US" altLang="ko-KR" sz="2200" kern="1200" dirty="0">
                <a:ea typeface="+mn-ea"/>
                <a:cs typeface="+mn-cs"/>
              </a:rPr>
              <a:t> filesystem to a local disk—the cache—so the task can access the files. 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The </a:t>
            </a:r>
            <a:r>
              <a:rPr lang="en-US" altLang="ko-KR" sz="2200" kern="1200" dirty="0" err="1">
                <a:ea typeface="+mn-ea"/>
                <a:cs typeface="+mn-cs"/>
              </a:rPr>
              <a:t>tasktracker</a:t>
            </a:r>
            <a:r>
              <a:rPr lang="en-US" altLang="ko-KR" sz="2200" kern="1200" dirty="0">
                <a:ea typeface="+mn-ea"/>
                <a:cs typeface="+mn-cs"/>
              </a:rPr>
              <a:t> also maintains a reference count for the number of tasks using each file in the </a:t>
            </a:r>
            <a:r>
              <a:rPr lang="en-US" altLang="ko-KR" sz="2200" kern="1200" dirty="0" smtClean="0">
                <a:ea typeface="+mn-ea"/>
                <a:cs typeface="+mn-cs"/>
              </a:rPr>
              <a:t>cache.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After the task has run, the file’s reference count is decreased by one, and when it reaches zero it is eligible for </a:t>
            </a:r>
            <a:r>
              <a:rPr lang="en-US" altLang="ko-KR" sz="2200" kern="1200" dirty="0" smtClean="0">
                <a:ea typeface="+mn-ea"/>
                <a:cs typeface="+mn-cs"/>
              </a:rPr>
              <a:t>deletion.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Files are deleted to make room for a new file when the cache exceeds a certain size—10 GB by </a:t>
            </a:r>
            <a:r>
              <a:rPr lang="en-US" altLang="ko-KR" sz="2200" kern="1200" dirty="0" smtClean="0">
                <a:ea typeface="+mn-ea"/>
                <a:cs typeface="+mn-cs"/>
              </a:rPr>
              <a:t>default.</a:t>
            </a:r>
            <a:endParaRPr lang="en-US" altLang="ko-KR" sz="2200" kern="1200" dirty="0">
              <a:ea typeface="+mn-ea"/>
              <a:cs typeface="+mn-cs"/>
            </a:endParaRP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733800" y="1066800"/>
            <a:ext cx="3429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Using Distributed Cache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033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10230</TotalTime>
  <Words>997</Words>
  <Application>Microsoft Office PowerPoint</Application>
  <PresentationFormat>On-screen Show (4:3)</PresentationFormat>
  <Paragraphs>92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Default Design</vt:lpstr>
      <vt:lpstr>MapReduce Features</vt:lpstr>
      <vt:lpstr>PowerPoint Presentation</vt:lpstr>
      <vt:lpstr>Counters</vt:lpstr>
      <vt:lpstr>PowerPoint Presentation</vt:lpstr>
      <vt:lpstr>Task and Job Counters</vt:lpstr>
      <vt:lpstr>User-Defined Java Counters – 1</vt:lpstr>
      <vt:lpstr>User-Defined Java Counters – 2</vt:lpstr>
      <vt:lpstr>Retrieving Counters – P. 267</vt:lpstr>
      <vt:lpstr>Sorting</vt:lpstr>
      <vt:lpstr>Sorting a Sequence File with IntWritable – P. 270</vt:lpstr>
      <vt:lpstr> Produce MapFiles as Output – 271</vt:lpstr>
      <vt:lpstr>Retrieve the First Entry</vt:lpstr>
      <vt:lpstr>Total Sort</vt:lpstr>
      <vt:lpstr>Sampling</vt:lpstr>
      <vt:lpstr>Global Sort</vt:lpstr>
      <vt:lpstr>Secondary Sort – 1</vt:lpstr>
      <vt:lpstr>PowerPoint Presentation</vt:lpstr>
      <vt:lpstr>Map-Side Join – 1 </vt:lpstr>
      <vt:lpstr>Map-Side Join – 2 </vt:lpstr>
      <vt:lpstr>Reduce-Side Join – 1</vt:lpstr>
      <vt:lpstr>Reduce-Side Join – 2</vt:lpstr>
      <vt:lpstr>Side Data Distribution</vt:lpstr>
      <vt:lpstr>Using the Job Configuration</vt:lpstr>
      <vt:lpstr>Using Distributed Cache – 1</vt:lpstr>
      <vt:lpstr>Using Distributed Cache – 2</vt:lpstr>
      <vt:lpstr>PowerPoint Presentation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600</cp:revision>
  <dcterms:created xsi:type="dcterms:W3CDTF">2005-03-05T09:57:46Z</dcterms:created>
  <dcterms:modified xsi:type="dcterms:W3CDTF">2016-05-14T05:33:23Z</dcterms:modified>
</cp:coreProperties>
</file>