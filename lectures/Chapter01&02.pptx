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37" r:id="rId2"/>
    <p:sldId id="376" r:id="rId3"/>
    <p:sldId id="339" r:id="rId4"/>
    <p:sldId id="340" r:id="rId5"/>
    <p:sldId id="341" r:id="rId6"/>
    <p:sldId id="342" r:id="rId7"/>
    <p:sldId id="345" r:id="rId8"/>
    <p:sldId id="355" r:id="rId9"/>
    <p:sldId id="356" r:id="rId10"/>
    <p:sldId id="358" r:id="rId11"/>
    <p:sldId id="359" r:id="rId12"/>
    <p:sldId id="377" r:id="rId13"/>
    <p:sldId id="360" r:id="rId14"/>
    <p:sldId id="361" r:id="rId15"/>
    <p:sldId id="378" r:id="rId16"/>
    <p:sldId id="362" r:id="rId17"/>
    <p:sldId id="363" r:id="rId18"/>
    <p:sldId id="379" r:id="rId19"/>
    <p:sldId id="364" r:id="rId20"/>
    <p:sldId id="380" r:id="rId21"/>
    <p:sldId id="365" r:id="rId22"/>
    <p:sldId id="366" r:id="rId23"/>
    <p:sldId id="367" r:id="rId24"/>
    <p:sldId id="382" r:id="rId25"/>
    <p:sldId id="368" r:id="rId26"/>
    <p:sldId id="370" r:id="rId27"/>
    <p:sldId id="383" r:id="rId28"/>
    <p:sldId id="371" r:id="rId29"/>
    <p:sldId id="384" r:id="rId30"/>
    <p:sldId id="372" r:id="rId31"/>
    <p:sldId id="385" r:id="rId32"/>
    <p:sldId id="373" r:id="rId33"/>
    <p:sldId id="386" r:id="rId34"/>
    <p:sldId id="387" r:id="rId35"/>
    <p:sldId id="374" r:id="rId36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31D4F-E691-466A-BD2E-78E23D1C5E8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31D4F-E691-466A-BD2E-78E23D1C5E8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076700" y="6519446"/>
            <a:ext cx="99060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 smtClean="0">
                <a:solidFill>
                  <a:srgbClr val="FFFFFF"/>
                </a:solidFill>
              </a:rPr>
              <a:t>1&amp;2.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Meet Hadoop &amp; Chapter 2 MapReduce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ftp://ftp.ncdc.noaa.gov/pub/data/noaa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28800" y="2819400"/>
            <a:ext cx="5638800" cy="175260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4800" b="1" dirty="0" smtClean="0"/>
              <a:t>Meet Hadoop</a:t>
            </a:r>
            <a:br>
              <a:rPr lang="en-US" altLang="ko-KR" sz="4800" b="1" dirty="0" smtClean="0"/>
            </a:br>
            <a:r>
              <a:rPr lang="en-US" altLang="ko-KR" sz="4800" b="1" dirty="0" smtClean="0"/>
              <a:t>&amp; MapReduce</a:t>
            </a:r>
            <a:endParaRPr lang="ko-KR" altLang="en-US" sz="4800" b="1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90800" y="1066800"/>
            <a:ext cx="57150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Chapter 1 and 2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7636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362200"/>
            <a:ext cx="5257800" cy="2895600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The Apache Hadoop Project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Analyze a Weather Dataset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Hadoop Map and Reduce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Java MapReduce </a:t>
            </a:r>
            <a:r>
              <a:rPr lang="en-US" altLang="ko-KR" sz="2600" dirty="0" smtClean="0"/>
              <a:t>Programming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Map and Reduce Tasks</a:t>
            </a:r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05192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67000" y="1066800"/>
            <a:ext cx="5638800" cy="381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The Digital Universe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6" name="그림 5" descr="Digital-Universe-to-Surpass-1-Zettabyte-in-2010-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1600200"/>
            <a:ext cx="7086600" cy="3950438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>
          <a:xfrm>
            <a:off x="685800" y="5715016"/>
            <a:ext cx="8186742" cy="685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 pitchFamily="34" charset="0"/>
              </a:rPr>
              <a:t>Digital</a:t>
            </a:r>
            <a:r>
              <a:rPr kumimoji="0" lang="en-US" altLang="ko-KR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 pitchFamily="34" charset="0"/>
              </a:rPr>
              <a:t> Universe: the total amount of data stored in the world’s computers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ko-KR" sz="1800" dirty="0" smtClean="0">
                <a:latin typeface="Corbel" pitchFamily="34" charset="0"/>
              </a:rPr>
              <a:t>Zettabyte: 10</a:t>
            </a:r>
            <a:r>
              <a:rPr lang="en-US" altLang="ko-KR" sz="1800" baseline="30000" dirty="0" smtClean="0">
                <a:latin typeface="Corbel" pitchFamily="34" charset="0"/>
              </a:rPr>
              <a:t>21</a:t>
            </a:r>
            <a:r>
              <a:rPr lang="en-US" altLang="ko-KR" sz="1800" dirty="0" smtClean="0">
                <a:latin typeface="Corbel" pitchFamily="34" charset="0"/>
              </a:rPr>
              <a:t> bytes &gt;&gt; Exabyte &gt;&gt; Petabyte &gt;&gt; Terabyte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9588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0" y="1088495"/>
            <a:ext cx="6400800" cy="35930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Flood of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Data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8" name="그림 7" descr="800px-NYSE12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24000"/>
            <a:ext cx="9144000" cy="520379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47800" y="6286496"/>
            <a:ext cx="6500858" cy="571504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 eaLnBrk="1" fontAlgn="auto" latinLnBrk="1" hangingPunct="1">
              <a:spcAft>
                <a:spcPts val="0"/>
              </a:spcAft>
              <a:buClr>
                <a:srgbClr val="C00000"/>
              </a:buClr>
              <a:buNone/>
            </a:pPr>
            <a:r>
              <a:rPr lang="en-US" altLang="ko-KR" sz="2000" b="1" kern="1200" dirty="0">
                <a:solidFill>
                  <a:prstClr val="white"/>
                </a:solidFill>
                <a:latin typeface="Corbel" pitchFamily="34" charset="0"/>
                <a:ea typeface="맑은 고딕"/>
              </a:rPr>
              <a:t>NYSE generates 1TB new trade data / day </a:t>
            </a:r>
            <a:endParaRPr lang="ko-KR" altLang="en-US" sz="2000" b="1" kern="1200" dirty="0">
              <a:solidFill>
                <a:prstClr val="white"/>
              </a:solidFill>
              <a:latin typeface="Corbel" pitchFamily="34" charset="0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382546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facebook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52334"/>
            <a:ext cx="9144000" cy="530291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3000" y="6324600"/>
            <a:ext cx="6996138" cy="381000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 eaLnBrk="1" fontAlgn="auto" latinLnBrk="1" hangingPunct="1">
              <a:spcAft>
                <a:spcPts val="0"/>
              </a:spcAft>
              <a:buClr>
                <a:srgbClr val="C00000"/>
              </a:buClr>
              <a:buNone/>
            </a:pPr>
            <a:r>
              <a:rPr lang="en-US" altLang="ko-KR" sz="2000" b="1" kern="1200" dirty="0">
                <a:solidFill>
                  <a:prstClr val="white"/>
                </a:solidFill>
                <a:latin typeface="Corbel" pitchFamily="34" charset="0"/>
                <a:ea typeface="맑은 고딕"/>
              </a:rPr>
              <a:t>Facebook hosts 10 billion photos (1 petabyte)</a:t>
            </a:r>
            <a:endParaRPr lang="ko-KR" altLang="en-US" sz="2000" b="1" kern="1200" dirty="0">
              <a:solidFill>
                <a:prstClr val="white"/>
              </a:solidFill>
              <a:latin typeface="Corbel" pitchFamily="34" charset="0"/>
              <a:ea typeface="맑은 고딕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86000" y="1088495"/>
            <a:ext cx="6400800" cy="3593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Flood of Data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826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그림 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199" y="1752600"/>
            <a:ext cx="8927011" cy="41910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0" y="5943600"/>
            <a:ext cx="6858048" cy="571504"/>
          </a:xfrm>
          <a:solidFill>
            <a:schemeClr val="tx1"/>
          </a:solidFill>
        </p:spPr>
        <p:txBody>
          <a:bodyPr>
            <a:noAutofit/>
          </a:bodyPr>
          <a:lstStyle/>
          <a:p>
            <a:pPr lvl="0" algn="ctr" eaLnBrk="1" fontAlgn="auto" latinLnBrk="1" hangingPunct="1">
              <a:spcAft>
                <a:spcPts val="0"/>
              </a:spcAft>
              <a:buClr>
                <a:srgbClr val="C00000"/>
              </a:buClr>
              <a:buNone/>
            </a:pPr>
            <a:r>
              <a:rPr lang="en-US" altLang="ko-KR" sz="2000" b="1" kern="1200" dirty="0">
                <a:solidFill>
                  <a:prstClr val="white"/>
                </a:solidFill>
                <a:latin typeface="Corbel" pitchFamily="34" charset="0"/>
                <a:ea typeface="맑은 고딕"/>
              </a:rPr>
              <a:t>Google processed about 24 petabytes of data per day in 2009</a:t>
            </a:r>
            <a:endParaRPr lang="ko-KR" altLang="en-US" sz="2000" kern="1200" dirty="0">
              <a:solidFill>
                <a:prstClr val="white"/>
              </a:solidFill>
              <a:latin typeface="Corbel" pitchFamily="34" charset="0"/>
              <a:ea typeface="맑은 고딕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86000" y="1088495"/>
            <a:ext cx="6400800" cy="3593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Flood of Data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0650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19400" y="1066800"/>
            <a:ext cx="52578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Public Data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52600" y="4038600"/>
            <a:ext cx="6362704" cy="20002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800" dirty="0" smtClean="0"/>
              <a:t>Available Public Data Sets on AWS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/>
              <a:t>Annotated Human Genome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/>
              <a:t>Public database of chemical structures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/>
              <a:t>Various census data and labor statistics</a:t>
            </a:r>
          </a:p>
        </p:txBody>
      </p:sp>
      <p:pic>
        <p:nvPicPr>
          <p:cNvPr id="6" name="그림 5" descr="23938v1-max-250x25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1651000"/>
            <a:ext cx="5705908" cy="231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587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History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of Hadoop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Created by Doug Cutting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Originated in Apache </a:t>
            </a:r>
            <a:r>
              <a:rPr lang="en-US" altLang="ko-KR" sz="2600" dirty="0" err="1"/>
              <a:t>Nutch</a:t>
            </a:r>
            <a:r>
              <a:rPr lang="en-US" altLang="ko-KR" sz="2600" dirty="0"/>
              <a:t> (2002)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3"/>
              </a:buBlip>
              <a:defRPr/>
            </a:pPr>
            <a:r>
              <a:rPr lang="en-US" altLang="ko-KR" sz="1900" dirty="0"/>
              <a:t>Open source web search engine, a part of the Lucene </a:t>
            </a:r>
            <a:r>
              <a:rPr lang="en-US" altLang="ko-KR" sz="1900" dirty="0" smtClean="0"/>
              <a:t>project</a:t>
            </a:r>
            <a:endParaRPr lang="en-US" altLang="ko-KR" sz="2400" dirty="0" smtClean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NDFS (</a:t>
            </a:r>
            <a:r>
              <a:rPr lang="en-US" altLang="ko-KR" sz="2600" dirty="0" err="1"/>
              <a:t>Nutch</a:t>
            </a:r>
            <a:r>
              <a:rPr lang="en-US" altLang="ko-KR" sz="2600" dirty="0"/>
              <a:t> Distributed File System, 2004)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MapReduce (2005</a:t>
            </a:r>
            <a:r>
              <a:rPr lang="en-US" altLang="ko-KR" sz="2600" dirty="0" smtClean="0"/>
              <a:t>)</a:t>
            </a:r>
            <a:endParaRPr lang="en-US" altLang="ko-KR" sz="2800" dirty="0" smtClean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Doug Cutting joins Yahoo! (Jan 2006)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Official start of Apache </a:t>
            </a:r>
            <a:r>
              <a:rPr lang="en-US" altLang="ko-KR" sz="2600" dirty="0" err="1"/>
              <a:t>Hadoop</a:t>
            </a:r>
            <a:r>
              <a:rPr lang="en-US" altLang="ko-KR" sz="2600" dirty="0"/>
              <a:t> project (Feb 2006)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Adoption of </a:t>
            </a:r>
            <a:r>
              <a:rPr lang="en-US" altLang="ko-KR" sz="2600" dirty="0" err="1"/>
              <a:t>Hadoop</a:t>
            </a:r>
            <a:r>
              <a:rPr lang="en-US" altLang="ko-KR" sz="2600" dirty="0"/>
              <a:t> on Yahoo! Grid team (Feb 2006)</a:t>
            </a:r>
          </a:p>
        </p:txBody>
      </p:sp>
    </p:spTree>
    <p:extLst>
      <p:ext uri="{BB962C8B-B14F-4D97-AF65-F5344CB8AC3E}">
        <p14:creationId xmlns:p14="http://schemas.microsoft.com/office/powerpoint/2010/main" val="930011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81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The Apache Hadoop Project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48215" y="1981200"/>
            <a:ext cx="1928826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>
                <a:solidFill>
                  <a:schemeClr val="tx1"/>
                </a:solidFill>
                <a:latin typeface="Corbel" pitchFamily="34" charset="0"/>
              </a:rPr>
              <a:t>O</a:t>
            </a:r>
            <a:r>
              <a:rPr lang="en-US" altLang="ko-KR" sz="3200" b="1" dirty="0" err="1" smtClean="0">
                <a:solidFill>
                  <a:schemeClr val="tx1"/>
                </a:solidFill>
                <a:latin typeface="Corbel" pitchFamily="34" charset="0"/>
              </a:rPr>
              <a:t>ozie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677041" y="1981200"/>
            <a:ext cx="1928826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 smtClean="0">
                <a:solidFill>
                  <a:schemeClr val="tx1"/>
                </a:solidFill>
                <a:latin typeface="Corbel" pitchFamily="34" charset="0"/>
              </a:rPr>
              <a:t>Sqoop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605867" y="1981200"/>
            <a:ext cx="1928826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chemeClr val="tx1"/>
                </a:solidFill>
                <a:latin typeface="Corbel" pitchFamily="34" charset="0"/>
              </a:rPr>
              <a:t>Hive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534693" y="1981200"/>
            <a:ext cx="1928826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chemeClr val="tx1"/>
                </a:solidFill>
                <a:latin typeface="Corbel" pitchFamily="34" charset="0"/>
              </a:rPr>
              <a:t>HBase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48215" y="3338522"/>
            <a:ext cx="2604585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chemeClr val="tx1"/>
                </a:solidFill>
                <a:latin typeface="Corbel" pitchFamily="34" charset="0"/>
              </a:rPr>
              <a:t>Pig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52799" y="3338522"/>
            <a:ext cx="2110323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chemeClr val="tx1"/>
                </a:solidFill>
                <a:latin typeface="Corbel" pitchFamily="34" charset="0"/>
              </a:rPr>
              <a:t>HDFS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463124" y="3338522"/>
            <a:ext cx="3000396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chemeClr val="tx1"/>
                </a:solidFill>
                <a:latin typeface="Corbel" pitchFamily="34" charset="0"/>
              </a:rPr>
              <a:t>Zoo Keeper</a:t>
            </a:r>
            <a:endParaRPr lang="ko-KR" altLang="en-US" sz="3200" b="1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48215" y="4695844"/>
            <a:ext cx="4857784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  <a:latin typeface="Corbel" pitchFamily="34" charset="0"/>
              </a:rPr>
              <a:t>MapReduce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463123" y="4695844"/>
            <a:ext cx="3000396" cy="1357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chemeClr val="tx1"/>
                </a:solidFill>
                <a:latin typeface="Corbel" pitchFamily="34" charset="0"/>
              </a:rPr>
              <a:t>Avro</a:t>
            </a:r>
          </a:p>
        </p:txBody>
      </p:sp>
    </p:spTree>
    <p:extLst>
      <p:ext uri="{BB962C8B-B14F-4D97-AF65-F5344CB8AC3E}">
        <p14:creationId xmlns:p14="http://schemas.microsoft.com/office/powerpoint/2010/main" val="2572544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066800"/>
            <a:ext cx="57150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MapReduce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362200"/>
            <a:ext cx="7239000" cy="2819400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MapReduce is a programming </a:t>
            </a:r>
            <a:r>
              <a:rPr lang="en-US" altLang="ko-KR" sz="2600" dirty="0"/>
              <a:t>model for parallel data </a:t>
            </a:r>
            <a:r>
              <a:rPr lang="en-US" altLang="ko-KR" sz="2600" dirty="0" smtClean="0"/>
              <a:t>processing.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Hadoop can run MapReduce programs written in various </a:t>
            </a:r>
            <a:r>
              <a:rPr lang="en-US" altLang="ko-KR" sz="2600" dirty="0" smtClean="0"/>
              <a:t>languages: e.g</a:t>
            </a:r>
            <a:r>
              <a:rPr lang="en-US" altLang="ko-KR" sz="2600" dirty="0"/>
              <a:t>. Java, Ruby, Python, C</a:t>
            </a:r>
            <a:r>
              <a:rPr lang="en-US" altLang="ko-KR" sz="2600" dirty="0" smtClean="0"/>
              <a:t>++.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MapReduce comes into its own for large datasets.</a:t>
            </a:r>
            <a:endParaRPr lang="en-US" altLang="ko-KR" sz="2600" dirty="0"/>
          </a:p>
        </p:txBody>
      </p:sp>
    </p:spTree>
    <p:extLst>
      <p:ext uri="{BB962C8B-B14F-4D97-AF65-F5344CB8AC3E}">
        <p14:creationId xmlns:p14="http://schemas.microsoft.com/office/powerpoint/2010/main" val="8850036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066800"/>
            <a:ext cx="54864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Weather Dataset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33600"/>
            <a:ext cx="8529146" cy="3775084"/>
          </a:xfrm>
        </p:spPr>
        <p:txBody>
          <a:bodyPr>
            <a:normAutofit fontScale="62500" lnSpcReduction="20000"/>
          </a:bodyPr>
          <a:lstStyle/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dirty="0"/>
              <a:t>Data from </a:t>
            </a:r>
            <a:r>
              <a:rPr lang="en-US" altLang="ko-KR" sz="3400" dirty="0" smtClean="0"/>
              <a:t>NCDC (</a:t>
            </a:r>
            <a:r>
              <a:rPr lang="en-US" altLang="ko-KR" sz="3400" dirty="0"/>
              <a:t>National Climatic Data Center)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/>
              <a:t>A large volume of log data collected by weather sensors: e.g. temperature</a:t>
            </a: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dirty="0"/>
              <a:t>Data format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 smtClean="0"/>
              <a:t>Line-oriented ASCII format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 smtClean="0"/>
              <a:t>One line is one record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 smtClean="0"/>
              <a:t>Each record has many elements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 smtClean="0"/>
              <a:t>We focus on the temperature element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 smtClean="0"/>
              <a:t>Data files are organized by date and weather station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900" dirty="0" smtClean="0"/>
              <a:t>There is a directory for each year from 1901 to 2001, each containing a </a:t>
            </a:r>
            <a:r>
              <a:rPr lang="en-US" altLang="ko-KR" sz="2900" dirty="0" err="1" smtClean="0"/>
              <a:t>gzipped</a:t>
            </a:r>
            <a:r>
              <a:rPr lang="en-US" altLang="ko-KR" sz="2900" dirty="0" smtClean="0"/>
              <a:t> file for each weather station with its readings for that year.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83687166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1066800"/>
            <a:ext cx="49530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Analysis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of Weather Dataset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463" y="1752600"/>
            <a:ext cx="7709674" cy="1752600"/>
          </a:xfrm>
        </p:spPr>
        <p:txBody>
          <a:bodyPr>
            <a:normAutofit fontScale="92500" lnSpcReduction="10000"/>
          </a:bodyPr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dirty="0" smtClean="0"/>
              <a:t>The </a:t>
            </a:r>
            <a:r>
              <a:rPr lang="en-US" altLang="ko-KR" dirty="0" smtClean="0">
                <a:hlinkClick r:id="rId2"/>
              </a:rPr>
              <a:t>link</a:t>
            </a:r>
            <a:r>
              <a:rPr lang="en-US" altLang="ko-KR" dirty="0" smtClean="0"/>
              <a:t> to </a:t>
            </a:r>
            <a:r>
              <a:rPr lang="en-US" altLang="ko-KR" dirty="0"/>
              <a:t>the dataset: ftp://ftp.ncdc.noaa.gov/pub/data/noaa/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dirty="0" smtClean="0"/>
              <a:t>What’s </a:t>
            </a:r>
            <a:r>
              <a:rPr lang="en-US" altLang="ko-KR" dirty="0"/>
              <a:t>the highest recorded global temperature for each year in the dataset?</a:t>
            </a:r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4120623"/>
            <a:ext cx="6264696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0067011990999991950051507004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9999999N9+00001+99999999999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0043011990999991950051512004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9999999N9+00221+99999999999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0043011990999991950051518004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9999999N9-00111+99999999999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0043012650999991949032412004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0500001N9+01111+99999999999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0043012650999991949032418004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0500001N9+00781+99999999999</a:t>
            </a:r>
            <a:r>
              <a:rPr lang="en-US" altLang="ko-KR" sz="1400" i="1" dirty="0">
                <a:latin typeface="Consolas" pitchFamily="49" charset="0"/>
                <a:cs typeface="Consolas" pitchFamily="49" charset="0"/>
              </a:rPr>
              <a:t>...</a:t>
            </a:r>
            <a:endParaRPr lang="ko-KR" alt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26900" y="4014027"/>
            <a:ext cx="462066" cy="1368152"/>
          </a:xfrm>
          <a:prstGeom prst="rect">
            <a:avLst/>
          </a:prstGeom>
          <a:solidFill>
            <a:schemeClr val="bg2">
              <a:lumMod val="9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390" y="3682267"/>
            <a:ext cx="1450692" cy="180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911314" y="5497844"/>
            <a:ext cx="1566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List of data files</a:t>
            </a:r>
            <a:endParaRPr lang="ko-KR" altLang="en-US" sz="1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77576" y="5486400"/>
            <a:ext cx="2037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Contents of data files</a:t>
            </a:r>
            <a:endParaRPr lang="ko-KR" alt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26900" y="3737028"/>
            <a:ext cx="473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Year</a:t>
            </a:r>
            <a:endParaRPr lang="ko-KR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4186387" y="3737028"/>
            <a:ext cx="10518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Temperature</a:t>
            </a:r>
            <a:endParaRPr lang="ko-KR" alt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4495800" y="4014027"/>
            <a:ext cx="433000" cy="1330162"/>
          </a:xfrm>
          <a:prstGeom prst="rect">
            <a:avLst/>
          </a:prstGeom>
          <a:solidFill>
            <a:schemeClr val="bg2">
              <a:lumMod val="9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16033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3"/>
          <p:cNvSpPr/>
          <p:nvPr/>
        </p:nvSpPr>
        <p:spPr>
          <a:xfrm>
            <a:off x="5940152" y="4782064"/>
            <a:ext cx="648072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066800"/>
            <a:ext cx="5181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Analyzing the Data with Unix Tools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057400"/>
            <a:ext cx="7620000" cy="16764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Use </a:t>
            </a:r>
            <a:r>
              <a:rPr lang="en-US" altLang="ko-KR" sz="2600" i="1" dirty="0" err="1"/>
              <a:t>awk</a:t>
            </a:r>
            <a:r>
              <a:rPr lang="en-US" altLang="ko-KR" sz="2600" dirty="0"/>
              <a:t> for processing line-oriented </a:t>
            </a:r>
            <a:r>
              <a:rPr lang="en-US" altLang="ko-KR" sz="2600" dirty="0" smtClean="0"/>
              <a:t>data.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Complete run for the century took 42 minutes on a single EC2 High-CPU Extra Large </a:t>
            </a:r>
            <a:r>
              <a:rPr lang="en-US" altLang="ko-KR" sz="2600" dirty="0" smtClean="0"/>
              <a:t>Instance</a:t>
            </a:r>
            <a:r>
              <a:rPr lang="en-US" altLang="ko-KR" dirty="0" smtClean="0"/>
              <a:t>.</a:t>
            </a:r>
            <a:endParaRPr lang="en-US" altLang="ko-KR" sz="2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86" y="4038600"/>
            <a:ext cx="5574755" cy="1872208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209168"/>
            <a:ext cx="2106783" cy="15058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05963900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100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Parallelize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This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Work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05000"/>
            <a:ext cx="7239000" cy="4114800"/>
          </a:xfrm>
        </p:spPr>
        <p:txBody>
          <a:bodyPr>
            <a:normAutofit fontScale="55000" lnSpcReduction="20000"/>
          </a:bodyPr>
          <a:lstStyle/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700" dirty="0"/>
              <a:t>To speed up the processing, we need to run parts of the program in </a:t>
            </a:r>
            <a:r>
              <a:rPr lang="en-US" altLang="ko-KR" sz="3700" b="1" dirty="0" smtClean="0"/>
              <a:t>parallel.</a:t>
            </a:r>
            <a:endParaRPr lang="en-US" altLang="ko-KR" b="1" dirty="0" smtClean="0"/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700" b="1" dirty="0"/>
              <a:t>Dividing</a:t>
            </a:r>
            <a:r>
              <a:rPr lang="en-US" altLang="ko-KR" sz="3700" dirty="0"/>
              <a:t> the work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200" dirty="0"/>
              <a:t>Process different years in different </a:t>
            </a:r>
            <a:r>
              <a:rPr lang="en-US" altLang="ko-KR" sz="3200" dirty="0" smtClean="0"/>
              <a:t>process.</a:t>
            </a:r>
            <a:endParaRPr lang="en-US" altLang="ko-KR" sz="3200" dirty="0"/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200" dirty="0"/>
              <a:t>It is important to divide the work into even distribution </a:t>
            </a:r>
            <a:r>
              <a:rPr lang="en-US" altLang="ko-KR" sz="3200" dirty="0" smtClean="0"/>
              <a:t>, i.e., split </a:t>
            </a:r>
            <a:r>
              <a:rPr lang="en-US" altLang="ko-KR" sz="3200" dirty="0"/>
              <a:t>the input into fixed-size </a:t>
            </a:r>
            <a:r>
              <a:rPr lang="en-US" altLang="ko-KR" sz="3200" dirty="0" smtClean="0"/>
              <a:t>chunks.</a:t>
            </a:r>
            <a:endParaRPr lang="en-US" altLang="ko-KR" dirty="0" smtClean="0"/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700" b="1" dirty="0"/>
              <a:t>Combining</a:t>
            </a:r>
            <a:r>
              <a:rPr lang="en-US" altLang="ko-KR" sz="3700" dirty="0"/>
              <a:t> the results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200" dirty="0"/>
              <a:t>C</a:t>
            </a:r>
            <a:r>
              <a:rPr lang="en-US" altLang="ko-KR" sz="3200" dirty="0" smtClean="0"/>
              <a:t>ombination </a:t>
            </a:r>
            <a:r>
              <a:rPr lang="en-US" altLang="ko-KR" sz="3200" dirty="0"/>
              <a:t>is more </a:t>
            </a:r>
            <a:r>
              <a:rPr lang="en-US" altLang="ko-KR" sz="3200" dirty="0" smtClean="0"/>
              <a:t>delicate when </a:t>
            </a:r>
            <a:r>
              <a:rPr lang="en-US" altLang="ko-KR" sz="3200" dirty="0"/>
              <a:t>using </a:t>
            </a:r>
            <a:r>
              <a:rPr lang="en-US" altLang="ko-KR" sz="3200" dirty="0" smtClean="0"/>
              <a:t>fixed-size.</a:t>
            </a:r>
            <a:endParaRPr lang="en-US" altLang="ko-KR" dirty="0" smtClean="0"/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700" dirty="0"/>
              <a:t>But still we are limited by the processing capacity of a single </a:t>
            </a:r>
            <a:r>
              <a:rPr lang="en-US" altLang="ko-KR" sz="3700" dirty="0" smtClean="0"/>
              <a:t>machine.</a:t>
            </a:r>
            <a:endParaRPr lang="en-US" altLang="ko-KR" sz="3700" dirty="0"/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300" dirty="0"/>
              <a:t>Some datasets grow beyond the capacity of a single </a:t>
            </a:r>
            <a:r>
              <a:rPr lang="en-US" altLang="ko-KR" sz="3300" dirty="0" smtClean="0"/>
              <a:t>machine.</a:t>
            </a:r>
            <a:endParaRPr lang="en-US" altLang="ko-KR" sz="3300" dirty="0"/>
          </a:p>
        </p:txBody>
      </p:sp>
    </p:spTree>
    <p:extLst>
      <p:ext uri="{BB962C8B-B14F-4D97-AF65-F5344CB8AC3E}">
        <p14:creationId xmlns:p14="http://schemas.microsoft.com/office/powerpoint/2010/main" val="8304668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100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Issues for Parallel Processing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0"/>
            <a:ext cx="7239000" cy="2605195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dirty="0" smtClean="0"/>
              <a:t>To </a:t>
            </a:r>
            <a:r>
              <a:rPr lang="en-US" altLang="ko-KR" dirty="0"/>
              <a:t>use multiple machines, we need to consider a variety of complex </a:t>
            </a:r>
            <a:r>
              <a:rPr lang="en-US" altLang="ko-KR" dirty="0" smtClean="0"/>
              <a:t>problems:</a:t>
            </a:r>
            <a:endParaRPr lang="en-US" altLang="ko-KR" dirty="0"/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Coordination: Who runs the overall job?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Reliability: How do we deal with failed processes?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b="1" dirty="0"/>
              <a:t>Hadoop</a:t>
            </a:r>
            <a:r>
              <a:rPr lang="en-US" altLang="ko-KR" dirty="0"/>
              <a:t> can </a:t>
            </a:r>
            <a:r>
              <a:rPr lang="en-US" altLang="ko-KR" dirty="0" smtClean="0"/>
              <a:t>take </a:t>
            </a:r>
            <a:r>
              <a:rPr lang="en-US" altLang="ko-KR" dirty="0"/>
              <a:t>care of these </a:t>
            </a:r>
            <a:r>
              <a:rPr lang="en-US" altLang="ko-KR" dirty="0" smtClean="0"/>
              <a:t>issues.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594099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8100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Hadoop MapReduce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8001000" cy="3581400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To use MapReduce, we need to express out query as a MapReduce </a:t>
            </a:r>
            <a:r>
              <a:rPr lang="en-US" altLang="ko-KR" sz="2600" dirty="0" smtClean="0"/>
              <a:t>job.</a:t>
            </a:r>
            <a:endParaRPr lang="en-US" altLang="ko-KR" dirty="0" smtClean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A MapReduce job includes two phases: the </a:t>
            </a:r>
            <a:r>
              <a:rPr lang="en-US" altLang="ko-KR" sz="2600" b="1" dirty="0"/>
              <a:t>Map</a:t>
            </a:r>
            <a:r>
              <a:rPr lang="en-US" altLang="ko-KR" sz="2600" dirty="0"/>
              <a:t> phase and the </a:t>
            </a:r>
            <a:r>
              <a:rPr lang="en-US" altLang="ko-KR" sz="2600" b="1" dirty="0"/>
              <a:t>Reduce</a:t>
            </a:r>
            <a:r>
              <a:rPr lang="en-US" altLang="ko-KR" sz="2600" dirty="0"/>
              <a:t> </a:t>
            </a:r>
            <a:r>
              <a:rPr lang="en-US" altLang="ko-KR" sz="2600" dirty="0" smtClean="0"/>
              <a:t>phase.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Each phase has key-value pairs as input and </a:t>
            </a:r>
            <a:r>
              <a:rPr lang="en-US" altLang="ko-KR" sz="2600" dirty="0" smtClean="0"/>
              <a:t>output.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Programmer specifies the Map and Reduce functions and the types of input and output for them.</a:t>
            </a:r>
          </a:p>
        </p:txBody>
      </p:sp>
    </p:spTree>
    <p:extLst>
      <p:ext uri="{BB962C8B-B14F-4D97-AF65-F5344CB8AC3E}">
        <p14:creationId xmlns:p14="http://schemas.microsoft.com/office/powerpoint/2010/main" val="57149514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MapReduce Design of NCDC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Example - 1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905000"/>
            <a:ext cx="5715000" cy="2895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sz="5100" dirty="0" smtClean="0"/>
              <a:t>Map phase</a:t>
            </a: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4200" dirty="0"/>
              <a:t>Text input format of the dataset files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500" dirty="0"/>
              <a:t>Key: offset of the line (unnecessary)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500" dirty="0"/>
              <a:t>Value: each line of the files</a:t>
            </a: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600" dirty="0"/>
              <a:t>Pull out the year and the temperature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500" dirty="0"/>
              <a:t>T</a:t>
            </a:r>
            <a:r>
              <a:rPr lang="en-US" altLang="ko-KR" sz="3500" dirty="0" smtClean="0"/>
              <a:t>he </a:t>
            </a:r>
            <a:r>
              <a:rPr lang="en-US" altLang="ko-KR" sz="3500" dirty="0"/>
              <a:t>map phase is simply data preparation phase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500" dirty="0"/>
              <a:t>Drop bad </a:t>
            </a:r>
            <a:r>
              <a:rPr lang="en-US" altLang="ko-KR" sz="3500" dirty="0" smtClean="0"/>
              <a:t>records (</a:t>
            </a:r>
            <a:r>
              <a:rPr lang="en-US" altLang="ko-KR" sz="3500" dirty="0"/>
              <a:t>filtering)</a:t>
            </a:r>
            <a:endParaRPr lang="ko-KR" altLang="en-US" sz="35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874567"/>
            <a:ext cx="5541420" cy="1093984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5" name="TextBox 4"/>
          <p:cNvSpPr txBox="1"/>
          <p:nvPr/>
        </p:nvSpPr>
        <p:spPr>
          <a:xfrm>
            <a:off x="1219200" y="518160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Input File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3266771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MapReduce Design of NCDC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Example - 2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460" y="1974369"/>
            <a:ext cx="4666365" cy="921231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52264"/>
            <a:ext cx="6184176" cy="1296672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152264"/>
            <a:ext cx="1272952" cy="1296672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5" name="TextBox 4"/>
          <p:cNvSpPr txBox="1"/>
          <p:nvPr/>
        </p:nvSpPr>
        <p:spPr>
          <a:xfrm>
            <a:off x="1600200" y="2267326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Input File</a:t>
            </a:r>
            <a:endParaRPr lang="ko-KR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261356" y="3467648"/>
            <a:ext cx="2588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 smtClean="0"/>
              <a:t>Input of Map Function (key, value)</a:t>
            </a:r>
            <a:endParaRPr lang="ko-KR" altLang="en-US" sz="1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115236" y="3472428"/>
            <a:ext cx="279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 smtClean="0"/>
              <a:t>Output of Map Function (key, value)</a:t>
            </a:r>
            <a:endParaRPr lang="ko-KR" altLang="en-US" sz="1800" b="1" dirty="0"/>
          </a:p>
        </p:txBody>
      </p:sp>
      <p:sp>
        <p:nvSpPr>
          <p:cNvPr id="11" name="Right Arrow 10"/>
          <p:cNvSpPr/>
          <p:nvPr/>
        </p:nvSpPr>
        <p:spPr>
          <a:xfrm>
            <a:off x="6250497" y="4620580"/>
            <a:ext cx="648072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/>
        </p:nvSpPr>
        <p:spPr>
          <a:xfrm>
            <a:off x="6304482" y="4343581"/>
            <a:ext cx="5132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C00000"/>
                </a:solidFill>
              </a:rPr>
              <a:t>Map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22757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7708246" cy="833263"/>
          </a:xfrm>
        </p:spPr>
        <p:txBody>
          <a:bodyPr>
            <a:normAutofit fontScale="47500" lnSpcReduction="20000"/>
          </a:bodyPr>
          <a:lstStyle/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4200" dirty="0"/>
              <a:t>The output from the map function is processed by </a:t>
            </a:r>
            <a:r>
              <a:rPr lang="en-US" altLang="ko-KR" sz="4200" dirty="0" smtClean="0"/>
              <a:t>Reduce function.</a:t>
            </a:r>
            <a:endParaRPr lang="en-US" altLang="ko-KR" sz="4200" dirty="0"/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3800" dirty="0"/>
              <a:t>Sorts and groups the key-value pairs by key</a:t>
            </a:r>
            <a:endParaRPr lang="ko-KR" altLang="en-US" sz="38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30749"/>
            <a:ext cx="1287064" cy="1311047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654" y="3246773"/>
            <a:ext cx="2241946" cy="715628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6" name="Right Arrow 5"/>
          <p:cNvSpPr/>
          <p:nvPr/>
        </p:nvSpPr>
        <p:spPr>
          <a:xfrm>
            <a:off x="4021205" y="3455620"/>
            <a:ext cx="1051240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26" y="5115066"/>
            <a:ext cx="2464905" cy="762525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9" name="Right Arrow 8"/>
          <p:cNvSpPr/>
          <p:nvPr/>
        </p:nvSpPr>
        <p:spPr>
          <a:xfrm>
            <a:off x="4071469" y="5316308"/>
            <a:ext cx="1075953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521" y="5177807"/>
            <a:ext cx="1784405" cy="718367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11" name="Rectangle 10"/>
          <p:cNvSpPr/>
          <p:nvPr/>
        </p:nvSpPr>
        <p:spPr>
          <a:xfrm>
            <a:off x="3699684" y="2969774"/>
            <a:ext cx="15608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C00000"/>
                </a:solidFill>
              </a:rPr>
              <a:t>Sort and Group By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88906" y="5039309"/>
            <a:ext cx="7158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C00000"/>
                </a:solidFill>
              </a:rPr>
              <a:t>Reduce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5536" y="4439392"/>
            <a:ext cx="8496944" cy="452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9875" indent="-269875" algn="l" defTabSz="914400" rtl="0" eaLnBrk="1" latinLnBrk="1" hangingPunct="1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41338" indent="-276225" algn="l" defTabSz="914400" rtl="0" eaLnBrk="1" latinLnBrk="1" hangingPunct="1">
              <a:spcBef>
                <a:spcPct val="20000"/>
              </a:spcBef>
              <a:buClr>
                <a:srgbClr val="C00000"/>
              </a:buClr>
              <a:buFont typeface="Corbe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04863" indent="-265113" algn="l" defTabSz="914400" rtl="0" eaLnBrk="1" latinLnBrk="1" hangingPunct="1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79500" indent="-228600" algn="l" defTabSz="914400" rtl="0" eaLnBrk="1" latinLnBrk="1" hangingPunct="1">
              <a:spcBef>
                <a:spcPct val="20000"/>
              </a:spcBef>
              <a:buClr>
                <a:srgbClr val="C00000"/>
              </a:buClr>
              <a:buFont typeface="Corbel" pitchFamily="34" charset="0"/>
              <a:buChar char="–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52538" indent="-228600" algn="l" defTabSz="914400" rtl="0" eaLnBrk="1" latinLnBrk="1" hangingPunct="1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>
                <a:latin typeface="+mn-lt"/>
              </a:rPr>
              <a:t>Reduce function iterates through the list and pick up the maximum value</a:t>
            </a:r>
            <a:endParaRPr lang="ko-KR" altLang="en-US" sz="2000" dirty="0">
              <a:latin typeface="+mn-lt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MapReduce Design of NCDC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Example - 3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24389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09800"/>
            <a:ext cx="9144000" cy="259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MapReduce Design of NCDC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Example - 4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21776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09952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Java Implementation: Map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14400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/>
              <a:t>Map function implements the Mapper interface </a:t>
            </a:r>
            <a:r>
              <a:rPr lang="en-US" altLang="ko-KR" sz="2300" dirty="0"/>
              <a:t>– </a:t>
            </a:r>
            <a:r>
              <a:rPr lang="en-US" altLang="ko-KR" sz="1800" dirty="0"/>
              <a:t>generic type and </a:t>
            </a:r>
            <a:r>
              <a:rPr lang="en-US" altLang="ko-KR" sz="1800" dirty="0" smtClean="0"/>
              <a:t>four type parameters </a:t>
            </a:r>
            <a:r>
              <a:rPr lang="en-US" altLang="ko-KR" sz="1800" dirty="0"/>
              <a:t>(input key, input value, output key, output value type</a:t>
            </a:r>
            <a:r>
              <a:rPr lang="en-US" altLang="ko-KR" sz="1800" dirty="0" smtClean="0"/>
              <a:t>)</a:t>
            </a:r>
            <a:r>
              <a:rPr lang="en-US" altLang="ko-KR" sz="1800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438400"/>
            <a:ext cx="6629400" cy="4414928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Rectangle 3"/>
          <p:cNvSpPr/>
          <p:nvPr/>
        </p:nvSpPr>
        <p:spPr>
          <a:xfrm>
            <a:off x="2946400" y="3598334"/>
            <a:ext cx="3200400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219629730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1" y="1066800"/>
            <a:ext cx="3962400" cy="381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Java Implementation: Reduce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1447799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/>
              <a:t>Reduce </a:t>
            </a:r>
            <a:r>
              <a:rPr lang="en-US" altLang="ko-KR" sz="1800" dirty="0" smtClean="0"/>
              <a:t>function implements the </a:t>
            </a:r>
            <a:r>
              <a:rPr lang="en-US" altLang="ko-KR" sz="1800" dirty="0"/>
              <a:t>Reducer interface </a:t>
            </a:r>
            <a:r>
              <a:rPr lang="en-US" altLang="ko-KR" sz="2200" dirty="0" smtClean="0"/>
              <a:t>– </a:t>
            </a:r>
            <a:r>
              <a:rPr lang="en-US" altLang="ko-KR" sz="1600" dirty="0"/>
              <a:t>generic type and four type parameters (input key, input value, output key, output value type)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/>
              <a:t>Input types of the reduce function must match the output types of the map function: Text and </a:t>
            </a:r>
            <a:r>
              <a:rPr lang="en-US" altLang="ko-KR" sz="1800" dirty="0" err="1" smtClean="0"/>
              <a:t>IntWritable</a:t>
            </a:r>
            <a:r>
              <a:rPr lang="en-US" altLang="ko-KR" sz="1800" dirty="0" smtClean="0"/>
              <a:t>.</a:t>
            </a:r>
            <a:endParaRPr lang="en-US" altLang="ko-KR" sz="1800" dirty="0"/>
          </a:p>
          <a:p>
            <a:pPr marL="342900" lvl="1" indent="-342900">
              <a:buFont typeface="Arial" pitchFamily="34" charset="0"/>
              <a:buChar char="•"/>
            </a:pP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124200"/>
            <a:ext cx="65532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5317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Java Implementation: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Main - 1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4000"/>
            <a:ext cx="70866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481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Java Implementation: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Main - 2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05000"/>
            <a:ext cx="7086600" cy="4038600"/>
          </a:xfrm>
        </p:spPr>
        <p:txBody>
          <a:bodyPr>
            <a:noAutofit/>
          </a:bodyPr>
          <a:lstStyle/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 err="1" smtClean="0">
                <a:ea typeface="+mn-ea"/>
                <a:cs typeface="+mn-cs"/>
              </a:rPr>
              <a:t>job.setJarByClass</a:t>
            </a:r>
            <a:r>
              <a:rPr lang="en-US" altLang="ko-KR" sz="1800" dirty="0" smtClean="0">
                <a:ea typeface="+mn-ea"/>
                <a:cs typeface="+mn-cs"/>
              </a:rPr>
              <a:t> – code will be packaged into a JAR file; pass a class to the Job’s </a:t>
            </a:r>
            <a:r>
              <a:rPr lang="en-US" altLang="ko-KR" sz="1800" dirty="0" err="1" smtClean="0">
                <a:ea typeface="+mn-ea"/>
                <a:cs typeface="+mn-cs"/>
              </a:rPr>
              <a:t>setJarByClass</a:t>
            </a:r>
            <a:r>
              <a:rPr lang="en-US" altLang="ko-KR" sz="1800" dirty="0" smtClean="0">
                <a:ea typeface="+mn-ea"/>
                <a:cs typeface="+mn-cs"/>
              </a:rPr>
              <a:t>() method; </a:t>
            </a:r>
            <a:r>
              <a:rPr lang="en-US" altLang="ko-KR" sz="1800" dirty="0">
                <a:ea typeface="+mn-ea"/>
                <a:cs typeface="+mn-cs"/>
              </a:rPr>
              <a:t>H</a:t>
            </a:r>
            <a:r>
              <a:rPr lang="en-US" altLang="ko-KR" sz="1800" dirty="0" smtClean="0">
                <a:ea typeface="+mn-ea"/>
                <a:cs typeface="+mn-cs"/>
              </a:rPr>
              <a:t>adoop will locate the JAR file containing this class and distribute around the cluster.</a:t>
            </a:r>
            <a:endParaRPr lang="en-US" altLang="ko-KR" sz="1800" dirty="0">
              <a:ea typeface="+mn-ea"/>
              <a:cs typeface="+mn-cs"/>
            </a:endParaRP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 err="1">
                <a:ea typeface="+mn-ea"/>
                <a:cs typeface="+mn-cs"/>
              </a:rPr>
              <a:t>addInputPath</a:t>
            </a:r>
            <a:r>
              <a:rPr lang="en-US" altLang="ko-KR" sz="1800" dirty="0" smtClean="0">
                <a:ea typeface="+mn-ea"/>
                <a:cs typeface="+mn-cs"/>
              </a:rPr>
              <a:t>() &amp; </a:t>
            </a:r>
            <a:r>
              <a:rPr lang="en-US" altLang="ko-KR" sz="1800" dirty="0" err="1">
                <a:ea typeface="+mn-ea"/>
                <a:cs typeface="+mn-cs"/>
              </a:rPr>
              <a:t>setOutputPath</a:t>
            </a:r>
            <a:r>
              <a:rPr lang="en-US" altLang="ko-KR" sz="1800" dirty="0" smtClean="0">
                <a:ea typeface="+mn-ea"/>
                <a:cs typeface="+mn-cs"/>
              </a:rPr>
              <a:t>() – specify </a:t>
            </a:r>
            <a:r>
              <a:rPr lang="en-US" altLang="ko-KR" sz="1800" dirty="0">
                <a:ea typeface="+mn-ea"/>
                <a:cs typeface="+mn-cs"/>
              </a:rPr>
              <a:t>input and output paths; If the output directory exists before running the job, Hadoop will complain and not run the </a:t>
            </a:r>
            <a:r>
              <a:rPr lang="en-US" altLang="ko-KR" sz="1800" dirty="0" smtClean="0">
                <a:ea typeface="+mn-ea"/>
                <a:cs typeface="+mn-cs"/>
              </a:rPr>
              <a:t>job.</a:t>
            </a:r>
            <a:endParaRPr lang="en-US" altLang="ko-KR" sz="1800" dirty="0">
              <a:ea typeface="+mn-ea"/>
              <a:cs typeface="+mn-cs"/>
            </a:endParaRP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 err="1" smtClean="0">
                <a:ea typeface="+mn-ea"/>
                <a:cs typeface="+mn-cs"/>
              </a:rPr>
              <a:t>setMapperClass</a:t>
            </a:r>
            <a:r>
              <a:rPr lang="en-US" altLang="ko-KR" sz="1800" dirty="0" smtClean="0">
                <a:ea typeface="+mn-ea"/>
                <a:cs typeface="+mn-cs"/>
              </a:rPr>
              <a:t>() &amp; </a:t>
            </a:r>
            <a:r>
              <a:rPr lang="en-US" altLang="ko-KR" sz="1800" dirty="0" err="1" smtClean="0">
                <a:ea typeface="+mn-ea"/>
                <a:cs typeface="+mn-cs"/>
              </a:rPr>
              <a:t>setReducerClass</a:t>
            </a:r>
            <a:r>
              <a:rPr lang="en-US" altLang="ko-KR" sz="1800" dirty="0" smtClean="0">
                <a:ea typeface="+mn-ea"/>
                <a:cs typeface="+mn-cs"/>
              </a:rPr>
              <a:t> – specify </a:t>
            </a:r>
            <a:r>
              <a:rPr lang="en-US" altLang="ko-KR" sz="1800" dirty="0">
                <a:ea typeface="+mn-ea"/>
                <a:cs typeface="+mn-cs"/>
              </a:rPr>
              <a:t>map and reduce </a:t>
            </a:r>
            <a:r>
              <a:rPr lang="en-US" altLang="ko-KR" sz="1800" dirty="0" smtClean="0">
                <a:ea typeface="+mn-ea"/>
                <a:cs typeface="+mn-cs"/>
              </a:rPr>
              <a:t>types. </a:t>
            </a:r>
            <a:endParaRPr lang="en-US" altLang="ko-KR" sz="1800" dirty="0">
              <a:ea typeface="+mn-ea"/>
              <a:cs typeface="+mn-cs"/>
            </a:endParaRP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 err="1" smtClean="0">
                <a:ea typeface="+mn-ea"/>
                <a:cs typeface="+mn-cs"/>
              </a:rPr>
              <a:t>setOutputKeyClass</a:t>
            </a:r>
            <a:r>
              <a:rPr lang="en-US" altLang="ko-KR" sz="1800" dirty="0" smtClean="0">
                <a:ea typeface="+mn-ea"/>
                <a:cs typeface="+mn-cs"/>
              </a:rPr>
              <a:t>() &amp; </a:t>
            </a:r>
            <a:r>
              <a:rPr lang="en-US" altLang="ko-KR" sz="1800" dirty="0" err="1">
                <a:ea typeface="+mn-ea"/>
                <a:cs typeface="+mn-cs"/>
              </a:rPr>
              <a:t>setOutputValueClass</a:t>
            </a:r>
            <a:r>
              <a:rPr lang="en-US" altLang="ko-KR" sz="1800" dirty="0">
                <a:ea typeface="+mn-ea"/>
                <a:cs typeface="+mn-cs"/>
              </a:rPr>
              <a:t>() </a:t>
            </a:r>
            <a:r>
              <a:rPr lang="en-US" altLang="ko-KR" sz="1800" dirty="0" smtClean="0">
                <a:ea typeface="+mn-ea"/>
                <a:cs typeface="+mn-cs"/>
              </a:rPr>
              <a:t>– control the output types for the map and the reduce functions, which are often the same.</a:t>
            </a:r>
          </a:p>
          <a:p>
            <a:pPr marL="3429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 smtClean="0">
                <a:ea typeface="+mn-ea"/>
                <a:cs typeface="+mn-cs"/>
              </a:rPr>
              <a:t>Wait </a:t>
            </a:r>
            <a:r>
              <a:rPr lang="en-US" altLang="ko-KR" sz="1800" dirty="0" err="1" smtClean="0">
                <a:ea typeface="+mn-ea"/>
                <a:cs typeface="+mn-cs"/>
              </a:rPr>
              <a:t>ForCompletion</a:t>
            </a:r>
            <a:r>
              <a:rPr lang="en-US" altLang="ko-KR" sz="1800" dirty="0" smtClean="0">
                <a:ea typeface="+mn-ea"/>
                <a:cs typeface="+mn-cs"/>
              </a:rPr>
              <a:t>() – submits the job and waits for it to finish.</a:t>
            </a:r>
          </a:p>
        </p:txBody>
      </p:sp>
    </p:spTree>
    <p:extLst>
      <p:ext uri="{BB962C8B-B14F-4D97-AF65-F5344CB8AC3E}">
        <p14:creationId xmlns:p14="http://schemas.microsoft.com/office/powerpoint/2010/main" val="67122077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074159"/>
            <a:ext cx="4191000" cy="42947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082626"/>
            <a:ext cx="4267200" cy="32513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41999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A Test Run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876" y="5562600"/>
            <a:ext cx="2255912" cy="76137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sp>
        <p:nvSpPr>
          <p:cNvPr id="5" name="TextBox 4"/>
          <p:cNvSpPr txBox="1"/>
          <p:nvPr/>
        </p:nvSpPr>
        <p:spPr>
          <a:xfrm>
            <a:off x="1468403" y="1635667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 smtClean="0"/>
              <a:t>Output Log </a:t>
            </a:r>
            <a:endParaRPr lang="ko-KR" alt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1635667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 smtClean="0"/>
              <a:t>Output Log (cont.)</a:t>
            </a:r>
            <a:endParaRPr lang="ko-KR" altLang="en-US" sz="18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69062" y="2286000"/>
            <a:ext cx="15986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267744" y="3429000"/>
            <a:ext cx="115212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24418" y="5280082"/>
            <a:ext cx="14401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477000" y="2819400"/>
            <a:ext cx="172819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48979" y="4055533"/>
            <a:ext cx="57606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0456" y="5742971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 smtClean="0"/>
              <a:t>Final Output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9516793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066800"/>
            <a:ext cx="5105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Jobtracker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 and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Tasktracker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7400"/>
            <a:ext cx="7467600" cy="3200400"/>
          </a:xfrm>
        </p:spPr>
        <p:txBody>
          <a:bodyPr>
            <a:normAutofit fontScale="77500" lnSpcReduction="20000"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dirty="0">
                <a:ea typeface="+mn-ea"/>
                <a:cs typeface="+mn-cs"/>
              </a:rPr>
              <a:t>To scale out, we need to store the data in a distributed </a:t>
            </a:r>
            <a:r>
              <a:rPr lang="en-US" altLang="ko-KR" dirty="0" err="1">
                <a:ea typeface="+mn-ea"/>
                <a:cs typeface="+mn-cs"/>
              </a:rPr>
              <a:t>filesystem</a:t>
            </a:r>
            <a:r>
              <a:rPr lang="en-US" altLang="ko-KR" dirty="0">
                <a:ea typeface="+mn-ea"/>
                <a:cs typeface="+mn-cs"/>
              </a:rPr>
              <a:t>, HDFS (Chap. 3</a:t>
            </a:r>
            <a:r>
              <a:rPr lang="en-US" altLang="ko-KR" dirty="0" smtClean="0">
                <a:ea typeface="+mn-ea"/>
                <a:cs typeface="+mn-cs"/>
              </a:rPr>
              <a:t>).</a:t>
            </a:r>
            <a:endParaRPr lang="en-US" altLang="ko-KR" dirty="0">
              <a:ea typeface="+mn-ea"/>
              <a:cs typeface="+mn-cs"/>
            </a:endParaRP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dirty="0">
                <a:ea typeface="+mn-ea"/>
                <a:cs typeface="+mn-cs"/>
              </a:rPr>
              <a:t>MapReduce job is divided into map tasks and reduce </a:t>
            </a:r>
            <a:r>
              <a:rPr lang="en-US" altLang="ko-KR" dirty="0" smtClean="0">
                <a:ea typeface="+mn-ea"/>
                <a:cs typeface="+mn-cs"/>
              </a:rPr>
              <a:t>tasks.</a:t>
            </a:r>
            <a:endParaRPr lang="en-US" altLang="ko-KR" dirty="0">
              <a:ea typeface="+mn-ea"/>
              <a:cs typeface="+mn-cs"/>
            </a:endParaRP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dirty="0">
                <a:ea typeface="+mn-ea"/>
                <a:cs typeface="+mn-cs"/>
              </a:rPr>
              <a:t>Two types of </a:t>
            </a:r>
            <a:r>
              <a:rPr lang="en-US" altLang="ko-KR" dirty="0" smtClean="0">
                <a:ea typeface="+mn-ea"/>
                <a:cs typeface="+mn-cs"/>
              </a:rPr>
              <a:t>nodes: </a:t>
            </a:r>
            <a:r>
              <a:rPr lang="en-US" altLang="ko-KR" dirty="0" err="1" smtClean="0">
                <a:ea typeface="+mn-ea"/>
                <a:cs typeface="+mn-cs"/>
              </a:rPr>
              <a:t>Jobtracker</a:t>
            </a:r>
            <a:r>
              <a:rPr lang="en-US" altLang="ko-KR" dirty="0" smtClean="0">
                <a:ea typeface="+mn-ea"/>
                <a:cs typeface="+mn-cs"/>
              </a:rPr>
              <a:t> </a:t>
            </a:r>
            <a:r>
              <a:rPr lang="en-US" altLang="ko-KR" dirty="0">
                <a:ea typeface="+mn-ea"/>
                <a:cs typeface="+mn-cs"/>
              </a:rPr>
              <a:t>and </a:t>
            </a:r>
            <a:r>
              <a:rPr lang="en-US" altLang="ko-KR" dirty="0" err="1">
                <a:ea typeface="+mn-ea"/>
                <a:cs typeface="+mn-cs"/>
              </a:rPr>
              <a:t>Tasktracker</a:t>
            </a:r>
            <a:endParaRPr lang="en-US" altLang="ko-KR" dirty="0">
              <a:ea typeface="+mn-ea"/>
              <a:cs typeface="+mn-cs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300" dirty="0" err="1" smtClean="0"/>
              <a:t>Jobtracker</a:t>
            </a:r>
            <a:r>
              <a:rPr lang="en-US" altLang="ko-KR" sz="2300" dirty="0" smtClean="0"/>
              <a:t> coordinates all the jobs on the system by scheduling tasks to run on </a:t>
            </a:r>
            <a:r>
              <a:rPr lang="en-US" altLang="ko-KR" sz="2300" dirty="0" err="1" smtClean="0"/>
              <a:t>tasktrackers</a:t>
            </a:r>
            <a:r>
              <a:rPr lang="en-US" altLang="ko-KR" sz="2300" dirty="0" smtClean="0"/>
              <a:t>.</a:t>
            </a:r>
            <a:endParaRPr lang="en-US" altLang="ko-KR" sz="2300" dirty="0"/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300" dirty="0" smtClean="0"/>
              <a:t>If a task fails, the </a:t>
            </a:r>
            <a:r>
              <a:rPr lang="en-US" altLang="ko-KR" sz="2300" dirty="0" err="1" smtClean="0"/>
              <a:t>jobtracker</a:t>
            </a:r>
            <a:r>
              <a:rPr lang="en-US" altLang="ko-KR" sz="2300" dirty="0" smtClean="0"/>
              <a:t> can reschedule it on a different </a:t>
            </a:r>
            <a:r>
              <a:rPr lang="en-US" altLang="ko-KR" sz="2300" dirty="0" err="1" smtClean="0"/>
              <a:t>tasktracker</a:t>
            </a:r>
            <a:r>
              <a:rPr lang="en-US" altLang="ko-KR" sz="2300" dirty="0" smtClean="0"/>
              <a:t>.</a:t>
            </a:r>
          </a:p>
          <a:p>
            <a:pPr lvl="1" eaLnBrk="1" hangingPunct="1">
              <a:lnSpc>
                <a:spcPct val="140000"/>
              </a:lnSpc>
              <a:spcBef>
                <a:spcPts val="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300" dirty="0" err="1" smtClean="0"/>
              <a:t>Tasktracker</a:t>
            </a:r>
            <a:r>
              <a:rPr lang="en-US" altLang="ko-KR" sz="2300" dirty="0" smtClean="0"/>
              <a:t> runs tasks and send progress reports to the </a:t>
            </a:r>
            <a:r>
              <a:rPr lang="en-US" altLang="ko-KR" sz="2300" dirty="0" err="1" smtClean="0"/>
              <a:t>jobtracker</a:t>
            </a:r>
            <a:r>
              <a:rPr lang="en-US" altLang="ko-KR" sz="23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98102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066800"/>
            <a:ext cx="5105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Input Splits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077200" cy="39624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Divides input into fixed-size </a:t>
            </a:r>
            <a:r>
              <a:rPr lang="en-US" altLang="ko-KR" sz="2400" dirty="0" smtClean="0">
                <a:ea typeface="+mn-ea"/>
                <a:cs typeface="+mn-cs"/>
              </a:rPr>
              <a:t>pieces – input </a:t>
            </a:r>
            <a:r>
              <a:rPr lang="en-US" altLang="ko-KR" sz="2400" dirty="0">
                <a:ea typeface="+mn-ea"/>
                <a:cs typeface="+mn-cs"/>
              </a:rPr>
              <a:t>splits</a:t>
            </a:r>
          </a:p>
          <a:p>
            <a:pPr lvl="1" eaLnBrk="1" hangingPunct="1">
              <a:lnSpc>
                <a:spcPct val="130000"/>
              </a:lnSpc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Hadoop creates one map task for each </a:t>
            </a:r>
            <a:r>
              <a:rPr lang="en-US" altLang="ko-KR" sz="1900" dirty="0" smtClean="0"/>
              <a:t>split.</a:t>
            </a:r>
            <a:endParaRPr lang="en-US" altLang="ko-KR" sz="1900" dirty="0"/>
          </a:p>
          <a:p>
            <a:pPr lvl="1" eaLnBrk="1" hangingPunct="1">
              <a:lnSpc>
                <a:spcPct val="130000"/>
              </a:lnSpc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Map task runs the user-defined map function for each record in the </a:t>
            </a:r>
            <a:r>
              <a:rPr lang="en-US" altLang="ko-KR" sz="1900" dirty="0" smtClean="0"/>
              <a:t>split.</a:t>
            </a:r>
            <a:endParaRPr lang="en-US" altLang="ko-KR" sz="19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Size of splits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Small size is better for load-balancing: faster machine will be able to process more </a:t>
            </a:r>
            <a:r>
              <a:rPr lang="en-US" altLang="ko-KR" sz="1900" dirty="0" smtClean="0"/>
              <a:t>splits.</a:t>
            </a:r>
            <a:endParaRPr lang="en-US" altLang="ko-KR" sz="19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But if splits are too small, the overhead of managing the splits dominate the total execution </a:t>
            </a:r>
            <a:r>
              <a:rPr lang="en-US" altLang="ko-KR" sz="1900" dirty="0" smtClean="0"/>
              <a:t>time.</a:t>
            </a:r>
            <a:endParaRPr lang="en-US" altLang="ko-KR" sz="19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For most jobs, a good split size tends to be the size of a HDFS block, </a:t>
            </a:r>
            <a:r>
              <a:rPr lang="en-US" altLang="ko-KR" sz="1900" dirty="0" smtClean="0"/>
              <a:t>64MB (</a:t>
            </a:r>
            <a:r>
              <a:rPr lang="en-US" altLang="ko-KR" sz="1900" dirty="0"/>
              <a:t>default</a:t>
            </a:r>
            <a:r>
              <a:rPr lang="en-US" altLang="ko-KR" sz="1900" dirty="0" smtClean="0"/>
              <a:t>).</a:t>
            </a:r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297237488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343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Data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Locality Optimization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7315200" cy="3733800"/>
          </a:xfrm>
        </p:spPr>
        <p:txBody>
          <a:bodyPr>
            <a:normAutofit/>
          </a:bodyPr>
          <a:lstStyle/>
          <a:p>
            <a:pPr marL="0" lvl="1" indent="0" eaLnBrk="1" hangingPunct="1">
              <a:lnSpc>
                <a:spcPct val="130000"/>
              </a:lnSpc>
              <a:spcBef>
                <a:spcPts val="600"/>
              </a:spcBef>
              <a:buClr>
                <a:schemeClr val="accent2"/>
              </a:buClr>
              <a:buNone/>
              <a:defRPr/>
            </a:pPr>
            <a:r>
              <a:rPr lang="en-US" altLang="ko-KR" dirty="0" smtClean="0">
                <a:ea typeface="+mn-ea"/>
                <a:cs typeface="+mn-cs"/>
              </a:rPr>
              <a:t>Data </a:t>
            </a:r>
            <a:r>
              <a:rPr lang="en-US" altLang="ko-KR" dirty="0">
                <a:ea typeface="+mn-ea"/>
                <a:cs typeface="+mn-cs"/>
              </a:rPr>
              <a:t>locality optimization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Run the map task on a node where the input data resides in </a:t>
            </a:r>
            <a:r>
              <a:rPr lang="en-US" altLang="ko-KR" sz="2400" dirty="0" smtClean="0">
                <a:ea typeface="+mn-ea"/>
                <a:cs typeface="+mn-cs"/>
              </a:rPr>
              <a:t>HDFS.</a:t>
            </a:r>
            <a:endParaRPr lang="en-US" altLang="ko-KR" sz="2400" dirty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This is the reason why the split size is the same as the block size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The largest size of the input that can be guaranteed to be stored on a single </a:t>
            </a:r>
            <a:r>
              <a:rPr lang="en-US" altLang="ko-KR" sz="1900" dirty="0" smtClean="0"/>
              <a:t>node.</a:t>
            </a:r>
            <a:endParaRPr lang="en-US" altLang="ko-KR" sz="19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If the split spanned two blocks, it would be unlikely that any HDFS node stored both </a:t>
            </a:r>
            <a:r>
              <a:rPr lang="en-US" altLang="ko-KR" sz="1900" dirty="0" smtClean="0"/>
              <a:t>blocks.</a:t>
            </a:r>
            <a:endParaRPr lang="en-US" altLang="ko-KR" sz="1900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179898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343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How Map Tasks Write Output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8400"/>
            <a:ext cx="8001000" cy="25908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>
                <a:ea typeface="+mn-ea"/>
                <a:cs typeface="+mn-cs"/>
              </a:rPr>
              <a:t>Map tasks write their output to local disk (not to HDFS)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Map output is intermediate </a:t>
            </a:r>
            <a:r>
              <a:rPr lang="en-US" altLang="ko-KR" sz="2000" dirty="0" smtClean="0"/>
              <a:t>output.</a:t>
            </a:r>
            <a:endParaRPr lang="en-US" altLang="ko-KR" sz="20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Once the job is complete the map output can be thrown </a:t>
            </a:r>
            <a:r>
              <a:rPr lang="en-US" altLang="ko-KR" sz="2000" dirty="0" smtClean="0"/>
              <a:t>away.</a:t>
            </a:r>
            <a:endParaRPr lang="en-US" altLang="ko-KR" sz="20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So storing it in HDFS with replication, would be </a:t>
            </a:r>
            <a:r>
              <a:rPr lang="en-US" altLang="ko-KR" sz="2000" dirty="0" smtClean="0"/>
              <a:t>overkill.</a:t>
            </a:r>
            <a:endParaRPr lang="en-US" altLang="ko-KR" sz="20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If the node of map task fails, Hadoop will automatically rerun the map task on another </a:t>
            </a:r>
            <a:r>
              <a:rPr lang="en-US" altLang="ko-KR" sz="2000" dirty="0" smtClean="0"/>
              <a:t>node.</a:t>
            </a:r>
            <a:endParaRPr lang="en-US" altLang="ko-KR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435006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41148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How Reduce Tasks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Work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848600" cy="12192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Reduce tasks don’t have the advantage of data </a:t>
            </a:r>
            <a:r>
              <a:rPr lang="en-US" altLang="ko-KR" sz="2400" dirty="0" smtClean="0">
                <a:ea typeface="+mn-ea"/>
                <a:cs typeface="+mn-cs"/>
              </a:rPr>
              <a:t>locality.</a:t>
            </a:r>
            <a:endParaRPr lang="en-US" altLang="ko-KR" sz="24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Input to a single reduce task is normally the output from all </a:t>
            </a:r>
            <a:r>
              <a:rPr lang="en-US" altLang="ko-KR" sz="1900" dirty="0" smtClean="0"/>
              <a:t>mappers;</a:t>
            </a:r>
            <a:endParaRPr lang="en-US" altLang="ko-KR" sz="19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Output of the reduce is stored in HDFS for </a:t>
            </a:r>
            <a:r>
              <a:rPr lang="en-US" altLang="ko-KR" sz="1900" dirty="0" smtClean="0"/>
              <a:t>reliability.</a:t>
            </a:r>
            <a:endParaRPr lang="en-US" altLang="ko-KR" sz="1900" dirty="0"/>
          </a:p>
          <a:p>
            <a:endParaRPr lang="en-US" altLang="ko-K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71800"/>
            <a:ext cx="6400800" cy="335280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09001559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066800"/>
            <a:ext cx="44958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How Reduce Tasks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Work – 2 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086600" cy="3048000"/>
          </a:xfrm>
        </p:spPr>
        <p:txBody>
          <a:bodyPr>
            <a:normAutofit fontScale="47500" lnSpcReduction="20000"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5100" dirty="0" smtClean="0">
                <a:ea typeface="+mn-ea"/>
                <a:cs typeface="+mn-cs"/>
              </a:rPr>
              <a:t>The </a:t>
            </a:r>
            <a:r>
              <a:rPr lang="en-US" altLang="ko-KR" sz="5100" dirty="0">
                <a:ea typeface="+mn-ea"/>
                <a:cs typeface="+mn-cs"/>
              </a:rPr>
              <a:t>number of reduce tasks is not governed by the size of the input, but is specified independently. 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5100" dirty="0">
                <a:ea typeface="+mn-ea"/>
                <a:cs typeface="+mn-cs"/>
              </a:rPr>
              <a:t>When there are multiple reducers, the map tasks partition their output: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4200" dirty="0"/>
              <a:t>One partition for each reduce </a:t>
            </a:r>
            <a:r>
              <a:rPr lang="en-US" altLang="ko-KR" sz="4200" dirty="0" smtClean="0"/>
              <a:t>task.</a:t>
            </a:r>
            <a:endParaRPr lang="en-US" altLang="ko-KR" sz="4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4200" dirty="0"/>
              <a:t>The records for every key are all in a single </a:t>
            </a:r>
            <a:r>
              <a:rPr lang="en-US" altLang="ko-KR" sz="4200" dirty="0" smtClean="0"/>
              <a:t>partition.</a:t>
            </a:r>
            <a:endParaRPr lang="en-US" altLang="ko-KR" sz="4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4200" dirty="0"/>
              <a:t>Partitioning can be controlled by a user-defined partitioning </a:t>
            </a:r>
            <a:r>
              <a:rPr lang="en-US" altLang="ko-KR" sz="4200" dirty="0" smtClean="0"/>
              <a:t>function.</a:t>
            </a:r>
            <a:r>
              <a:rPr lang="en-US" altLang="ko-KR" sz="4200" dirty="0"/>
              <a:t>	</a:t>
            </a:r>
            <a:endParaRPr lang="ko-KR" altLang="en-US" sz="4200" dirty="0"/>
          </a:p>
        </p:txBody>
      </p:sp>
    </p:spTree>
    <p:extLst>
      <p:ext uri="{BB962C8B-B14F-4D97-AF65-F5344CB8AC3E}">
        <p14:creationId xmlns:p14="http://schemas.microsoft.com/office/powerpoint/2010/main" val="141962899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862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Combiner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rPr>
              <a:t>Function - 1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723" y="1828800"/>
            <a:ext cx="7924800" cy="3200400"/>
          </a:xfrm>
        </p:spPr>
        <p:txBody>
          <a:bodyPr/>
          <a:lstStyle/>
          <a:p>
            <a:pPr marL="0" lvl="1" indent="0" eaLnBrk="1" hangingPunct="1">
              <a:spcBef>
                <a:spcPts val="600"/>
              </a:spcBef>
              <a:buClr>
                <a:schemeClr val="accent2"/>
              </a:buClr>
              <a:buNone/>
              <a:defRPr/>
            </a:pPr>
            <a:r>
              <a:rPr lang="en-US" altLang="ko-KR" sz="2400" dirty="0">
                <a:ea typeface="+mn-ea"/>
                <a:cs typeface="+mn-cs"/>
              </a:rPr>
              <a:t>Combiner function </a:t>
            </a:r>
            <a:endParaRPr lang="en-US" altLang="ko-KR" sz="2400" dirty="0" smtClean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Can be specified by users and is run on the map output.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>
                <a:ea typeface="+mn-ea"/>
                <a:cs typeface="+mn-cs"/>
              </a:rPr>
              <a:t>F</a:t>
            </a:r>
            <a:r>
              <a:rPr lang="en-US" altLang="ko-KR" sz="2200" dirty="0" smtClean="0">
                <a:ea typeface="+mn-ea"/>
                <a:cs typeface="+mn-cs"/>
              </a:rPr>
              <a:t>orms the input to the reduce function.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>
                <a:ea typeface="+mn-ea"/>
                <a:cs typeface="+mn-cs"/>
              </a:rPr>
              <a:t>M</a:t>
            </a:r>
            <a:r>
              <a:rPr lang="en-US" altLang="ko-KR" sz="2200" dirty="0" smtClean="0">
                <a:ea typeface="+mn-ea"/>
                <a:cs typeface="+mn-cs"/>
              </a:rPr>
              <a:t>inimizes </a:t>
            </a:r>
            <a:r>
              <a:rPr lang="en-US" altLang="ko-KR" sz="2200" dirty="0">
                <a:ea typeface="+mn-ea"/>
                <a:cs typeface="+mn-cs"/>
              </a:rPr>
              <a:t>the data transferred between map and reduce </a:t>
            </a:r>
            <a:r>
              <a:rPr lang="en-US" altLang="ko-KR" sz="2200" dirty="0" smtClean="0">
                <a:ea typeface="+mn-ea"/>
                <a:cs typeface="+mn-cs"/>
              </a:rPr>
              <a:t>tasks.</a:t>
            </a:r>
            <a:endParaRPr lang="en-US" altLang="ko-KR" sz="2200" dirty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But </a:t>
            </a:r>
            <a:r>
              <a:rPr lang="en-US" altLang="ko-KR" sz="2200" dirty="0">
                <a:ea typeface="+mn-ea"/>
                <a:cs typeface="+mn-cs"/>
              </a:rPr>
              <a:t>Hadoop do not guarantee how many times it will call combiner function for a particular map output </a:t>
            </a:r>
            <a:r>
              <a:rPr lang="en-US" altLang="ko-KR" sz="2200" dirty="0" smtClean="0">
                <a:ea typeface="+mn-ea"/>
                <a:cs typeface="+mn-cs"/>
              </a:rPr>
              <a:t>record.</a:t>
            </a:r>
            <a:endParaRPr lang="en-US" altLang="ko-KR" sz="2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It is just </a:t>
            </a:r>
            <a:r>
              <a:rPr lang="en-US" altLang="ko-KR" sz="1800" dirty="0" smtClean="0"/>
              <a:t>optimization.</a:t>
            </a:r>
            <a:endParaRPr lang="en-US" altLang="ko-KR" sz="18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The number of calling (even zero) does not affect the output of </a:t>
            </a:r>
            <a:r>
              <a:rPr lang="en-US" altLang="ko-KR" sz="1800" dirty="0" smtClean="0"/>
              <a:t>Reducers.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5229255"/>
            <a:ext cx="8287846" cy="4001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000" dirty="0" smtClean="0"/>
              <a:t>max(0, 20, 10, 25, 15) = max(max(0, 20, 10), max(25, 15)) = max(20, 25) = 25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8802458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667000"/>
            <a:ext cx="9144000" cy="259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Combiner Function -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67250" y="1981199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+mn-lt"/>
              </a:rPr>
              <a:t>Combiner Function</a:t>
            </a:r>
          </a:p>
        </p:txBody>
      </p:sp>
      <p:sp>
        <p:nvSpPr>
          <p:cNvPr id="3" name="Down Arrow 2"/>
          <p:cNvSpPr/>
          <p:nvPr/>
        </p:nvSpPr>
        <p:spPr>
          <a:xfrm>
            <a:off x="5181600" y="2669864"/>
            <a:ext cx="2667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9740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419600" cy="350838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Combiner Function - 3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150" y="3962400"/>
            <a:ext cx="28638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 lvl="1" indent="-13716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1600" dirty="0">
                <a:latin typeface="+mn-lt"/>
              </a:rPr>
              <a:t>Combiner Function is defined using the Reducer </a:t>
            </a:r>
            <a:r>
              <a:rPr lang="en-US" sz="1600" dirty="0" smtClean="0">
                <a:latin typeface="+mn-lt"/>
              </a:rPr>
              <a:t>class.</a:t>
            </a:r>
          </a:p>
          <a:p>
            <a:pPr marL="137160" lvl="1" indent="-13716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1600" dirty="0">
                <a:latin typeface="+mn-lt"/>
              </a:rPr>
              <a:t>Just set the combiner class on the Job.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828800"/>
            <a:ext cx="5682990" cy="407035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048000" y="4419600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2561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3528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Streaming and Pipes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57400"/>
            <a:ext cx="6324600" cy="3657600"/>
          </a:xfrm>
        </p:spPr>
        <p:txBody>
          <a:bodyPr/>
          <a:lstStyle/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>
                <a:ea typeface="+mn-ea"/>
                <a:cs typeface="+mn-cs"/>
              </a:rPr>
              <a:t>Hadoop provides API for </a:t>
            </a:r>
            <a:r>
              <a:rPr lang="en-US" altLang="ko-KR" sz="2000" dirty="0" smtClean="0">
                <a:ea typeface="+mn-ea"/>
                <a:cs typeface="+mn-cs"/>
              </a:rPr>
              <a:t>writing map and reduce functions in other </a:t>
            </a:r>
            <a:r>
              <a:rPr lang="en-US" altLang="ko-KR" sz="2000" dirty="0">
                <a:ea typeface="+mn-ea"/>
                <a:cs typeface="+mn-cs"/>
              </a:rPr>
              <a:t>languages (Ruby, Python</a:t>
            </a:r>
            <a:r>
              <a:rPr lang="en-US" altLang="ko-KR" sz="2000" dirty="0" smtClean="0">
                <a:ea typeface="+mn-ea"/>
                <a:cs typeface="+mn-cs"/>
              </a:rPr>
              <a:t>,…).</a:t>
            </a:r>
            <a:endParaRPr lang="en-US" altLang="ko-KR" sz="2000" dirty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>
                <a:ea typeface="+mn-ea"/>
                <a:cs typeface="+mn-cs"/>
              </a:rPr>
              <a:t>The other languages must be able to read standard input and write to standard output.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>
                <a:ea typeface="+mn-ea"/>
                <a:cs typeface="+mn-cs"/>
              </a:rPr>
              <a:t>Hadoop </a:t>
            </a:r>
            <a:r>
              <a:rPr lang="en-US" altLang="ko-KR" sz="2000" dirty="0">
                <a:ea typeface="+mn-ea"/>
                <a:cs typeface="+mn-cs"/>
              </a:rPr>
              <a:t>Streaming uses Unix standard streams as the interface between Hadoop and your </a:t>
            </a:r>
            <a:r>
              <a:rPr lang="en-US" altLang="ko-KR" sz="2000" dirty="0" smtClean="0">
                <a:ea typeface="+mn-ea"/>
                <a:cs typeface="+mn-cs"/>
              </a:rPr>
              <a:t>program.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>
                <a:ea typeface="+mn-ea"/>
                <a:cs typeface="+mn-cs"/>
              </a:rPr>
              <a:t>Hadoop pipes is the name of the C++ interface to </a:t>
            </a:r>
            <a:r>
              <a:rPr lang="en-US" altLang="ko-KR" sz="2000" dirty="0" err="1" smtClean="0">
                <a:ea typeface="+mn-ea"/>
                <a:cs typeface="+mn-cs"/>
              </a:rPr>
              <a:t>Hapdoop</a:t>
            </a:r>
            <a:r>
              <a:rPr lang="en-US" altLang="ko-KR" sz="2000" dirty="0" smtClean="0">
                <a:ea typeface="+mn-ea"/>
                <a:cs typeface="+mn-cs"/>
              </a:rPr>
              <a:t> MapReduce.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/>
              <a:t>Uses sockets as the channel over which the </a:t>
            </a:r>
            <a:r>
              <a:rPr lang="en-US" altLang="ko-KR" sz="1600" dirty="0" err="1"/>
              <a:t>tasktracker</a:t>
            </a:r>
            <a:r>
              <a:rPr lang="en-US" altLang="ko-KR" sz="1600" dirty="0"/>
              <a:t> interacts with the process running the C++ map or reduce </a:t>
            </a:r>
            <a:r>
              <a:rPr lang="en-US" altLang="ko-KR" sz="1600" dirty="0" err="1"/>
              <a:t>funtion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35979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4050</TotalTime>
  <Words>1611</Words>
  <Application>Microsoft Office PowerPoint</Application>
  <PresentationFormat>On-screen Show (4:3)</PresentationFormat>
  <Paragraphs>186</Paragraphs>
  <Slides>35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  <vt:variant>
        <vt:lpstr>Custom Shows</vt:lpstr>
      </vt:variant>
      <vt:variant>
        <vt:i4>1</vt:i4>
      </vt:variant>
    </vt:vector>
  </HeadingPairs>
  <TitlesOfParts>
    <vt:vector size="37" baseType="lpstr">
      <vt:lpstr>Default Design</vt:lpstr>
      <vt:lpstr>Meet Hadoop &amp; MapReduce</vt:lpstr>
      <vt:lpstr>PowerPoint Presentation</vt:lpstr>
      <vt:lpstr>The Digital Universe</vt:lpstr>
      <vt:lpstr>Flood of Data – 1</vt:lpstr>
      <vt:lpstr>PowerPoint Presentation</vt:lpstr>
      <vt:lpstr>PowerPoint Presentation</vt:lpstr>
      <vt:lpstr>Public Data</vt:lpstr>
      <vt:lpstr>History of Hadoop</vt:lpstr>
      <vt:lpstr>The Apache Hadoop Project</vt:lpstr>
      <vt:lpstr>MapReduce</vt:lpstr>
      <vt:lpstr>Weather Dataset</vt:lpstr>
      <vt:lpstr>Analysis of Weather Dataset</vt:lpstr>
      <vt:lpstr>Analyzing the Data with Unix Tools</vt:lpstr>
      <vt:lpstr>Parallelize This Work</vt:lpstr>
      <vt:lpstr>Issues for Parallel Processing</vt:lpstr>
      <vt:lpstr>Hadoop MapReduce</vt:lpstr>
      <vt:lpstr>MapReduce Design of NCDC Example - 1</vt:lpstr>
      <vt:lpstr>MapReduce Design of NCDC Example - 2</vt:lpstr>
      <vt:lpstr>MapReduce Design of NCDC Example - 3</vt:lpstr>
      <vt:lpstr>MapReduce Design of NCDC Example - 4</vt:lpstr>
      <vt:lpstr>Java Implementation: Map</vt:lpstr>
      <vt:lpstr>Java Implementation: Reduce</vt:lpstr>
      <vt:lpstr>Java Implementation: Main - 1</vt:lpstr>
      <vt:lpstr>Java Implementation: Main - 2</vt:lpstr>
      <vt:lpstr>A Test Run</vt:lpstr>
      <vt:lpstr>Jobtracker and Tasktracker</vt:lpstr>
      <vt:lpstr>Input Splits</vt:lpstr>
      <vt:lpstr>Data Locality Optimization</vt:lpstr>
      <vt:lpstr>How Map Tasks Write Output</vt:lpstr>
      <vt:lpstr>How Reduce Tasks Work – 1</vt:lpstr>
      <vt:lpstr>How Reduce Tasks Work – 2 </vt:lpstr>
      <vt:lpstr>Combiner Function - 1</vt:lpstr>
      <vt:lpstr>Combiner Function - 2</vt:lpstr>
      <vt:lpstr>Combiner Function - 3</vt:lpstr>
      <vt:lpstr>Hadoop Streaming and Pipes</vt:lpstr>
      <vt:lpstr>Custom Show 1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373</cp:revision>
  <dcterms:created xsi:type="dcterms:W3CDTF">2005-03-05T09:57:46Z</dcterms:created>
  <dcterms:modified xsi:type="dcterms:W3CDTF">2016-04-29T20:35:00Z</dcterms:modified>
</cp:coreProperties>
</file>